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8ba3277-4354-bb9f-5183-db3fc8595325}">
          <p14:sldIdLst>
            <p14:sldId id="256"/>
            <p14:sldId id="257"/>
            <p14:sldId id="258"/>
            <p14:sldId id="259"/>
          </p14:sldIdLst>
        </p14:section>
        <p14:section name="1 · Introducción a Pandas" id="{63ca5e89-9ca1-73c1-c44e-2d164c3b5394}">
          <p14:sldIdLst>
            <p14:sldId id="260"/>
            <p14:sldId id="261"/>
            <p14:sldId id="262"/>
            <p14:sldId id="263"/>
          </p14:sldIdLst>
        </p14:section>
        <p14:section name="2 · Filtrado y ordenamiento" id="{9dbc8f9c-ccdd-84ab-1505-dadce79f8004}">
          <p14:sldIdLst>
            <p14:sldId id="264"/>
            <p14:sldId id="265"/>
            <p14:sldId id="266"/>
            <p14:sldId id="267"/>
          </p14:sldIdLst>
        </p14:section>
        <p14:section name="3 · Transformación y faltantes" id="{b214a51a-ada2-77f5-221a-1bc88e5492c0}">
          <p14:sldIdLst>
            <p14:sldId id="268"/>
            <p14:sldId id="269"/>
            <p14:sldId id="270"/>
          </p14:sldIdLst>
        </p14:section>
        <p14:section name="4 · Combinación de tablas" id="{b18f3fe7-2322-183e-bb5c-acbbf153a240}">
          <p14:sldIdLst>
            <p14:sldId id="271"/>
            <p14:sldId id="272"/>
          </p14:sldIdLst>
        </p14:section>
        <p14:section name="5 · Limpieza y automatización" id="{02f94c48-1040-99b4-2f11-fef10576e6c7}">
          <p14:sldIdLst>
            <p14:sldId id="273"/>
            <p14:sldId id="274"/>
          </p14:sldIdLst>
        </p14:section>
        <p14:section name="Práctica" id="{6f8a19ae-63d8-c2ae-05d5-76c4fb7c689b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Alumnos por curso · value_counts()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Alumnos</c:v>
                </c:pt>
              </c:strCache>
            </c:strRef>
          </c:tx>
          <c:spPr>
            <a:solidFill>
              <a:srgbClr val="377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Matemáticas</c:v>
                  </c:pt>
                  <c:pt idx="1">
                    <c:v>Física</c:v>
                  </c:pt>
                  <c:pt idx="2">
                    <c:v>Química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Nota final promedio por curso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 final promedio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Química</c:v>
                  </c:pt>
                  <c:pt idx="1">
                    <c:v>Física</c:v>
                  </c:pt>
                  <c:pt idx="2">
                    <c:v>Matemáticas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6.13</c:v>
                </c:pt>
                <c:pt idx="1">
                  <c:v>6.62</c:v>
                </c:pt>
                <c:pt idx="2">
                  <c:v>7.89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Alumnos por calificación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Alumnos</c:v>
                </c:pt>
              </c:strCache>
            </c:strRef>
          </c:tx>
          <c:spPr>
            <a:solidFill>
              <a:srgbClr val="377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Sobresaliente</c:v>
                  </c:pt>
                  <c:pt idx="1">
                    <c:v>Notable</c:v>
                  </c:pt>
                  <c:pt idx="2">
                    <c:v>Aprobado</c:v>
                  </c:pt>
                  <c:pt idx="3">
                    <c:v>Suspenso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8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Alumnos</c:v>
                </c:pt>
              </c:strCache>
            </c:strRef>
          </c:tx>
          <c:spPr>
            <a:solidFill>
              <a:srgbClr val="377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Madrid</c:v>
                  </c:pt>
                  <c:pt idx="1">
                    <c:v>Barcelona</c:v>
                  </c:pt>
                  <c:pt idx="2">
                    <c:v>Valencia</c:v>
                  </c:pt>
                  <c:pt idx="3">
                    <c:v>Sevilla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recorremos 5 unidades de Pandas trabajando directamente en Google Colab: no hay que instalar nada, solo un navegador y una cuenta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la sesión. Las tres primeras unidades tienen ejemplos y ejercicios en el repositorio; merge/concat y la función de limpieza se muestran como adelanto de lo que viene.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IDLE sirve para aprender sintaxis, pero para análisis de datos los notebooks son el estándar: ves la tabla después de cada paso y puedes mezclar explicación y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 ya viene instalado en Colab. Usamos la URL raw del archivo en GitHub: así todos cargan exactamente el mismo dataset. Con !git clone se trae el repo completo, incluidos los .py de ejemplos.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del repo: 01_lectura_csv.py y 02_exploracion_datos.py.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faltantes son intencionales: 1 en ciudad, 1 en nota_parcial1 y 3 en nota_parcial2. Los usaremos en la unidad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Colab, head() y describe() se muestran como tablas con formato: aquí es donde se nota la ventaja frente a IDLE.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Hábito profesional: cuatro preguntas rápidas antes de cualquier análisis. Si algo no cuadra, se corrige y se documenta.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del repo: 03_seleccion_filtrado.py, 05_agrupacion.py y 07_ordenar_exportar.py.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típico: df['nombre','nota_final'] con un solo corchete. Para varias columnas se pasa una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Colab qué devuelve df['nota_final'] &gt;= 8 por sí solo: una columna de True/False. Eso es la máscara.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la pregunta, después el código. El orden no es estético: es la respuesta a una pregunta analítica.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del repo: 04_operaciones_columnas.py y 06_valores_faltantes.py.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NaN se propaga en las operaciones: es el puente natural hacia el tema de faltantes.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Colab ayuda a documentar: junto a cada imputación va una celda de texto con la justificación. Eso es lo que pide la unidad: tratamiento documentado.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unidad aún no tiene ejercicios en el repositorio: la presentamos como avance. Los ejemplos de código fueron probados sobre alumnos.csv.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merge: base principal (20 alumnos) + tabla auxiliar de cursos → siguen siendo 20 filas, ahora con profesor. concat: misma estructura, distintos períodos → 40 filas. Se profundiza en la Parte 2 con cursos.csv y alumnos_2026_2.csv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Avance: cerramos con la idea de convertir los pasos repetidos en una función.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función se prueba con un DataFrame 'sucio' de ejemplo. Idea clave: si repites un paso de limpieza más de dos veces, conviértelo en función.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Mismos ejercicios del repositorio, ahora como celdas en el notebook de Colab. Las soluciones vienen en las dos láminas siguientes y en la sección final del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Revisar en Colab ejecutando la sección Soluciones del notebook. En el 3, idxmax() devuelve el índice de la fila con el máximo y loc trae el nombre de esa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4 se puede mostrar value_counts(dropna=False) para que aparezca el alumno sin ciudad. En el 5, otra opción es np.where(df['nota_final'] &gt;= 5, 'Aprobado', 'Suspenso').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las 5 ideas. La Parte 2 profundiza las unidades 4 y 5 con ejercicios propios; después viene el módulo de estadística (regresión lineal).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Programación en Python · Pandas en Google Colab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Pandas en Google Colab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Programación en Python · Solemne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Del dato crudo al dato listo para analizar</a:t>
            </a:r>
            <a:endParaRPr lang="en-US" sz="1600" dirty="0"/>
          </a:p>
        </p:txBody>
      </p:sp>
      <p:sp>
        <p:nvSpPr>
          <p:cNvPr id="4" name="Bloque de código"/>
          <p:cNvSpPr/>
          <p:nvPr/>
        </p:nvSpPr>
        <p:spPr>
          <a:xfrm>
            <a:off x="5760720" y="1280160"/>
            <a:ext cx="292608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97880" y="13716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pd.read_csv(URL)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¡a explorar!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RUTA DE APRENDIZAJE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Cinco pasos: del CSV a un flujo de limpieza reutilizable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Introducción a Pandas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DataFrames, carga y exploración inicial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Práctica en Colab</a:t>
            </a:r>
            <a:endParaRPr lang="en-US" sz="1000" dirty="0"/>
          </a:p>
        </p:txBody>
      </p:sp>
      <p:sp>
        <p:nvSpPr>
          <p:cNvPr id="10" name="Tarjeta"/>
          <p:cNvSpPr/>
          <p:nvPr/>
        </p:nvSpPr>
        <p:spPr>
          <a:xfrm>
            <a:off x="2139696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2276856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685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Filtrar y ordenar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Selección condicional y orden por variables clave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76856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Práctica en Colab</a:t>
            </a:r>
            <a:endParaRPr lang="en-US" sz="1000" dirty="0"/>
          </a:p>
        </p:txBody>
      </p:sp>
      <p:sp>
        <p:nvSpPr>
          <p:cNvPr id="16" name="Tarjeta"/>
          <p:cNvSpPr/>
          <p:nvPr/>
        </p:nvSpPr>
        <p:spPr>
          <a:xfrm>
            <a:off x="3822192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írculo número"/>
          <p:cNvSpPr/>
          <p:nvPr/>
        </p:nvSpPr>
        <p:spPr>
          <a:xfrm>
            <a:off x="3959352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93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59352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Transformar y faltantes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59352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Columnas calculadas e imputación documentada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59352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Práctica en Colab</a:t>
            </a:r>
            <a:endParaRPr lang="en-US" sz="1000" dirty="0"/>
          </a:p>
        </p:txBody>
      </p:sp>
      <p:sp>
        <p:nvSpPr>
          <p:cNvPr id="22" name="Tarjeta"/>
          <p:cNvSpPr/>
          <p:nvPr/>
        </p:nvSpPr>
        <p:spPr>
          <a:xfrm>
            <a:off x="5504688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írculo número"/>
          <p:cNvSpPr/>
          <p:nvPr/>
        </p:nvSpPr>
        <p:spPr>
          <a:xfrm>
            <a:off x="5641848" y="1463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4184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Combinar tablas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41848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Merge y concatenación con claves y trazabilidad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41848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Avance</a:t>
            </a:r>
            <a:endParaRPr lang="en-US" sz="1000" dirty="0"/>
          </a:p>
        </p:txBody>
      </p:sp>
      <p:sp>
        <p:nvSpPr>
          <p:cNvPr id="28" name="Tarjeta"/>
          <p:cNvSpPr/>
          <p:nvPr/>
        </p:nvSpPr>
        <p:spPr>
          <a:xfrm>
            <a:off x="7187184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írculo número"/>
          <p:cNvSpPr/>
          <p:nvPr/>
        </p:nvSpPr>
        <p:spPr>
          <a:xfrm>
            <a:off x="7324344" y="1463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243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24344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Limpieza y automatización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24344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Una función que limpia y estandariza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324344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Avance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Unidades 1–3 se practican con el material del repositorio CursoPython · Unidades 4–5 se presentan como avance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LA HERRAMIENTA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¿Por qué Google Colab y no IDLE?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2743200" y="1234440"/>
            <a:ext cx="2743200" cy="338328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arjeta"/>
          <p:cNvSpPr/>
          <p:nvPr/>
        </p:nvSpPr>
        <p:spPr>
          <a:xfrm>
            <a:off x="5760720" y="1234440"/>
            <a:ext cx="2926080" cy="338328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IDLE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Google Colab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Instalación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Python + pandas en cada PC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Nada: solo navegador y cuenta Google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Resultados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Texto plano en consola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Tablas formateadas bajo cada celda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Ejecución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Todo el script de una vez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Celda a celda, paso a paso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Explicar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Comentarios en el código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Celdas de texto, títulos e imágenes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Compartir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Enviar archivos .py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Un enlace, como Google Docs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PRIMEROS PASOS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Abrir Colab y cargar los datos del curso</a:t>
            </a:r>
            <a:endParaRPr lang="en-US" sz="2800" dirty="0"/>
          </a:p>
        </p:txBody>
      </p:sp>
      <p:sp>
        <p:nvSpPr>
          <p:cNvPr id="4" name="Círculo número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43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Entrar a colab.research.google.com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36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Archivo → Nuevo notebook (o abrir el .ipynb del curso)</a:t>
            </a:r>
            <a:endParaRPr lang="en-US" sz="1100" dirty="0"/>
          </a:p>
        </p:txBody>
      </p:sp>
      <p:sp>
        <p:nvSpPr>
          <p:cNvPr id="8" name="Círculo número"/>
          <p:cNvSpPr/>
          <p:nvPr/>
        </p:nvSpPr>
        <p:spPr>
          <a:xfrm>
            <a:off x="457200" y="21214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84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Celdas de código y de texto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Ejecutar con Shift + Enter; el resultado aparece debajo</a:t>
            </a:r>
            <a:endParaRPr lang="en-US" sz="1100" dirty="0"/>
          </a:p>
        </p:txBody>
      </p:sp>
      <p:sp>
        <p:nvSpPr>
          <p:cNvPr id="12" name="Círculo número"/>
          <p:cNvSpPr/>
          <p:nvPr/>
        </p:nvSpPr>
        <p:spPr>
          <a:xfrm>
            <a:off x="457200" y="296265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26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Cargar el CSV desde GitHub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pandas lee la URL raw directamente, sin descargar nada</a:t>
            </a:r>
            <a:endParaRPr lang="en-US" sz="1100" dirty="0"/>
          </a:p>
        </p:txBody>
      </p:sp>
      <p:sp>
        <p:nvSpPr>
          <p:cNvPr id="16" name="Círculo número"/>
          <p:cNvSpPr/>
          <p:nvPr/>
        </p:nvSpPr>
        <p:spPr>
          <a:xfrm>
            <a:off x="457200" y="380390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67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Guardar en Drive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0599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Archivo → Guardar una copia en Drive</a:t>
            </a:r>
            <a:endParaRPr lang="en-US" sz="1100" dirty="0"/>
          </a:p>
        </p:txBody>
      </p:sp>
      <p:sp>
        <p:nvSpPr>
          <p:cNvPr id="20" name="Bloque de código"/>
          <p:cNvSpPr/>
          <p:nvPr/>
        </p:nvSpPr>
        <p:spPr>
          <a:xfrm>
            <a:off x="4526280" y="1234440"/>
            <a:ext cx="416052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1325880"/>
            <a:ext cx="3886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("https://raw.githubusercontent.com/"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"hpizarrog-industry40/CursoPython/"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"main/Aprendiendo_Pandas/datos/"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"alumnos.csv")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pd.read_csv(URL)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069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Alternativa: !git clone https://github.com/hpizarrog-industry40/CursoPython.git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número"/>
          <p:cNvSpPr/>
          <p:nvPr/>
        </p:nvSpPr>
        <p:spPr>
          <a:xfrm>
            <a:off x="64008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</a:t>
            </a:r>
            <a:endParaRPr lang="en-US" sz="2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Introducción a Pandas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Usar DataFrames para describir y explorar una base de datos: head, info, describe, selección de columnas y primeras validaciones.</a:t>
            </a:r>
            <a:endParaRPr lang="en-US" sz="1600" dirty="0"/>
          </a:p>
        </p:txBody>
      </p:sp>
      <p:sp>
        <p:nvSpPr>
          <p:cNvPr id="6" name="Etiqueta"/>
          <p:cNvSpPr/>
          <p:nvPr/>
        </p:nvSpPr>
        <p:spPr>
          <a:xfrm>
            <a:off x="2011680" y="388620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Práctica en Colab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1 · EL DATASET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alumnos.csv: una tabla pequeña con problemas reales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20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filas (alumnos)</a:t>
            </a:r>
            <a:endParaRPr lang="en-US" sz="1300" dirty="0"/>
          </a:p>
        </p:txBody>
      </p:sp>
      <p:sp>
        <p:nvSpPr>
          <p:cNvPr id="7" name="Tarjeta"/>
          <p:cNvSpPr/>
          <p:nvPr/>
        </p:nvSpPr>
        <p:spPr>
          <a:xfrm>
            <a:off x="256032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9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columnas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466344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cursos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676656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5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valores faltantes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Columnas: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nombre, edad, curso, ciudad, nota_parcial1, nota_parcial2, nota_final, asistencia</a:t>
            </a:r>
            <a:endParaRPr lang="en-US" sz="1200" dirty="0"/>
          </a:p>
        </p:txBody>
      </p:sp>
      <p:sp>
        <p:nvSpPr>
          <p:cNvPr id="17" name="Bloque de código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6118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   # (20, 9)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       # nombres de las columnas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df.tail(3)        # últimas 3 filas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1 · EXPLORACIÓN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Cuatro métodos para conocer los datos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20624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Primeras filas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Tipos y no nulos por columna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Estadística de columnas numéricas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Frecuencia de una categoría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df["curso"].value_counts()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937760" y="1188720"/>
          <a:ext cx="3749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93776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revela: nota final promedio 6,98 · asistencia entre 55% y 100% · edades 19 a 24 años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1 · PRIMERAS VALIDACIONES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Antes de analizar, verificar que los datos tienen sentido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408176"/>
            <a:ext cx="429768" cy="429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081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¿Tipos correctos?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280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280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Las notas deben ser float, no texto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457200" y="21031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594360" y="2231136"/>
            <a:ext cx="429768" cy="429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2311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¿Hay faltantes?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 nulos en 3 columnas</a:t>
            </a:r>
            <a:endParaRPr lang="en-US" sz="1200" dirty="0"/>
          </a:p>
        </p:txBody>
      </p:sp>
      <p:sp>
        <p:nvSpPr>
          <p:cNvPr id="16" name="Tarjeta"/>
          <p:cNvSpPr/>
          <p:nvPr/>
        </p:nvSpPr>
        <p:spPr>
          <a:xfrm>
            <a:off x="457200" y="29260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írculo número"/>
          <p:cNvSpPr/>
          <p:nvPr/>
        </p:nvSpPr>
        <p:spPr>
          <a:xfrm>
            <a:off x="594360" y="3054096"/>
            <a:ext cx="429768" cy="429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0540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¿Rangos lógicos?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926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Notas entre 0 y 10; asistencia ≤ 100</a:t>
            </a:r>
            <a:endParaRPr lang="en-US" sz="1200" dirty="0"/>
          </a:p>
        </p:txBody>
      </p:sp>
      <p:sp>
        <p:nvSpPr>
          <p:cNvPr id="22" name="Tarjeta"/>
          <p:cNvSpPr/>
          <p:nvPr/>
        </p:nvSpPr>
        <p:spPr>
          <a:xfrm>
            <a:off x="457200" y="374904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írculo número"/>
          <p:cNvSpPr/>
          <p:nvPr/>
        </p:nvSpPr>
        <p:spPr>
          <a:xfrm>
            <a:off x="594360" y="3877056"/>
            <a:ext cx="429768" cy="429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8770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¿Duplicados?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 filas repetidas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número"/>
          <p:cNvSpPr/>
          <p:nvPr/>
        </p:nvSpPr>
        <p:spPr>
          <a:xfrm>
            <a:off x="64008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</a:t>
            </a:r>
            <a:endParaRPr lang="en-US" sz="2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Filtrar, ordenar y seleccionar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Filtrar observaciones relevantes y ordenar los datos según una pregunta analítica.</a:t>
            </a:r>
            <a:endParaRPr lang="en-US" sz="1600" dirty="0"/>
          </a:p>
        </p:txBody>
      </p:sp>
      <p:sp>
        <p:nvSpPr>
          <p:cNvPr id="6" name="Etiqueta"/>
          <p:cNvSpPr/>
          <p:nvPr/>
        </p:nvSpPr>
        <p:spPr>
          <a:xfrm>
            <a:off x="2011680" y="388620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Práctica en Colab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2 · SELECCIÓN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Tres formas de seleccionar datos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corchete → Series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Doble corchete → DataFrame</a:t>
            </a:r>
            <a:endParaRPr lang="en-US" sz="1300" dirty="0"/>
          </a:p>
        </p:txBody>
      </p:sp>
      <p:sp>
        <p:nvSpPr>
          <p:cNvPr id="7" name="Bloque de código"/>
          <p:cNvSpPr/>
          <p:nvPr/>
        </p:nvSpPr>
        <p:spPr>
          <a:xfrm>
            <a:off x="640080" y="2743200"/>
            <a:ext cx="224028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3464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df["nombre"]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df[["nombre",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"nota_final"]]</a:t>
            </a:r>
            <a:endParaRPr lang="en-US" sz="1200" dirty="0"/>
          </a:p>
        </p:txBody>
      </p:sp>
      <p:sp>
        <p:nvSpPr>
          <p:cNvPr id="9" name="Tarjeta"/>
          <p:cNvSpPr/>
          <p:nvPr/>
        </p:nvSpPr>
        <p:spPr>
          <a:xfrm>
            <a:off x="3273552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loc[ ]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etiqueta: nombre de fila y columna</a:t>
            </a:r>
            <a:endParaRPr lang="en-US" sz="1300" dirty="0"/>
          </a:p>
        </p:txBody>
      </p:sp>
      <p:sp>
        <p:nvSpPr>
          <p:cNvPr id="12" name="Bloque de código"/>
          <p:cNvSpPr/>
          <p:nvPr/>
        </p:nvSpPr>
        <p:spPr>
          <a:xfrm>
            <a:off x="3456432" y="2743200"/>
            <a:ext cx="224028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283464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df.loc[0:4,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"nombre"]</a:t>
            </a:r>
            <a:endParaRPr lang="en-US" sz="1200" dirty="0"/>
          </a:p>
        </p:txBody>
      </p:sp>
      <p:sp>
        <p:nvSpPr>
          <p:cNvPr id="14" name="Tarjeta"/>
          <p:cNvSpPr/>
          <p:nvPr/>
        </p:nvSpPr>
        <p:spPr>
          <a:xfrm>
            <a:off x="6089904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iloc[ ]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posición numérica, como una matriz</a:t>
            </a:r>
            <a:endParaRPr lang="en-US" sz="1300" dirty="0"/>
          </a:p>
        </p:txBody>
      </p:sp>
      <p:sp>
        <p:nvSpPr>
          <p:cNvPr id="17" name="Bloque de código"/>
          <p:cNvSpPr/>
          <p:nvPr/>
        </p:nvSpPr>
        <p:spPr>
          <a:xfrm>
            <a:off x="6272784" y="2743200"/>
            <a:ext cx="224028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83464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df.iloc[0:3, 0:2]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filas,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columnas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2 · FILTROS CONDICIONALES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condición es una máscara de True y False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75488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Alumnos con nota final &gt;= 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df[df["nota_final"] &gt;= 8]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Matemáticas Y asistencia &gt; 90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df[(df["curso"] == "Matematicas") &amp;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(df["asistencia"] &gt; 90)]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Física O Química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df[df["curso"].isin(["Fisica",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"Quimica"])]</a:t>
            </a:r>
            <a:endParaRPr lang="en-US" sz="1200" dirty="0"/>
          </a:p>
        </p:txBody>
      </p:sp>
      <p:sp>
        <p:nvSpPr>
          <p:cNvPr id="6" name="Tarjeta"/>
          <p:cNvSpPr/>
          <p:nvPr/>
        </p:nvSpPr>
        <p:spPr>
          <a:xfrm>
            <a:off x="5486400" y="123444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2344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alumnos con nota final ≥ 8</a:t>
            </a:r>
            <a:endParaRPr lang="en-US" sz="1300" dirty="0"/>
          </a:p>
        </p:txBody>
      </p:sp>
      <p:sp>
        <p:nvSpPr>
          <p:cNvPr id="9" name="Tarjeta"/>
          <p:cNvSpPr/>
          <p:nvPr/>
        </p:nvSpPr>
        <p:spPr>
          <a:xfrm>
            <a:off x="5486400" y="242316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784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4231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Matemáticas con asistencia &gt; 90%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Regla: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usar &amp; (y), | (o) y poner cada condición entre paréntesis.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2 · ORDENAR PARA RESPONDER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curso tiene mejor rendimiento?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20624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Ranking de alumnos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df.sort_values("nota_final",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ascending=False)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 curso y luego por nota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df.sort_values(["curso", "nota_final"],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ascending=[True, False])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Promedio por curso, ordenado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(df.groupby("curso")["nota_final"]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.mean()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.sort_values(ascending=False))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937760" y="1188720"/>
          <a:ext cx="3749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9377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Matemáticas lidera con 7,89; Química queda última con 6,13.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número"/>
          <p:cNvSpPr/>
          <p:nvPr/>
        </p:nvSpPr>
        <p:spPr>
          <a:xfrm>
            <a:off x="64008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</a:t>
            </a:r>
            <a:endParaRPr lang="en-US" sz="2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Transformación y faltantes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Crear variables derivadas y tratar datos faltantes de forma documentada y justificada.</a:t>
            </a:r>
            <a:endParaRPr lang="en-US" sz="1600" dirty="0"/>
          </a:p>
        </p:txBody>
      </p:sp>
      <p:sp>
        <p:nvSpPr>
          <p:cNvPr id="6" name="Etiqueta"/>
          <p:cNvSpPr/>
          <p:nvPr/>
        </p:nvSpPr>
        <p:spPr>
          <a:xfrm>
            <a:off x="2011680" y="388620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Práctica en Colab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3 · VARIABLES DERIVADAS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Nuevas columnas a partir de las existentes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48056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Columna calculada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df["promedio_parciales"] = 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df["nota_parcial1"] +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df["nota_parcial2"]) / 2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Columna categórica con apply()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clasificar(nota):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nota &gt;= 9: return "Sobresaliente"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nota &gt;= 7: return "Notable"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nota &gt;= 5: return "Aprobado"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return "Suspenso"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df["calificacion"] = df["nota_final"].apply(clasificar)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69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Ojo: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 falta un parcial, el promedio también queda NaN → afecta a 4 alumnos.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212080" y="1188720"/>
          <a:ext cx="3474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3 · VALORES FALTANTES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Imputar o excluir: toda decisión se justifica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12344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</a:t>
            </a:r>
            <a:endParaRPr lang="en-US" sz="1000" dirty="0"/>
          </a:p>
        </p:txBody>
      </p:sp>
      <p:sp>
        <p:nvSpPr>
          <p:cNvPr id="7" name="Tarjeta"/>
          <p:cNvSpPr/>
          <p:nvPr/>
        </p:nvSpPr>
        <p:spPr>
          <a:xfrm>
            <a:off x="1828800" y="1234440"/>
            <a:ext cx="12344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2801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nota_parcial1</a:t>
            </a:r>
            <a:endParaRPr lang="en-US" sz="1000" dirty="0"/>
          </a:p>
        </p:txBody>
      </p:sp>
      <p:sp>
        <p:nvSpPr>
          <p:cNvPr id="10" name="Tarjeta"/>
          <p:cNvSpPr/>
          <p:nvPr/>
        </p:nvSpPr>
        <p:spPr>
          <a:xfrm>
            <a:off x="3200400" y="1234440"/>
            <a:ext cx="12344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2801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nota_parcial2</a:t>
            </a:r>
            <a:endParaRPr lang="en-US" sz="1000" dirty="0"/>
          </a:p>
        </p:txBody>
      </p:sp>
      <p:sp>
        <p:nvSpPr>
          <p:cNvPr id="13" name="Bloque de código"/>
          <p:cNvSpPr/>
          <p:nvPr/>
        </p:nvSpPr>
        <p:spPr>
          <a:xfrm>
            <a:off x="457200" y="256032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65176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df["nota_parcial2"].fillna(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df["nota_parcial2"].mean())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df["ciudad"].fillna("Desconocida")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   # 20 -&gt; 15 filas</a:t>
            </a:r>
            <a:endParaRPr lang="en-US" sz="1100" dirty="0"/>
          </a:p>
        </p:txBody>
      </p:sp>
      <p:sp>
        <p:nvSpPr>
          <p:cNvPr id="15" name="Tarjeta"/>
          <p:cNvSpPr/>
          <p:nvPr/>
        </p:nvSpPr>
        <p:spPr>
          <a:xfrm>
            <a:off x="4709160" y="1234440"/>
            <a:ext cx="3977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Imputar con la media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5819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nota_parcial2 → 7,03. Simple, pero reduce la variabilidad.</a:t>
            </a:r>
            <a:endParaRPr lang="en-US" sz="1200" dirty="0"/>
          </a:p>
        </p:txBody>
      </p:sp>
      <p:sp>
        <p:nvSpPr>
          <p:cNvPr id="18" name="Tarjeta"/>
          <p:cNvSpPr/>
          <p:nvPr/>
        </p:nvSpPr>
        <p:spPr>
          <a:xfrm>
            <a:off x="4709160" y="2148840"/>
            <a:ext cx="3977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Valor fijo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496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ciudad → "Desconocida". No inventa un dato: lo marca.</a:t>
            </a:r>
            <a:endParaRPr lang="en-US" sz="1200" dirty="0"/>
          </a:p>
        </p:txBody>
      </p:sp>
      <p:sp>
        <p:nvSpPr>
          <p:cNvPr id="21" name="Tarjeta"/>
          <p:cNvSpPr/>
          <p:nvPr/>
        </p:nvSpPr>
        <p:spPr>
          <a:xfrm>
            <a:off x="4709160" y="3063240"/>
            <a:ext cx="3977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Excluir filas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410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dropna() elimina 5 de 20 filas: se pierde el 25% de los datos.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0233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3"/>
                </a:solidFill>
              </a:rPr>
              <a:t>Documentar en una celda de texto: qué se hizo, en qué columnas y por qué.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número"/>
          <p:cNvSpPr/>
          <p:nvPr/>
        </p:nvSpPr>
        <p:spPr>
          <a:xfrm>
            <a:off x="64008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</a:t>
            </a:r>
            <a:endParaRPr lang="en-US" sz="2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Combinar tablas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Integrar varias tablas respetando claves, granularidad y trazabilidad.</a:t>
            </a:r>
            <a:endParaRPr lang="en-US" sz="1600" dirty="0"/>
          </a:p>
        </p:txBody>
      </p:sp>
      <p:sp>
        <p:nvSpPr>
          <p:cNvPr id="6" name="Etiqueta"/>
          <p:cNvSpPr/>
          <p:nvPr/>
        </p:nvSpPr>
        <p:spPr>
          <a:xfrm>
            <a:off x="2011680" y="388620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Avance · continúa en Parte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4 · MERGE Y CONCAT · AVANCE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merge une por clave; concat apila períodos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11480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cursos = pd.DataFrame({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"curso": ["Matematicas",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"Fisica", "Quimica"],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"profesor": ["Rosa Soto",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"Manuel Vera", "Carla Rojas"]})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df_full = df.merge(cursos, on="curso",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how="left", validate="many_to_one",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indicator=True)</a:t>
            </a:r>
            <a:endParaRPr lang="en-US" sz="1000" dirty="0"/>
          </a:p>
        </p:txBody>
      </p:sp>
      <p:sp>
        <p:nvSpPr>
          <p:cNvPr id="6" name="Bloque de código"/>
          <p:cNvSpPr/>
          <p:nvPr/>
        </p:nvSpPr>
        <p:spPr>
          <a:xfrm>
            <a:off x="4754880" y="1234440"/>
            <a:ext cx="393192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df.assign(periodo="2026-1")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df.assign(periodo="2026-2")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historico = pd.concat([s1, s2],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ignore_index=True)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 + 20 = 40 filas</a:t>
            </a:r>
            <a:endParaRPr lang="en-US" sz="1000" dirty="0"/>
          </a:p>
        </p:txBody>
      </p:sp>
      <p:sp>
        <p:nvSpPr>
          <p:cNvPr id="8" name="Tarjeta"/>
          <p:cNvSpPr/>
          <p:nvPr/>
        </p:nvSpPr>
        <p:spPr>
          <a:xfrm>
            <a:off x="457200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Clave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on="curso" debe existir en ambas tablas</a:t>
            </a:r>
            <a:endParaRPr lang="en-US" sz="1100" dirty="0"/>
          </a:p>
        </p:txBody>
      </p:sp>
      <p:sp>
        <p:nvSpPr>
          <p:cNvPr id="11" name="Tarjeta"/>
          <p:cNvSpPr/>
          <p:nvPr/>
        </p:nvSpPr>
        <p:spPr>
          <a:xfrm>
            <a:off x="3273552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Granularidad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validate="many_to_one" evita duplicar filas</a:t>
            </a:r>
            <a:endParaRPr lang="en-US" sz="1100" dirty="0"/>
          </a:p>
        </p:txBody>
      </p:sp>
      <p:sp>
        <p:nvSpPr>
          <p:cNvPr id="14" name="Tarjeta"/>
          <p:cNvSpPr/>
          <p:nvPr/>
        </p:nvSpPr>
        <p:spPr>
          <a:xfrm>
            <a:off x="6089904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7064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Trazabilidad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27064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indicator=True y la columna periodo dicen de dónde viene cada dato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número"/>
          <p:cNvSpPr/>
          <p:nvPr/>
        </p:nvSpPr>
        <p:spPr>
          <a:xfrm>
            <a:off x="64008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Limpieza y automatización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Diseñar un flujo reutilizable de limpieza y preparación de datos.</a:t>
            </a:r>
            <a:endParaRPr lang="en-US" sz="1600" dirty="0"/>
          </a:p>
        </p:txBody>
      </p:sp>
      <p:sp>
        <p:nvSpPr>
          <p:cNvPr id="6" name="Etiqueta"/>
          <p:cNvSpPr/>
          <p:nvPr/>
        </p:nvSpPr>
        <p:spPr>
          <a:xfrm>
            <a:off x="2011680" y="388620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Avance · continúa en Parte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5 · FUNCIÓN DE LIMPIEZA · AVANCE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Escribir la limpieza una vez y reutilizarla siempre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93776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limpiar_columnas(df):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df.copy()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Nombres: sin espacios y en minúscula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df.columns = (df.columns.str.strip()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.str.lower()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.str.replace(" ", "_"))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Categorías estandarizadas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col in df.select_dtypes(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include=["object", "string"]):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df[col] = df[col].str.strip().str.title()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Antes: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Curso " → "  matematicas", "FISICA 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Después: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 → "Matematicas", "Fisica"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5852160" y="123444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1234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Cargar</a:t>
            </a:r>
            <a:endParaRPr lang="en-US" sz="1500" dirty="0"/>
          </a:p>
        </p:txBody>
      </p:sp>
      <p:sp>
        <p:nvSpPr>
          <p:cNvPr id="9" name="Flecha"/>
          <p:cNvSpPr/>
          <p:nvPr/>
        </p:nvSpPr>
        <p:spPr>
          <a:xfrm>
            <a:off x="7159752" y="1892808"/>
            <a:ext cx="219456" cy="182880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arjeta"/>
          <p:cNvSpPr/>
          <p:nvPr/>
        </p:nvSpPr>
        <p:spPr>
          <a:xfrm>
            <a:off x="5852160" y="210312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Limpiar</a:t>
            </a:r>
            <a:endParaRPr lang="en-US" sz="1500" dirty="0"/>
          </a:p>
        </p:txBody>
      </p:sp>
      <p:sp>
        <p:nvSpPr>
          <p:cNvPr id="12" name="Flecha"/>
          <p:cNvSpPr/>
          <p:nvPr/>
        </p:nvSpPr>
        <p:spPr>
          <a:xfrm>
            <a:off x="7159752" y="2761488"/>
            <a:ext cx="219456" cy="182880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arjeta"/>
          <p:cNvSpPr/>
          <p:nvPr/>
        </p:nvSpPr>
        <p:spPr>
          <a:xfrm>
            <a:off x="5852160" y="297180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2971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Validar</a:t>
            </a:r>
            <a:endParaRPr lang="en-US" sz="1500" dirty="0"/>
          </a:p>
        </p:txBody>
      </p:sp>
      <p:sp>
        <p:nvSpPr>
          <p:cNvPr id="15" name="Flecha"/>
          <p:cNvSpPr/>
          <p:nvPr/>
        </p:nvSpPr>
        <p:spPr>
          <a:xfrm>
            <a:off x="7159752" y="3630168"/>
            <a:ext cx="219456" cy="182880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arjeta"/>
          <p:cNvSpPr/>
          <p:nvPr/>
        </p:nvSpPr>
        <p:spPr>
          <a:xfrm>
            <a:off x="5852160" y="384048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Exportar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MANOS A LA OBRA · ejercicios_propuestos.py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Cinco ejercicios para resolver en Colab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66928" y="13075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Alumnos aprobados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Filtrar nota_final ≥ 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2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457200" y="1901952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566928" y="19751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901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Promedio por curso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901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 + mean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9019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2</a:t>
            </a:r>
            <a:endParaRPr lang="en-US" sz="1100" dirty="0"/>
          </a:p>
        </p:txBody>
      </p:sp>
      <p:sp>
        <p:nvSpPr>
          <p:cNvPr id="16" name="Tarjeta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írculo número"/>
          <p:cNvSpPr/>
          <p:nvPr/>
        </p:nvSpPr>
        <p:spPr>
          <a:xfrm>
            <a:off x="566928" y="264261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5694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Mejor nota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25694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 o idxmax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5694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2</a:t>
            </a:r>
            <a:endParaRPr lang="en-US" sz="1100" dirty="0"/>
          </a:p>
        </p:txBody>
      </p:sp>
      <p:sp>
        <p:nvSpPr>
          <p:cNvPr id="22" name="Tarjeta"/>
          <p:cNvSpPr/>
          <p:nvPr/>
        </p:nvSpPr>
        <p:spPr>
          <a:xfrm>
            <a:off x="457200" y="3236976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írculo número"/>
          <p:cNvSpPr/>
          <p:nvPr/>
        </p:nvSpPr>
        <p:spPr>
          <a:xfrm>
            <a:off x="566928" y="33101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2369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Alumnos por ciudad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32369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23697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1</a:t>
            </a:r>
            <a:endParaRPr lang="en-US" sz="1100" dirty="0"/>
          </a:p>
        </p:txBody>
      </p:sp>
      <p:sp>
        <p:nvSpPr>
          <p:cNvPr id="28" name="Tarjeta"/>
          <p:cNvSpPr/>
          <p:nvPr/>
        </p:nvSpPr>
        <p:spPr>
          <a:xfrm>
            <a:off x="457200" y="390448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írculo número"/>
          <p:cNvSpPr/>
          <p:nvPr/>
        </p:nvSpPr>
        <p:spPr>
          <a:xfrm>
            <a:off x="566928" y="397764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904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Columna estado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904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Aprobado / Suspenso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39044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SOLUCIONES · EJERCICIOS 1 A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Filtrar, agrupar y encontrar el máximo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Alumnos aprobados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df[df["nota_final"] &gt;= 5]</a:t>
            </a:r>
            <a:endParaRPr lang="en-US" sz="1200" dirty="0"/>
          </a:p>
        </p:txBody>
      </p:sp>
      <p:sp>
        <p:nvSpPr>
          <p:cNvPr id="9" name="Resultado"/>
          <p:cNvSpPr/>
          <p:nvPr/>
        </p:nvSpPr>
        <p:spPr>
          <a:xfrm>
            <a:off x="6446520" y="13716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17 de 20 alumnos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írculo número"/>
          <p:cNvSpPr/>
          <p:nvPr/>
        </p:nvSpPr>
        <p:spPr>
          <a:xfrm>
            <a:off x="594360" y="2606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23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Promedio por curso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43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df.groupby("curso")["nota_final"].mean()</a:t>
            </a:r>
            <a:endParaRPr lang="en-US" sz="1200" dirty="0"/>
          </a:p>
        </p:txBody>
      </p:sp>
      <p:sp>
        <p:nvSpPr>
          <p:cNvPr id="16" name="Resultado"/>
          <p:cNvSpPr/>
          <p:nvPr/>
        </p:nvSpPr>
        <p:spPr>
          <a:xfrm>
            <a:off x="6446520" y="246888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4688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Mat 7,89 · Fís 6,62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Quí 6,13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írculo número"/>
          <p:cNvSpPr/>
          <p:nvPr/>
        </p:nvSpPr>
        <p:spPr>
          <a:xfrm>
            <a:off x="594360" y="3703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520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Alumno con la mejor nota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840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df.loc[df["nota_final"].idxmax(), "nombre"]</a:t>
            </a:r>
            <a:endParaRPr lang="en-US" sz="1200" dirty="0"/>
          </a:p>
        </p:txBody>
      </p:sp>
      <p:sp>
        <p:nvSpPr>
          <p:cNvPr id="23" name="Resultado"/>
          <p:cNvSpPr/>
          <p:nvPr/>
        </p:nvSpPr>
        <p:spPr>
          <a:xfrm>
            <a:off x="6446520" y="356616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566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Laura Martin (9,8)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Alternativa al 3: df.sort_values("nota_final", ascending=False).iloc[0]["nombre"]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SOLUCIONES · EJERCICIOS 4 Y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Contar categorías y crear una columna condicional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Alumnos por ciudad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df["ciudad"].value_counts()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194560"/>
          <a:ext cx="37947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1 alumno sin ciudad: value_counts() omite los NaN</a:t>
            </a:r>
            <a:endParaRPr lang="en-US" sz="1100" dirty="0"/>
          </a:p>
        </p:txBody>
      </p:sp>
      <p:sp>
        <p:nvSpPr>
          <p:cNvPr id="11" name="Tarjeta"/>
          <p:cNvSpPr/>
          <p:nvPr/>
        </p:nvSpPr>
        <p:spPr>
          <a:xfrm>
            <a:off x="470916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írculo número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Columna estado</a:t>
            </a:r>
            <a:endParaRPr lang="en-US" sz="1400" dirty="0"/>
          </a:p>
        </p:txBody>
      </p:sp>
      <p:sp>
        <p:nvSpPr>
          <p:cNvPr id="15" name="Bloque de código"/>
          <p:cNvSpPr/>
          <p:nvPr/>
        </p:nvSpPr>
        <p:spPr>
          <a:xfrm>
            <a:off x="4846320" y="1874520"/>
            <a:ext cx="37033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19659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df.copy()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df["estado"] = df["nota_final"].apply(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n: "Aprobado" if n &gt;= 5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else "Suspenso")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474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17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3474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Aprobado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3474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3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7543800" y="3474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Suspenso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4160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copy() evita modificar el DataFrame original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Lo que nos llevamos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Próxima sesión: Parte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Combinar tablas y limpiar datos reales</a:t>
            </a:r>
            <a:endParaRPr lang="en-US" sz="1600" dirty="0"/>
          </a:p>
        </p:txBody>
      </p:sp>
      <p:sp>
        <p:nvSpPr>
          <p:cNvPr id="4" name="Círculo número"/>
          <p:cNvSpPr/>
          <p:nvPr/>
        </p:nvSpPr>
        <p:spPr>
          <a:xfrm>
            <a:off x="5760720" y="914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Explorar antes de analizar</a:t>
            </a:r>
            <a:endParaRPr lang="en-US" sz="1400" dirty="0"/>
          </a:p>
        </p:txBody>
      </p:sp>
      <p:sp>
        <p:nvSpPr>
          <p:cNvPr id="7" name="Círculo número"/>
          <p:cNvSpPr/>
          <p:nvPr/>
        </p:nvSpPr>
        <p:spPr>
          <a:xfrm>
            <a:off x="576072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Filtrar y ordenar según la pregunta</a:t>
            </a:r>
            <a:endParaRPr lang="en-US" sz="1400" dirty="0"/>
          </a:p>
        </p:txBody>
      </p:sp>
      <p:sp>
        <p:nvSpPr>
          <p:cNvPr id="10" name="Círculo número"/>
          <p:cNvSpPr/>
          <p:nvPr/>
        </p:nvSpPr>
        <p:spPr>
          <a:xfrm>
            <a:off x="5760720" y="22860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Justificar cada imputación</a:t>
            </a:r>
            <a:endParaRPr lang="en-US" sz="1400" dirty="0"/>
          </a:p>
        </p:txBody>
      </p:sp>
      <p:sp>
        <p:nvSpPr>
          <p:cNvPr id="13" name="Círculo número"/>
          <p:cNvSpPr/>
          <p:nvPr/>
        </p:nvSpPr>
        <p:spPr>
          <a:xfrm>
            <a:off x="5760720" y="2971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Combinar con claves claras</a:t>
            </a:r>
            <a:endParaRPr lang="en-US" sz="1400" dirty="0"/>
          </a:p>
        </p:txBody>
      </p:sp>
      <p:sp>
        <p:nvSpPr>
          <p:cNvPr id="16" name="Círculo número"/>
          <p:cNvSpPr/>
          <p:nvPr/>
        </p:nvSpPr>
        <p:spPr>
          <a:xfrm>
            <a:off x="5760720" y="3657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Automatizar lo repetido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s Colab">
  <a:themeElements>
    <a:clrScheme name="Pandas Colab">
      <a:dk1>
        <a:srgbClr val="1B2430"/>
      </a:dk1>
      <a:lt1>
        <a:srgbClr val="FFFFFF"/>
      </a:lt1>
      <a:dk2>
        <a:srgbClr val="0F2A3D"/>
      </a:dk2>
      <a:lt2>
        <a:srgbClr val="EEF3F6"/>
      </a:lt2>
      <a:accent1>
        <a:srgbClr val="FFD43B"/>
      </a:accent1>
      <a:accent2>
        <a:srgbClr val="3776AB"/>
      </a:accent2>
      <a:accent3>
        <a:srgbClr val="1F7A8C"/>
      </a:accent3>
      <a:accent4>
        <a:srgbClr val="E07A5F"/>
      </a:accent4>
      <a:accent5>
        <a:srgbClr val="8FD3A8"/>
      </a:accent5>
      <a:accent6>
        <a:srgbClr val="6B7A88"/>
      </a:accent6>
      <a:hlink>
        <a:srgbClr val="3776AB"/>
      </a:hlink>
      <a:folHlink>
        <a:srgbClr val="1F7A8C"/>
      </a:folHlink>
    </a:clrScheme>
    <a:fontScheme name="Pandas Co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en Google Colab</dc:title>
  <dc:subject>PptxGenJS Presentation</dc:subject>
  <dc:creator>PptxGenJS</dc:creator>
  <cp:lastModifiedBy>PptxGenJS</cp:lastModifiedBy>
  <cp:revision>1</cp:revision>
  <dcterms:created xsi:type="dcterms:W3CDTF">2026-10-13T08:43:12Z</dcterms:created>
  <dcterms:modified xsi:type="dcterms:W3CDTF">2026-10-13T08:43:12Z</dcterms:modified>
</cp:coreProperties>
</file>