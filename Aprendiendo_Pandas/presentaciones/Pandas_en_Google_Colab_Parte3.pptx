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7.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40230a42-eaa9-a72e-5a7f-f074d9ea2bde}">
          <p14:sldIdLst>
            <p14:sldId id="256"/>
            <p14:sldId id="257"/>
            <p14:sldId id="258"/>
          </p14:sldIdLst>
        </p14:section>
        <p14:section name="6 · Regresión lineal" id="{370cf127-d849-1fdd-ddba-07bc66ad5feb}">
          <p14:sldIdLst>
            <p14:sldId id="259"/>
            <p14:sldId id="260"/>
            <p14:sldId id="261"/>
            <p14:sldId id="262"/>
            <p14:sldId id="263"/>
            <p14:sldId id="264"/>
            <p14:sldId id="265"/>
            <p14:sldId id="266"/>
            <p14:sldId id="267"/>
            <p14:sldId id="268"/>
            <p14:sldId id="269"/>
            <p14:sldId id="270"/>
          </p14:sldIdLst>
        </p14:section>
        <p14:section name="Práctica" id="{61001d4a-c94b-87a2-88eb-e6ad92eb0f8a}">
          <p14:sldIdLst>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F2A3D"/>
                </a:solidFill>
                <a:latin typeface="+mn-lt"/>
              </a:defRPr>
            </a:pPr>
            <a:r>
              <a:rPr sz="1200" b="0" i="0" u="none" strike="noStrike">
                <a:solidFill>
                  <a:srgbClr val="0F2A3D"/>
                </a:solidFill>
                <a:latin typeface="+mn-lt"/>
              </a:rPr>
              <a:t>Correlación de Pearson (r) con nota_final</a:t>
            </a:r>
          </a:p>
        </c:rich>
      </c:tx>
      <c:layout/>
      <c:overlay val="0"/>
    </c:title>
    <c:autoTitleDeleted val="0"/>
    <c:plotArea>
      <c:layout/>
      <c:barChart>
        <c:barDir val="bar"/>
        <c:grouping val="clustered"/>
        <c:varyColors val="0"/>
        <c:ser>
          <c:idx val="0"/>
          <c:order val="0"/>
          <c:tx>
            <c:strRef>
              <c:f>Sheet1!$B$1</c:f>
              <c:strCache>
                <c:ptCount val="1"/>
                <c:pt idx="0">
                  <c:v>r</c:v>
                </c:pt>
              </c:strCache>
            </c:strRef>
          </c:tx>
          <c:spPr>
            <a:solidFill>
              <a:srgbClr val="3776AB"/>
            </a:solidFill>
            <a:effectLst/>
          </c:spPr>
          <c:invertIfNegative val="0"/>
          <c:dLbls>
            <c:numFmt formatCode="0.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Sheet1!$A$2:$A$4</c:f>
              <c:multiLvlStrCache>
                <c:ptCount val="3"/>
                <c:lvl>
                  <c:pt idx="0">
                    <c:v>horas_sueno</c:v>
                  </c:pt>
                  <c:pt idx="1">
                    <c:v>asistencia</c:v>
                  </c:pt>
                  <c:pt idx="2">
                    <c:v>horas_estudio</c:v>
                  </c:pt>
                </c:lvl>
              </c:multiLvlStrCache>
            </c:multiLvlStrRef>
          </c:cat>
          <c:val>
            <c:numRef>
              <c:f>Sheet1!$B$2:$B$4</c:f>
              <c:numCache>
                <c:formatCode>General</c:formatCode>
                <c:ptCount val="3"/>
                <c:pt idx="0">
                  <c:v>-0.07</c:v>
                </c:pt>
                <c:pt idx="1">
                  <c:v>0.61</c:v>
                </c:pt>
                <c:pt idx="2">
                  <c:v>0.8</c:v>
                </c:pt>
              </c:numCache>
            </c:numRef>
          </c:val>
        </c:ser>
        <c:dLbls>
          <c:numFmt formatCode="0.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A88"/>
                </a:solidFill>
                <a:latin typeface="+mn-lt"/>
              </a:defRPr>
            </a:pPr>
            <a:endParaRPr lang="en-US"/>
          </a:p>
        </c:txPr>
        <c:crossAx val="2094734552"/>
        <c:crosses val="autoZero"/>
        <c:auto val="1"/>
        <c:lblAlgn val="ctr"/>
        <c:noMultiLvlLbl val="1"/>
      </c:catAx>
      <c:valAx>
        <c:axId val="2094734552"/>
        <c:scaling>
          <c:orientation val="minMax"/>
          <c:max val="1"/>
          <c:min val="-0.2"/>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A8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F2A3D"/>
                </a:solidFill>
                <a:latin typeface="+mn-lt"/>
              </a:defRPr>
            </a:pPr>
            <a:r>
              <a:rPr sz="1200" b="0" i="0" u="none" strike="noStrike">
                <a:solidFill>
                  <a:srgbClr val="0F2A3D"/>
                </a:solidFill>
                <a:latin typeface="+mn-lt"/>
              </a:rPr>
              <a:t>horas_estudio vs nota_final · r = 0,80</a:t>
            </a:r>
          </a:p>
        </c:rich>
      </c:tx>
      <c:layout/>
      <c:overlay val="0"/>
    </c:title>
    <c:autoTitleDeleted val="0"/>
    <c:plotArea>
      <c:layout/>
      <c:scatterChart>
        <c:scatterStyle val="lineMarker"/>
        <c:varyColors val="0"/>
        <c:ser>
          <c:idx val="0"/>
          <c:order val="0"/>
          <c:tx>
            <c:strRef>
              <c:f>Sheet1!$B$1</c:f>
              <c:strCache>
                <c:ptCount val="1"/>
                <c:pt idx="0">
                  <c:v>Estudiantes</c:v>
                </c:pt>
              </c:strCache>
            </c:strRef>
          </c:tx>
          <c:spPr>
            <a:solidFill>
              <a:srgbClr val="3776AB"/>
            </a:solidFill>
            <a:ln>
              <a:noFill/>
            </a:ln>
            <a:effectLst/>
          </c:spPr>
          <c:marker>
            <c:symbol val="circle"/>
            <c:size val="5"/>
            <c:spPr>
              <a:solidFill>
                <a:srgbClr val="3776AB"/>
              </a:solidFill>
              <a:ln w="9525" cap="flat">
                <a:solidFill>
                  <a:srgbClr val="3776AB"/>
                </a:solidFill>
                <a:prstDash val="solid"/>
                <a:round/>
              </a:ln>
              <a:effectLst/>
            </c:spPr>
          </c:marker>
          <c:xVal>
            <c:numRef>
              <c:f>Sheet1!$A$2:$A$151</c:f>
              <c:numCache>
                <c:formatCode>General</c:formatCode>
                <c:ptCount val="150"/>
                <c:pt idx="0">
                  <c:v>0.5</c:v>
                </c:pt>
                <c:pt idx="1">
                  <c:v>0.5</c:v>
                </c:pt>
                <c:pt idx="2">
                  <c:v>0.5</c:v>
                </c:pt>
                <c:pt idx="3">
                  <c:v>0.5</c:v>
                </c:pt>
                <c:pt idx="4">
                  <c:v>0.6</c:v>
                </c:pt>
                <c:pt idx="5">
                  <c:v>1.1</c:v>
                </c:pt>
                <c:pt idx="6">
                  <c:v>1.2</c:v>
                </c:pt>
                <c:pt idx="7">
                  <c:v>1.8</c:v>
                </c:pt>
                <c:pt idx="8">
                  <c:v>2</c:v>
                </c:pt>
                <c:pt idx="9">
                  <c:v>2.1</c:v>
                </c:pt>
                <c:pt idx="10">
                  <c:v>2.2</c:v>
                </c:pt>
                <c:pt idx="11">
                  <c:v>2.3</c:v>
                </c:pt>
                <c:pt idx="12">
                  <c:v>2.5</c:v>
                </c:pt>
                <c:pt idx="13">
                  <c:v>2.6</c:v>
                </c:pt>
                <c:pt idx="14">
                  <c:v>2.7</c:v>
                </c:pt>
                <c:pt idx="15">
                  <c:v>3.2</c:v>
                </c:pt>
                <c:pt idx="16">
                  <c:v>3.4</c:v>
                </c:pt>
                <c:pt idx="17">
                  <c:v>3.5</c:v>
                </c:pt>
                <c:pt idx="18">
                  <c:v>3.7</c:v>
                </c:pt>
                <c:pt idx="19">
                  <c:v>3.7</c:v>
                </c:pt>
                <c:pt idx="20">
                  <c:v>3.8</c:v>
                </c:pt>
                <c:pt idx="21">
                  <c:v>3.8</c:v>
                </c:pt>
                <c:pt idx="22">
                  <c:v>4</c:v>
                </c:pt>
                <c:pt idx="23">
                  <c:v>4</c:v>
                </c:pt>
                <c:pt idx="24">
                  <c:v>4.1</c:v>
                </c:pt>
                <c:pt idx="25">
                  <c:v>4.1</c:v>
                </c:pt>
                <c:pt idx="26">
                  <c:v>4.2</c:v>
                </c:pt>
                <c:pt idx="27">
                  <c:v>4.3</c:v>
                </c:pt>
                <c:pt idx="28">
                  <c:v>4.4</c:v>
                </c:pt>
                <c:pt idx="29">
                  <c:v>4.4</c:v>
                </c:pt>
                <c:pt idx="30">
                  <c:v>4.5</c:v>
                </c:pt>
                <c:pt idx="31">
                  <c:v>4.5</c:v>
                </c:pt>
                <c:pt idx="32">
                  <c:v>4.6</c:v>
                </c:pt>
                <c:pt idx="33">
                  <c:v>4.7</c:v>
                </c:pt>
                <c:pt idx="34">
                  <c:v>4.7</c:v>
                </c:pt>
                <c:pt idx="35">
                  <c:v>4.8</c:v>
                </c:pt>
                <c:pt idx="36">
                  <c:v>4.9</c:v>
                </c:pt>
                <c:pt idx="37">
                  <c:v>4.9</c:v>
                </c:pt>
                <c:pt idx="38">
                  <c:v>4.9</c:v>
                </c:pt>
                <c:pt idx="39">
                  <c:v>5</c:v>
                </c:pt>
                <c:pt idx="40">
                  <c:v>5</c:v>
                </c:pt>
                <c:pt idx="41">
                  <c:v>5.2</c:v>
                </c:pt>
                <c:pt idx="42">
                  <c:v>5.3</c:v>
                </c:pt>
                <c:pt idx="43">
                  <c:v>5.3</c:v>
                </c:pt>
                <c:pt idx="44">
                  <c:v>5.4</c:v>
                </c:pt>
                <c:pt idx="45">
                  <c:v>5.4</c:v>
                </c:pt>
                <c:pt idx="46">
                  <c:v>5.4</c:v>
                </c:pt>
                <c:pt idx="47">
                  <c:v>5.4</c:v>
                </c:pt>
                <c:pt idx="48">
                  <c:v>5.4</c:v>
                </c:pt>
                <c:pt idx="49">
                  <c:v>5.5</c:v>
                </c:pt>
                <c:pt idx="50">
                  <c:v>5.5</c:v>
                </c:pt>
                <c:pt idx="51">
                  <c:v>5.5</c:v>
                </c:pt>
                <c:pt idx="52">
                  <c:v>5.5</c:v>
                </c:pt>
                <c:pt idx="53">
                  <c:v>5.6</c:v>
                </c:pt>
                <c:pt idx="54">
                  <c:v>5.6</c:v>
                </c:pt>
                <c:pt idx="55">
                  <c:v>5.8</c:v>
                </c:pt>
                <c:pt idx="56">
                  <c:v>5.8</c:v>
                </c:pt>
                <c:pt idx="57">
                  <c:v>5.9</c:v>
                </c:pt>
                <c:pt idx="58">
                  <c:v>5.9</c:v>
                </c:pt>
                <c:pt idx="59">
                  <c:v>5.9</c:v>
                </c:pt>
                <c:pt idx="60">
                  <c:v>6</c:v>
                </c:pt>
                <c:pt idx="61">
                  <c:v>6.1</c:v>
                </c:pt>
                <c:pt idx="62">
                  <c:v>6.2</c:v>
                </c:pt>
                <c:pt idx="63">
                  <c:v>6.2</c:v>
                </c:pt>
                <c:pt idx="64">
                  <c:v>6.3</c:v>
                </c:pt>
                <c:pt idx="65">
                  <c:v>6.4</c:v>
                </c:pt>
                <c:pt idx="66">
                  <c:v>6.6</c:v>
                </c:pt>
                <c:pt idx="67">
                  <c:v>6.6</c:v>
                </c:pt>
                <c:pt idx="68">
                  <c:v>6.7</c:v>
                </c:pt>
                <c:pt idx="69">
                  <c:v>6.7</c:v>
                </c:pt>
                <c:pt idx="70">
                  <c:v>6.8</c:v>
                </c:pt>
                <c:pt idx="71">
                  <c:v>6.8</c:v>
                </c:pt>
                <c:pt idx="72">
                  <c:v>6.8</c:v>
                </c:pt>
                <c:pt idx="73">
                  <c:v>6.8</c:v>
                </c:pt>
                <c:pt idx="74">
                  <c:v>6.8</c:v>
                </c:pt>
                <c:pt idx="75">
                  <c:v>6.9</c:v>
                </c:pt>
                <c:pt idx="76">
                  <c:v>6.9</c:v>
                </c:pt>
                <c:pt idx="77">
                  <c:v>6.9</c:v>
                </c:pt>
                <c:pt idx="78">
                  <c:v>6.9</c:v>
                </c:pt>
                <c:pt idx="79">
                  <c:v>7</c:v>
                </c:pt>
                <c:pt idx="80">
                  <c:v>7</c:v>
                </c:pt>
                <c:pt idx="81">
                  <c:v>7.1</c:v>
                </c:pt>
                <c:pt idx="82">
                  <c:v>7.1</c:v>
                </c:pt>
                <c:pt idx="83">
                  <c:v>7.2</c:v>
                </c:pt>
                <c:pt idx="84">
                  <c:v>7.2</c:v>
                </c:pt>
                <c:pt idx="85">
                  <c:v>7.2</c:v>
                </c:pt>
                <c:pt idx="86">
                  <c:v>7.2</c:v>
                </c:pt>
                <c:pt idx="87">
                  <c:v>7.4</c:v>
                </c:pt>
                <c:pt idx="88">
                  <c:v>7.4</c:v>
                </c:pt>
                <c:pt idx="89">
                  <c:v>7.5</c:v>
                </c:pt>
                <c:pt idx="90">
                  <c:v>7.6</c:v>
                </c:pt>
                <c:pt idx="91">
                  <c:v>7.6</c:v>
                </c:pt>
                <c:pt idx="92">
                  <c:v>7.7</c:v>
                </c:pt>
                <c:pt idx="93">
                  <c:v>7.8</c:v>
                </c:pt>
                <c:pt idx="94">
                  <c:v>7.8</c:v>
                </c:pt>
                <c:pt idx="95">
                  <c:v>7.9</c:v>
                </c:pt>
                <c:pt idx="96">
                  <c:v>7.9</c:v>
                </c:pt>
                <c:pt idx="97">
                  <c:v>8</c:v>
                </c:pt>
                <c:pt idx="98">
                  <c:v>8</c:v>
                </c:pt>
                <c:pt idx="99">
                  <c:v>8.1</c:v>
                </c:pt>
                <c:pt idx="100">
                  <c:v>8.2</c:v>
                </c:pt>
                <c:pt idx="101">
                  <c:v>8.3</c:v>
                </c:pt>
                <c:pt idx="102">
                  <c:v>8.4</c:v>
                </c:pt>
                <c:pt idx="103">
                  <c:v>8.4</c:v>
                </c:pt>
                <c:pt idx="104">
                  <c:v>8.5</c:v>
                </c:pt>
                <c:pt idx="105">
                  <c:v>8.5</c:v>
                </c:pt>
                <c:pt idx="106">
                  <c:v>8.5</c:v>
                </c:pt>
                <c:pt idx="107">
                  <c:v>8.6</c:v>
                </c:pt>
                <c:pt idx="108">
                  <c:v>8.9</c:v>
                </c:pt>
                <c:pt idx="109">
                  <c:v>8.9</c:v>
                </c:pt>
                <c:pt idx="110">
                  <c:v>8.9</c:v>
                </c:pt>
                <c:pt idx="111">
                  <c:v>8.9</c:v>
                </c:pt>
                <c:pt idx="112">
                  <c:v>9</c:v>
                </c:pt>
                <c:pt idx="113">
                  <c:v>9.1</c:v>
                </c:pt>
                <c:pt idx="114">
                  <c:v>9.2</c:v>
                </c:pt>
                <c:pt idx="115">
                  <c:v>9.3</c:v>
                </c:pt>
                <c:pt idx="116">
                  <c:v>9.3</c:v>
                </c:pt>
                <c:pt idx="117">
                  <c:v>9.3</c:v>
                </c:pt>
                <c:pt idx="118">
                  <c:v>9.4</c:v>
                </c:pt>
                <c:pt idx="119">
                  <c:v>9.4</c:v>
                </c:pt>
                <c:pt idx="120">
                  <c:v>9.5</c:v>
                </c:pt>
                <c:pt idx="121">
                  <c:v>9.6</c:v>
                </c:pt>
                <c:pt idx="122">
                  <c:v>9.6</c:v>
                </c:pt>
                <c:pt idx="123">
                  <c:v>9.8</c:v>
                </c:pt>
                <c:pt idx="124">
                  <c:v>9.9</c:v>
                </c:pt>
                <c:pt idx="125">
                  <c:v>9.9</c:v>
                </c:pt>
                <c:pt idx="126">
                  <c:v>10.1</c:v>
                </c:pt>
                <c:pt idx="127">
                  <c:v>10.2</c:v>
                </c:pt>
                <c:pt idx="128">
                  <c:v>10.2</c:v>
                </c:pt>
                <c:pt idx="129">
                  <c:v>10.2</c:v>
                </c:pt>
                <c:pt idx="130">
                  <c:v>10.3</c:v>
                </c:pt>
                <c:pt idx="131">
                  <c:v>10.4</c:v>
                </c:pt>
                <c:pt idx="132">
                  <c:v>10.4</c:v>
                </c:pt>
                <c:pt idx="133">
                  <c:v>10.6</c:v>
                </c:pt>
                <c:pt idx="134">
                  <c:v>10.8</c:v>
                </c:pt>
                <c:pt idx="135">
                  <c:v>10.9</c:v>
                </c:pt>
                <c:pt idx="136">
                  <c:v>11</c:v>
                </c:pt>
                <c:pt idx="137">
                  <c:v>11.1</c:v>
                </c:pt>
                <c:pt idx="138">
                  <c:v>11.5</c:v>
                </c:pt>
                <c:pt idx="139">
                  <c:v>11.7</c:v>
                </c:pt>
                <c:pt idx="140">
                  <c:v>12.1</c:v>
                </c:pt>
                <c:pt idx="141">
                  <c:v>12.2</c:v>
                </c:pt>
                <c:pt idx="142">
                  <c:v>12.4</c:v>
                </c:pt>
                <c:pt idx="143">
                  <c:v>12.5</c:v>
                </c:pt>
                <c:pt idx="144">
                  <c:v>12.8</c:v>
                </c:pt>
                <c:pt idx="145">
                  <c:v>13</c:v>
                </c:pt>
                <c:pt idx="146">
                  <c:v>13.7</c:v>
                </c:pt>
                <c:pt idx="147">
                  <c:v>14.1</c:v>
                </c:pt>
                <c:pt idx="148">
                  <c:v>14.9</c:v>
                </c:pt>
                <c:pt idx="149">
                  <c:v>15</c:v>
                </c:pt>
              </c:numCache>
            </c:numRef>
          </c:xVal>
          <c:yVal>
            <c:numRef>
              <c:f>Sheet1!$B$2:$B$151</c:f>
              <c:numCache>
                <c:formatCode>General</c:formatCode>
                <c:ptCount val="150"/>
                <c:pt idx="0">
                  <c:v>1.6</c:v>
                </c:pt>
                <c:pt idx="1">
                  <c:v>1.9</c:v>
                </c:pt>
                <c:pt idx="2">
                  <c:v>2.4</c:v>
                </c:pt>
                <c:pt idx="3">
                  <c:v>1.6</c:v>
                </c:pt>
                <c:pt idx="4">
                  <c:v>3.2</c:v>
                </c:pt>
                <c:pt idx="5">
                  <c:v>3.1</c:v>
                </c:pt>
                <c:pt idx="6">
                  <c:v>4.2</c:v>
                </c:pt>
                <c:pt idx="7">
                  <c:v>4.6</c:v>
                </c:pt>
                <c:pt idx="8">
                  <c:v>3.6</c:v>
                </c:pt>
                <c:pt idx="9">
                  <c:v>3.4</c:v>
                </c:pt>
                <c:pt idx="10">
                  <c:v>2</c:v>
                </c:pt>
                <c:pt idx="11">
                  <c:v>4.5</c:v>
                </c:pt>
                <c:pt idx="12">
                  <c:v>4.6</c:v>
                </c:pt>
                <c:pt idx="13">
                  <c:v>4.1</c:v>
                </c:pt>
                <c:pt idx="14">
                  <c:v>4</c:v>
                </c:pt>
                <c:pt idx="15">
                  <c:v>4.8</c:v>
                </c:pt>
                <c:pt idx="16">
                  <c:v>6.1</c:v>
                </c:pt>
                <c:pt idx="17">
                  <c:v>5</c:v>
                </c:pt>
                <c:pt idx="18">
                  <c:v>5.3</c:v>
                </c:pt>
                <c:pt idx="19">
                  <c:v>4.4</c:v>
                </c:pt>
                <c:pt idx="20">
                  <c:v>3.9</c:v>
                </c:pt>
                <c:pt idx="21">
                  <c:v>4.8</c:v>
                </c:pt>
                <c:pt idx="22">
                  <c:v>2.6</c:v>
                </c:pt>
                <c:pt idx="23">
                  <c:v>5.3</c:v>
                </c:pt>
                <c:pt idx="24">
                  <c:v>4.4</c:v>
                </c:pt>
                <c:pt idx="25">
                  <c:v>3.5</c:v>
                </c:pt>
                <c:pt idx="26">
                  <c:v>2.3</c:v>
                </c:pt>
                <c:pt idx="27">
                  <c:v>4.7</c:v>
                </c:pt>
                <c:pt idx="28">
                  <c:v>5.2</c:v>
                </c:pt>
                <c:pt idx="29">
                  <c:v>4.9</c:v>
                </c:pt>
                <c:pt idx="30">
                  <c:v>5.4</c:v>
                </c:pt>
                <c:pt idx="31">
                  <c:v>5.8</c:v>
                </c:pt>
                <c:pt idx="32">
                  <c:v>3.6</c:v>
                </c:pt>
                <c:pt idx="33">
                  <c:v>4.6</c:v>
                </c:pt>
                <c:pt idx="34">
                  <c:v>4.5</c:v>
                </c:pt>
                <c:pt idx="35">
                  <c:v>4.8</c:v>
                </c:pt>
                <c:pt idx="36">
                  <c:v>4.5</c:v>
                </c:pt>
                <c:pt idx="37">
                  <c:v>4.8</c:v>
                </c:pt>
                <c:pt idx="38">
                  <c:v>5.7</c:v>
                </c:pt>
                <c:pt idx="39">
                  <c:v>4.7</c:v>
                </c:pt>
                <c:pt idx="40">
                  <c:v>4.9</c:v>
                </c:pt>
                <c:pt idx="41">
                  <c:v>5.9</c:v>
                </c:pt>
                <c:pt idx="42">
                  <c:v>5.7</c:v>
                </c:pt>
                <c:pt idx="43">
                  <c:v>3.4</c:v>
                </c:pt>
                <c:pt idx="44">
                  <c:v>4.3</c:v>
                </c:pt>
                <c:pt idx="45">
                  <c:v>5.6</c:v>
                </c:pt>
                <c:pt idx="46">
                  <c:v>3.8</c:v>
                </c:pt>
                <c:pt idx="47">
                  <c:v>4.2</c:v>
                </c:pt>
                <c:pt idx="48">
                  <c:v>3.5</c:v>
                </c:pt>
                <c:pt idx="49">
                  <c:v>5.4</c:v>
                </c:pt>
                <c:pt idx="50">
                  <c:v>4.8</c:v>
                </c:pt>
                <c:pt idx="51">
                  <c:v>4.4</c:v>
                </c:pt>
                <c:pt idx="52">
                  <c:v>3.5</c:v>
                </c:pt>
                <c:pt idx="53">
                  <c:v>6.3</c:v>
                </c:pt>
                <c:pt idx="54">
                  <c:v>4.1</c:v>
                </c:pt>
                <c:pt idx="55">
                  <c:v>5.5</c:v>
                </c:pt>
                <c:pt idx="56">
                  <c:v>4.4</c:v>
                </c:pt>
                <c:pt idx="57">
                  <c:v>3.6</c:v>
                </c:pt>
                <c:pt idx="58">
                  <c:v>6.2</c:v>
                </c:pt>
                <c:pt idx="59">
                  <c:v>5.9</c:v>
                </c:pt>
                <c:pt idx="60">
                  <c:v>4.5</c:v>
                </c:pt>
                <c:pt idx="61">
                  <c:v>6</c:v>
                </c:pt>
                <c:pt idx="62">
                  <c:v>3.9</c:v>
                </c:pt>
                <c:pt idx="63">
                  <c:v>5.5</c:v>
                </c:pt>
                <c:pt idx="64">
                  <c:v>3.7</c:v>
                </c:pt>
                <c:pt idx="65">
                  <c:v>6.9</c:v>
                </c:pt>
                <c:pt idx="66">
                  <c:v>5.5</c:v>
                </c:pt>
                <c:pt idx="67">
                  <c:v>4.4</c:v>
                </c:pt>
                <c:pt idx="68">
                  <c:v>5</c:v>
                </c:pt>
                <c:pt idx="69">
                  <c:v>5.3</c:v>
                </c:pt>
                <c:pt idx="70">
                  <c:v>6.1</c:v>
                </c:pt>
                <c:pt idx="71">
                  <c:v>4.8</c:v>
                </c:pt>
                <c:pt idx="72">
                  <c:v>4.8</c:v>
                </c:pt>
                <c:pt idx="73">
                  <c:v>5.4</c:v>
                </c:pt>
                <c:pt idx="74">
                  <c:v>4.1</c:v>
                </c:pt>
                <c:pt idx="75">
                  <c:v>7</c:v>
                </c:pt>
                <c:pt idx="76">
                  <c:v>4.3</c:v>
                </c:pt>
                <c:pt idx="77">
                  <c:v>5.5</c:v>
                </c:pt>
                <c:pt idx="78">
                  <c:v>6.2</c:v>
                </c:pt>
                <c:pt idx="79">
                  <c:v>6.5</c:v>
                </c:pt>
                <c:pt idx="80">
                  <c:v>6.1</c:v>
                </c:pt>
                <c:pt idx="81">
                  <c:v>6</c:v>
                </c:pt>
                <c:pt idx="82">
                  <c:v>4.5</c:v>
                </c:pt>
                <c:pt idx="83">
                  <c:v>6.4</c:v>
                </c:pt>
                <c:pt idx="84">
                  <c:v>5.8</c:v>
                </c:pt>
                <c:pt idx="85">
                  <c:v>7.4</c:v>
                </c:pt>
                <c:pt idx="86">
                  <c:v>5</c:v>
                </c:pt>
                <c:pt idx="87">
                  <c:v>5</c:v>
                </c:pt>
                <c:pt idx="88">
                  <c:v>5.8</c:v>
                </c:pt>
                <c:pt idx="89">
                  <c:v>5.2</c:v>
                </c:pt>
                <c:pt idx="90">
                  <c:v>5.4</c:v>
                </c:pt>
                <c:pt idx="91">
                  <c:v>6.2</c:v>
                </c:pt>
                <c:pt idx="92">
                  <c:v>4.6</c:v>
                </c:pt>
                <c:pt idx="93">
                  <c:v>6.7</c:v>
                </c:pt>
                <c:pt idx="94">
                  <c:v>6.3</c:v>
                </c:pt>
                <c:pt idx="95">
                  <c:v>5.8</c:v>
                </c:pt>
                <c:pt idx="96">
                  <c:v>6.6</c:v>
                </c:pt>
                <c:pt idx="97">
                  <c:v>5.6</c:v>
                </c:pt>
                <c:pt idx="98">
                  <c:v>7.7</c:v>
                </c:pt>
                <c:pt idx="99">
                  <c:v>5</c:v>
                </c:pt>
                <c:pt idx="100">
                  <c:v>5.1</c:v>
                </c:pt>
                <c:pt idx="101">
                  <c:v>6.3</c:v>
                </c:pt>
                <c:pt idx="102">
                  <c:v>7.1</c:v>
                </c:pt>
                <c:pt idx="103">
                  <c:v>5.7</c:v>
                </c:pt>
                <c:pt idx="104">
                  <c:v>5.1</c:v>
                </c:pt>
                <c:pt idx="105">
                  <c:v>4.7</c:v>
                </c:pt>
                <c:pt idx="106">
                  <c:v>5.4</c:v>
                </c:pt>
                <c:pt idx="107">
                  <c:v>5.9</c:v>
                </c:pt>
                <c:pt idx="108">
                  <c:v>3.8</c:v>
                </c:pt>
                <c:pt idx="109">
                  <c:v>8.1</c:v>
                </c:pt>
                <c:pt idx="110">
                  <c:v>6.5</c:v>
                </c:pt>
                <c:pt idx="111">
                  <c:v>6.1</c:v>
                </c:pt>
                <c:pt idx="112">
                  <c:v>7</c:v>
                </c:pt>
                <c:pt idx="113">
                  <c:v>5.4</c:v>
                </c:pt>
                <c:pt idx="114">
                  <c:v>6.4</c:v>
                </c:pt>
                <c:pt idx="115">
                  <c:v>7.6</c:v>
                </c:pt>
                <c:pt idx="116">
                  <c:v>5.8</c:v>
                </c:pt>
                <c:pt idx="117">
                  <c:v>6.3</c:v>
                </c:pt>
                <c:pt idx="118">
                  <c:v>7.5</c:v>
                </c:pt>
                <c:pt idx="119">
                  <c:v>6.5</c:v>
                </c:pt>
                <c:pt idx="120">
                  <c:v>7.5</c:v>
                </c:pt>
                <c:pt idx="121">
                  <c:v>7.5</c:v>
                </c:pt>
                <c:pt idx="122">
                  <c:v>5.4</c:v>
                </c:pt>
                <c:pt idx="123">
                  <c:v>5.7</c:v>
                </c:pt>
                <c:pt idx="124">
                  <c:v>5.4</c:v>
                </c:pt>
                <c:pt idx="125">
                  <c:v>7.4</c:v>
                </c:pt>
                <c:pt idx="126">
                  <c:v>7.1</c:v>
                </c:pt>
                <c:pt idx="127">
                  <c:v>7.5</c:v>
                </c:pt>
                <c:pt idx="128">
                  <c:v>6.5</c:v>
                </c:pt>
                <c:pt idx="129">
                  <c:v>5.8</c:v>
                </c:pt>
                <c:pt idx="130">
                  <c:v>7</c:v>
                </c:pt>
                <c:pt idx="131">
                  <c:v>6.3</c:v>
                </c:pt>
                <c:pt idx="132">
                  <c:v>7.4</c:v>
                </c:pt>
                <c:pt idx="133">
                  <c:v>5.2</c:v>
                </c:pt>
                <c:pt idx="134">
                  <c:v>7.6</c:v>
                </c:pt>
                <c:pt idx="135">
                  <c:v>6.9</c:v>
                </c:pt>
                <c:pt idx="136">
                  <c:v>7.8</c:v>
                </c:pt>
                <c:pt idx="137">
                  <c:v>7.9</c:v>
                </c:pt>
                <c:pt idx="138">
                  <c:v>7.8</c:v>
                </c:pt>
                <c:pt idx="139">
                  <c:v>6.5</c:v>
                </c:pt>
                <c:pt idx="140">
                  <c:v>6.4</c:v>
                </c:pt>
                <c:pt idx="141">
                  <c:v>7.9</c:v>
                </c:pt>
                <c:pt idx="142">
                  <c:v>8.6</c:v>
                </c:pt>
                <c:pt idx="143">
                  <c:v>7.7</c:v>
                </c:pt>
                <c:pt idx="144">
                  <c:v>8.5</c:v>
                </c:pt>
                <c:pt idx="145">
                  <c:v>8.1</c:v>
                </c:pt>
                <c:pt idx="146">
                  <c:v>6.3</c:v>
                </c:pt>
                <c:pt idx="147">
                  <c:v>8.5</c:v>
                </c:pt>
                <c:pt idx="148">
                  <c:v>8.3</c:v>
                </c:pt>
                <c:pt idx="149">
                  <c:v>10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6"/>
          <c:min val="0"/>
        </c:scaling>
        <c:delete val="0"/>
        <c:axPos val="b"/>
        <c:title>
          <c:tx>
            <c:rich>
              <a:bodyPr/>
              <a:lstStyle/>
              <a:p>
                <a:pPr>
                  <a:defRPr sz="1100" b="0" i="0" u="none" strike="noStrike">
                    <a:solidFill>
                      <a:srgbClr val="1B2430"/>
                    </a:solidFill>
                    <a:latin typeface="+mn-lt"/>
                  </a:defRPr>
                </a:pPr>
                <a:r>
                  <a:rPr sz="1100" b="0" i="0" u="none" strike="noStrike">
                    <a:solidFill>
                      <a:srgbClr val="1B2430"/>
                    </a:solidFill>
                    <a:latin typeface="+mn-lt"/>
                  </a:rPr>
                  <a:t>horas_estudio</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6B7A88"/>
                </a:solidFill>
                <a:latin typeface="+mn-lt"/>
              </a:defRPr>
            </a:pPr>
            <a:endParaRPr lang="en-US"/>
          </a:p>
        </c:txPr>
        <c:crossAx val="2094734552"/>
        <c:crosses val="autoZero"/>
        <c:auto val="1"/>
        <c:lblAlgn val="ctr"/>
        <c:noMultiLvlLbl val="1"/>
      </c:valAx>
      <c:valAx>
        <c:axId val="2094734552"/>
        <c:scaling>
          <c:orientation val="minMax"/>
          <c:max val="10"/>
          <c:min val="0"/>
        </c:scaling>
        <c:delete val="0"/>
        <c:axPos val="l"/>
        <c:majorGridlines>
          <c:spPr>
            <a:ln w="6350" cap="flat">
              <a:solidFill>
                <a:srgbClr val="E3E8EC"/>
              </a:solidFill>
              <a:prstDash val="solid"/>
              <a:round/>
            </a:ln>
          </c:spPr>
        </c:majorGridlines>
        <c:title>
          <c:tx>
            <c:rich>
              <a:bodyPr/>
              <a:lstStyle/>
              <a:p>
                <a:pPr>
                  <a:defRPr sz="1100" b="0" i="0" u="none" strike="noStrike">
                    <a:solidFill>
                      <a:srgbClr val="1B2430"/>
                    </a:solidFill>
                    <a:latin typeface="+mn-lt"/>
                  </a:defRPr>
                </a:pPr>
                <a:r>
                  <a:rPr sz="1100" b="0" i="0" u="none" strike="noStrike">
                    <a:solidFill>
                      <a:srgbClr val="1B2430"/>
                    </a:solidFill>
                    <a:latin typeface="+mn-lt"/>
                  </a:rPr>
                  <a:t>nota_final</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6B7A88"/>
                </a:solidFill>
                <a:latin typeface="+mn-lt"/>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F2A3D"/>
                </a:solidFill>
                <a:latin typeface="+mn-lt"/>
              </a:defRPr>
            </a:pPr>
            <a:r>
              <a:rPr sz="1200" b="0" i="0" u="none" strike="noStrike">
                <a:solidFill>
                  <a:srgbClr val="0F2A3D"/>
                </a:solidFill>
                <a:latin typeface="+mn-lt"/>
              </a:rPr>
              <a:t>horas_sueno vs nota_final · r = −0,07</a:t>
            </a:r>
          </a:p>
        </c:rich>
      </c:tx>
      <c:layout/>
      <c:overlay val="0"/>
    </c:title>
    <c:autoTitleDeleted val="0"/>
    <c:plotArea>
      <c:layout/>
      <c:scatterChart>
        <c:scatterStyle val="lineMarker"/>
        <c:varyColors val="0"/>
        <c:ser>
          <c:idx val="0"/>
          <c:order val="0"/>
          <c:tx>
            <c:strRef>
              <c:f>Sheet1!$B$1</c:f>
              <c:strCache>
                <c:ptCount val="1"/>
                <c:pt idx="0">
                  <c:v>Estudiantes</c:v>
                </c:pt>
              </c:strCache>
            </c:strRef>
          </c:tx>
          <c:spPr>
            <a:solidFill>
              <a:srgbClr val="6B7A88"/>
            </a:solidFill>
            <a:ln>
              <a:noFill/>
            </a:ln>
            <a:effectLst/>
          </c:spPr>
          <c:marker>
            <c:symbol val="circle"/>
            <c:size val="5"/>
            <c:spPr>
              <a:solidFill>
                <a:srgbClr val="6B7A88"/>
              </a:solidFill>
              <a:ln w="9525" cap="flat">
                <a:solidFill>
                  <a:srgbClr val="6B7A88"/>
                </a:solidFill>
                <a:prstDash val="solid"/>
                <a:round/>
              </a:ln>
              <a:effectLst/>
            </c:spPr>
          </c:marker>
          <c:xVal>
            <c:numRef>
              <c:f>Sheet1!$A$2:$A$147</c:f>
              <c:numCache>
                <c:formatCode>General</c:formatCode>
                <c:ptCount val="146"/>
                <c:pt idx="0">
                  <c:v>6.4</c:v>
                </c:pt>
                <c:pt idx="1">
                  <c:v>7.7</c:v>
                </c:pt>
                <c:pt idx="2">
                  <c:v>8</c:v>
                </c:pt>
                <c:pt idx="3">
                  <c:v>7.3</c:v>
                </c:pt>
                <c:pt idx="4">
                  <c:v>8.3</c:v>
                </c:pt>
                <c:pt idx="5">
                  <c:v>6.1</c:v>
                </c:pt>
                <c:pt idx="6">
                  <c:v>8.2</c:v>
                </c:pt>
                <c:pt idx="7">
                  <c:v>7.2</c:v>
                </c:pt>
                <c:pt idx="8">
                  <c:v>7.6</c:v>
                </c:pt>
                <c:pt idx="9">
                  <c:v>4.5</c:v>
                </c:pt>
                <c:pt idx="10">
                  <c:v>7.8</c:v>
                </c:pt>
                <c:pt idx="11">
                  <c:v>7.2</c:v>
                </c:pt>
                <c:pt idx="12">
                  <c:v>8.7</c:v>
                </c:pt>
                <c:pt idx="13">
                  <c:v>7.2</c:v>
                </c:pt>
                <c:pt idx="14">
                  <c:v>6.1</c:v>
                </c:pt>
                <c:pt idx="15">
                  <c:v>6.3</c:v>
                </c:pt>
                <c:pt idx="16">
                  <c:v>7.4</c:v>
                </c:pt>
                <c:pt idx="17">
                  <c:v>7.3</c:v>
                </c:pt>
                <c:pt idx="18">
                  <c:v>6.4</c:v>
                </c:pt>
                <c:pt idx="19">
                  <c:v>6</c:v>
                </c:pt>
                <c:pt idx="20">
                  <c:v>8.4</c:v>
                </c:pt>
                <c:pt idx="21">
                  <c:v>6.8</c:v>
                </c:pt>
                <c:pt idx="22">
                  <c:v>6.5</c:v>
                </c:pt>
                <c:pt idx="23">
                  <c:v>8.3</c:v>
                </c:pt>
                <c:pt idx="24">
                  <c:v>8</c:v>
                </c:pt>
                <c:pt idx="25">
                  <c:v>6.1</c:v>
                </c:pt>
                <c:pt idx="26">
                  <c:v>6.9</c:v>
                </c:pt>
                <c:pt idx="27">
                  <c:v>8.7</c:v>
                </c:pt>
                <c:pt idx="28">
                  <c:v>7.4</c:v>
                </c:pt>
                <c:pt idx="29">
                  <c:v>6.7</c:v>
                </c:pt>
                <c:pt idx="30">
                  <c:v>6.7</c:v>
                </c:pt>
                <c:pt idx="31">
                  <c:v>7.5</c:v>
                </c:pt>
                <c:pt idx="32">
                  <c:v>6.8</c:v>
                </c:pt>
                <c:pt idx="33">
                  <c:v>8.4</c:v>
                </c:pt>
                <c:pt idx="34">
                  <c:v>6.2</c:v>
                </c:pt>
                <c:pt idx="35">
                  <c:v>5.9</c:v>
                </c:pt>
                <c:pt idx="36">
                  <c:v>8.3</c:v>
                </c:pt>
                <c:pt idx="37">
                  <c:v>6.6</c:v>
                </c:pt>
                <c:pt idx="38">
                  <c:v>8.3</c:v>
                </c:pt>
                <c:pt idx="39">
                  <c:v>7.8</c:v>
                </c:pt>
                <c:pt idx="40">
                  <c:v>5.8</c:v>
                </c:pt>
                <c:pt idx="41">
                  <c:v>6.5</c:v>
                </c:pt>
                <c:pt idx="42">
                  <c:v>7</c:v>
                </c:pt>
                <c:pt idx="43">
                  <c:v>6.8</c:v>
                </c:pt>
                <c:pt idx="44">
                  <c:v>7.3</c:v>
                </c:pt>
                <c:pt idx="45">
                  <c:v>6.4</c:v>
                </c:pt>
                <c:pt idx="46">
                  <c:v>6.9</c:v>
                </c:pt>
                <c:pt idx="47">
                  <c:v>7.9</c:v>
                </c:pt>
                <c:pt idx="48">
                  <c:v>8.2</c:v>
                </c:pt>
                <c:pt idx="49">
                  <c:v>6.3</c:v>
                </c:pt>
                <c:pt idx="50">
                  <c:v>6.8</c:v>
                </c:pt>
                <c:pt idx="51">
                  <c:v>6.9</c:v>
                </c:pt>
                <c:pt idx="52">
                  <c:v>5.8</c:v>
                </c:pt>
                <c:pt idx="53">
                  <c:v>7.8</c:v>
                </c:pt>
                <c:pt idx="54">
                  <c:v>7.5</c:v>
                </c:pt>
                <c:pt idx="55">
                  <c:v>7.5</c:v>
                </c:pt>
                <c:pt idx="56">
                  <c:v>6.9</c:v>
                </c:pt>
                <c:pt idx="57">
                  <c:v>7.8</c:v>
                </c:pt>
                <c:pt idx="58">
                  <c:v>7.9</c:v>
                </c:pt>
                <c:pt idx="59">
                  <c:v>8</c:v>
                </c:pt>
                <c:pt idx="60">
                  <c:v>6.8</c:v>
                </c:pt>
                <c:pt idx="61">
                  <c:v>7.3</c:v>
                </c:pt>
                <c:pt idx="62">
                  <c:v>6.7</c:v>
                </c:pt>
                <c:pt idx="63">
                  <c:v>6.7</c:v>
                </c:pt>
                <c:pt idx="64">
                  <c:v>7.9</c:v>
                </c:pt>
                <c:pt idx="65">
                  <c:v>7</c:v>
                </c:pt>
                <c:pt idx="66">
                  <c:v>6.9</c:v>
                </c:pt>
                <c:pt idx="67">
                  <c:v>7.5</c:v>
                </c:pt>
                <c:pt idx="68">
                  <c:v>7.6</c:v>
                </c:pt>
                <c:pt idx="69">
                  <c:v>6.3</c:v>
                </c:pt>
                <c:pt idx="70">
                  <c:v>6.4</c:v>
                </c:pt>
                <c:pt idx="71">
                  <c:v>7.6</c:v>
                </c:pt>
                <c:pt idx="72">
                  <c:v>7.5</c:v>
                </c:pt>
                <c:pt idx="73">
                  <c:v>6.8</c:v>
                </c:pt>
                <c:pt idx="74">
                  <c:v>8.1</c:v>
                </c:pt>
                <c:pt idx="75">
                  <c:v>6.9</c:v>
                </c:pt>
                <c:pt idx="76">
                  <c:v>5.3</c:v>
                </c:pt>
                <c:pt idx="77">
                  <c:v>6.3</c:v>
                </c:pt>
                <c:pt idx="78">
                  <c:v>5.7</c:v>
                </c:pt>
                <c:pt idx="79">
                  <c:v>8</c:v>
                </c:pt>
                <c:pt idx="80">
                  <c:v>7.5</c:v>
                </c:pt>
                <c:pt idx="81">
                  <c:v>7.1</c:v>
                </c:pt>
                <c:pt idx="82">
                  <c:v>4.9</c:v>
                </c:pt>
                <c:pt idx="83">
                  <c:v>5.7</c:v>
                </c:pt>
                <c:pt idx="84">
                  <c:v>6.9</c:v>
                </c:pt>
                <c:pt idx="85">
                  <c:v>5.4</c:v>
                </c:pt>
                <c:pt idx="86">
                  <c:v>7.8</c:v>
                </c:pt>
                <c:pt idx="87">
                  <c:v>6.9</c:v>
                </c:pt>
                <c:pt idx="88">
                  <c:v>6.9</c:v>
                </c:pt>
                <c:pt idx="89">
                  <c:v>6.9</c:v>
                </c:pt>
                <c:pt idx="90">
                  <c:v>6.1</c:v>
                </c:pt>
                <c:pt idx="91">
                  <c:v>6.1</c:v>
                </c:pt>
                <c:pt idx="92">
                  <c:v>5.3</c:v>
                </c:pt>
                <c:pt idx="93">
                  <c:v>7</c:v>
                </c:pt>
                <c:pt idx="94">
                  <c:v>7.4</c:v>
                </c:pt>
                <c:pt idx="95">
                  <c:v>6.8</c:v>
                </c:pt>
                <c:pt idx="96">
                  <c:v>6.7</c:v>
                </c:pt>
                <c:pt idx="97">
                  <c:v>6.2</c:v>
                </c:pt>
                <c:pt idx="98">
                  <c:v>7.2</c:v>
                </c:pt>
                <c:pt idx="99">
                  <c:v>4.8</c:v>
                </c:pt>
                <c:pt idx="100">
                  <c:v>6</c:v>
                </c:pt>
                <c:pt idx="101">
                  <c:v>6.4</c:v>
                </c:pt>
                <c:pt idx="102">
                  <c:v>6.5</c:v>
                </c:pt>
                <c:pt idx="103">
                  <c:v>7.2</c:v>
                </c:pt>
                <c:pt idx="104">
                  <c:v>6.8</c:v>
                </c:pt>
                <c:pt idx="105">
                  <c:v>7.1</c:v>
                </c:pt>
                <c:pt idx="106">
                  <c:v>8.1</c:v>
                </c:pt>
                <c:pt idx="107">
                  <c:v>8.2</c:v>
                </c:pt>
                <c:pt idx="108">
                  <c:v>7.6</c:v>
                </c:pt>
                <c:pt idx="109">
                  <c:v>8.1</c:v>
                </c:pt>
                <c:pt idx="110">
                  <c:v>8.6</c:v>
                </c:pt>
                <c:pt idx="111">
                  <c:v>7.3</c:v>
                </c:pt>
                <c:pt idx="112">
                  <c:v>5.7</c:v>
                </c:pt>
                <c:pt idx="113">
                  <c:v>7.9</c:v>
                </c:pt>
                <c:pt idx="114">
                  <c:v>6.1</c:v>
                </c:pt>
                <c:pt idx="115">
                  <c:v>8.7</c:v>
                </c:pt>
                <c:pt idx="116">
                  <c:v>8.6</c:v>
                </c:pt>
                <c:pt idx="117">
                  <c:v>6.5</c:v>
                </c:pt>
                <c:pt idx="118">
                  <c:v>6</c:v>
                </c:pt>
                <c:pt idx="119">
                  <c:v>6.4</c:v>
                </c:pt>
                <c:pt idx="120">
                  <c:v>6.9</c:v>
                </c:pt>
                <c:pt idx="121">
                  <c:v>7.8</c:v>
                </c:pt>
                <c:pt idx="122">
                  <c:v>5.1</c:v>
                </c:pt>
                <c:pt idx="123">
                  <c:v>8.1</c:v>
                </c:pt>
                <c:pt idx="124">
                  <c:v>6.9</c:v>
                </c:pt>
                <c:pt idx="125">
                  <c:v>7.2</c:v>
                </c:pt>
                <c:pt idx="126">
                  <c:v>6.9</c:v>
                </c:pt>
                <c:pt idx="127">
                  <c:v>7.8</c:v>
                </c:pt>
                <c:pt idx="128">
                  <c:v>7.3</c:v>
                </c:pt>
                <c:pt idx="129">
                  <c:v>8.5</c:v>
                </c:pt>
                <c:pt idx="130">
                  <c:v>5.4</c:v>
                </c:pt>
                <c:pt idx="131">
                  <c:v>6.2</c:v>
                </c:pt>
                <c:pt idx="132">
                  <c:v>5.8</c:v>
                </c:pt>
                <c:pt idx="133">
                  <c:v>7.6</c:v>
                </c:pt>
                <c:pt idx="134">
                  <c:v>5.5</c:v>
                </c:pt>
                <c:pt idx="135">
                  <c:v>9.2</c:v>
                </c:pt>
                <c:pt idx="136">
                  <c:v>7.1</c:v>
                </c:pt>
                <c:pt idx="137">
                  <c:v>8.1</c:v>
                </c:pt>
                <c:pt idx="138">
                  <c:v>6.1</c:v>
                </c:pt>
                <c:pt idx="139">
                  <c:v>7.2</c:v>
                </c:pt>
                <c:pt idx="140">
                  <c:v>7.6</c:v>
                </c:pt>
                <c:pt idx="141">
                  <c:v>6.4</c:v>
                </c:pt>
                <c:pt idx="142">
                  <c:v>6.8</c:v>
                </c:pt>
                <c:pt idx="143">
                  <c:v>8.4</c:v>
                </c:pt>
                <c:pt idx="144">
                  <c:v>8.1</c:v>
                </c:pt>
                <c:pt idx="145">
                  <c:v>7.5</c:v>
                </c:pt>
              </c:numCache>
            </c:numRef>
          </c:xVal>
          <c:yVal>
            <c:numRef>
              <c:f>Sheet1!$B$2:$B$147</c:f>
              <c:numCache>
                <c:formatCode>General</c:formatCode>
                <c:ptCount val="146"/>
                <c:pt idx="0">
                  <c:v>10</c:v>
                </c:pt>
                <c:pt idx="1">
                  <c:v>5.4</c:v>
                </c:pt>
                <c:pt idx="2">
                  <c:v>6.2</c:v>
                </c:pt>
                <c:pt idx="3">
                  <c:v>3.5</c:v>
                </c:pt>
                <c:pt idx="4">
                  <c:v>7.4</c:v>
                </c:pt>
                <c:pt idx="5">
                  <c:v>3.6</c:v>
                </c:pt>
                <c:pt idx="6">
                  <c:v>7.1</c:v>
                </c:pt>
                <c:pt idx="7">
                  <c:v>4.9</c:v>
                </c:pt>
                <c:pt idx="8">
                  <c:v>6.3</c:v>
                </c:pt>
                <c:pt idx="9">
                  <c:v>5.7</c:v>
                </c:pt>
                <c:pt idx="10">
                  <c:v>6.7</c:v>
                </c:pt>
                <c:pt idx="11">
                  <c:v>4.3</c:v>
                </c:pt>
                <c:pt idx="12">
                  <c:v>4.5</c:v>
                </c:pt>
                <c:pt idx="13">
                  <c:v>8.5</c:v>
                </c:pt>
                <c:pt idx="14">
                  <c:v>7.6</c:v>
                </c:pt>
                <c:pt idx="15">
                  <c:v>5.5</c:v>
                </c:pt>
                <c:pt idx="16">
                  <c:v>7</c:v>
                </c:pt>
                <c:pt idx="17">
                  <c:v>2</c:v>
                </c:pt>
                <c:pt idx="18">
                  <c:v>5.8</c:v>
                </c:pt>
                <c:pt idx="19">
                  <c:v>7.8</c:v>
                </c:pt>
                <c:pt idx="20">
                  <c:v>5.4</c:v>
                </c:pt>
                <c:pt idx="21">
                  <c:v>5.7</c:v>
                </c:pt>
                <c:pt idx="22">
                  <c:v>4.6</c:v>
                </c:pt>
                <c:pt idx="23">
                  <c:v>4.7</c:v>
                </c:pt>
                <c:pt idx="24">
                  <c:v>4.5</c:v>
                </c:pt>
                <c:pt idx="25">
                  <c:v>4.7</c:v>
                </c:pt>
                <c:pt idx="26">
                  <c:v>5.1</c:v>
                </c:pt>
                <c:pt idx="27">
                  <c:v>5</c:v>
                </c:pt>
                <c:pt idx="28">
                  <c:v>5.8</c:v>
                </c:pt>
                <c:pt idx="29">
                  <c:v>5</c:v>
                </c:pt>
                <c:pt idx="30">
                  <c:v>4.5</c:v>
                </c:pt>
                <c:pt idx="31">
                  <c:v>5.8</c:v>
                </c:pt>
                <c:pt idx="32">
                  <c:v>4.8</c:v>
                </c:pt>
                <c:pt idx="33">
                  <c:v>5.4</c:v>
                </c:pt>
                <c:pt idx="34">
                  <c:v>3.9</c:v>
                </c:pt>
                <c:pt idx="35">
                  <c:v>5.5</c:v>
                </c:pt>
                <c:pt idx="36">
                  <c:v>7.7</c:v>
                </c:pt>
                <c:pt idx="37">
                  <c:v>6.1</c:v>
                </c:pt>
                <c:pt idx="38">
                  <c:v>4.4</c:v>
                </c:pt>
                <c:pt idx="39">
                  <c:v>4.8</c:v>
                </c:pt>
                <c:pt idx="40">
                  <c:v>5.4</c:v>
                </c:pt>
                <c:pt idx="41">
                  <c:v>4.2</c:v>
                </c:pt>
                <c:pt idx="42">
                  <c:v>4.4</c:v>
                </c:pt>
                <c:pt idx="43">
                  <c:v>6.4</c:v>
                </c:pt>
                <c:pt idx="44">
                  <c:v>4.8</c:v>
                </c:pt>
                <c:pt idx="45">
                  <c:v>5.2</c:v>
                </c:pt>
                <c:pt idx="46">
                  <c:v>5</c:v>
                </c:pt>
                <c:pt idx="47">
                  <c:v>4.8</c:v>
                </c:pt>
                <c:pt idx="48">
                  <c:v>3.4</c:v>
                </c:pt>
                <c:pt idx="49">
                  <c:v>5.5</c:v>
                </c:pt>
                <c:pt idx="50">
                  <c:v>4.6</c:v>
                </c:pt>
                <c:pt idx="51">
                  <c:v>5.8</c:v>
                </c:pt>
                <c:pt idx="52">
                  <c:v>4.7</c:v>
                </c:pt>
                <c:pt idx="53">
                  <c:v>1.6</c:v>
                </c:pt>
                <c:pt idx="54">
                  <c:v>3.5</c:v>
                </c:pt>
                <c:pt idx="55">
                  <c:v>4.4</c:v>
                </c:pt>
                <c:pt idx="56">
                  <c:v>5.3</c:v>
                </c:pt>
                <c:pt idx="57">
                  <c:v>6.3</c:v>
                </c:pt>
                <c:pt idx="58">
                  <c:v>4.1</c:v>
                </c:pt>
                <c:pt idx="59">
                  <c:v>4.1</c:v>
                </c:pt>
                <c:pt idx="60">
                  <c:v>5</c:v>
                </c:pt>
                <c:pt idx="61">
                  <c:v>3.4</c:v>
                </c:pt>
                <c:pt idx="62">
                  <c:v>1.6</c:v>
                </c:pt>
                <c:pt idx="63">
                  <c:v>5.2</c:v>
                </c:pt>
                <c:pt idx="64">
                  <c:v>4.4</c:v>
                </c:pt>
                <c:pt idx="65">
                  <c:v>6.5</c:v>
                </c:pt>
                <c:pt idx="66">
                  <c:v>7.4</c:v>
                </c:pt>
                <c:pt idx="67">
                  <c:v>5.4</c:v>
                </c:pt>
                <c:pt idx="68">
                  <c:v>7.1</c:v>
                </c:pt>
                <c:pt idx="69">
                  <c:v>8.5</c:v>
                </c:pt>
                <c:pt idx="70">
                  <c:v>3.8</c:v>
                </c:pt>
                <c:pt idx="71">
                  <c:v>5.6</c:v>
                </c:pt>
                <c:pt idx="72">
                  <c:v>5.7</c:v>
                </c:pt>
                <c:pt idx="73">
                  <c:v>4.3</c:v>
                </c:pt>
                <c:pt idx="74">
                  <c:v>8.1</c:v>
                </c:pt>
                <c:pt idx="75">
                  <c:v>5.8</c:v>
                </c:pt>
                <c:pt idx="76">
                  <c:v>6.3</c:v>
                </c:pt>
                <c:pt idx="77">
                  <c:v>6.3</c:v>
                </c:pt>
                <c:pt idx="78">
                  <c:v>7.5</c:v>
                </c:pt>
                <c:pt idx="79">
                  <c:v>4.4</c:v>
                </c:pt>
                <c:pt idx="80">
                  <c:v>2.6</c:v>
                </c:pt>
                <c:pt idx="81">
                  <c:v>6.1</c:v>
                </c:pt>
                <c:pt idx="82">
                  <c:v>5.2</c:v>
                </c:pt>
                <c:pt idx="83">
                  <c:v>3.6</c:v>
                </c:pt>
                <c:pt idx="84">
                  <c:v>4.8</c:v>
                </c:pt>
                <c:pt idx="85">
                  <c:v>5.7</c:v>
                </c:pt>
                <c:pt idx="86">
                  <c:v>5.9</c:v>
                </c:pt>
                <c:pt idx="87">
                  <c:v>8.6</c:v>
                </c:pt>
                <c:pt idx="88">
                  <c:v>7.5</c:v>
                </c:pt>
                <c:pt idx="89">
                  <c:v>5.6</c:v>
                </c:pt>
                <c:pt idx="90">
                  <c:v>4.6</c:v>
                </c:pt>
                <c:pt idx="91">
                  <c:v>6.4</c:v>
                </c:pt>
                <c:pt idx="92">
                  <c:v>6.5</c:v>
                </c:pt>
                <c:pt idx="93">
                  <c:v>5.1</c:v>
                </c:pt>
                <c:pt idx="94">
                  <c:v>7.7</c:v>
                </c:pt>
                <c:pt idx="95">
                  <c:v>2.3</c:v>
                </c:pt>
                <c:pt idx="96">
                  <c:v>2.4</c:v>
                </c:pt>
                <c:pt idx="97">
                  <c:v>4.8</c:v>
                </c:pt>
                <c:pt idx="98">
                  <c:v>3.6</c:v>
                </c:pt>
                <c:pt idx="99">
                  <c:v>4.5</c:v>
                </c:pt>
                <c:pt idx="100">
                  <c:v>3.9</c:v>
                </c:pt>
                <c:pt idx="101">
                  <c:v>6.9</c:v>
                </c:pt>
                <c:pt idx="102">
                  <c:v>5.4</c:v>
                </c:pt>
                <c:pt idx="103">
                  <c:v>7</c:v>
                </c:pt>
                <c:pt idx="104">
                  <c:v>6.5</c:v>
                </c:pt>
                <c:pt idx="105">
                  <c:v>1.9</c:v>
                </c:pt>
                <c:pt idx="106">
                  <c:v>4.2</c:v>
                </c:pt>
                <c:pt idx="107">
                  <c:v>7.9</c:v>
                </c:pt>
                <c:pt idx="108">
                  <c:v>7.6</c:v>
                </c:pt>
                <c:pt idx="109">
                  <c:v>7.5</c:v>
                </c:pt>
                <c:pt idx="110">
                  <c:v>6.4</c:v>
                </c:pt>
                <c:pt idx="111">
                  <c:v>4.1</c:v>
                </c:pt>
                <c:pt idx="112">
                  <c:v>5.9</c:v>
                </c:pt>
                <c:pt idx="113">
                  <c:v>3.1</c:v>
                </c:pt>
                <c:pt idx="114">
                  <c:v>4</c:v>
                </c:pt>
                <c:pt idx="115">
                  <c:v>3.2</c:v>
                </c:pt>
                <c:pt idx="116">
                  <c:v>6.1</c:v>
                </c:pt>
                <c:pt idx="117">
                  <c:v>6.5</c:v>
                </c:pt>
                <c:pt idx="118">
                  <c:v>5.4</c:v>
                </c:pt>
                <c:pt idx="119">
                  <c:v>6</c:v>
                </c:pt>
                <c:pt idx="120">
                  <c:v>6.5</c:v>
                </c:pt>
                <c:pt idx="121">
                  <c:v>4.9</c:v>
                </c:pt>
                <c:pt idx="122">
                  <c:v>5</c:v>
                </c:pt>
                <c:pt idx="123">
                  <c:v>3.7</c:v>
                </c:pt>
                <c:pt idx="124">
                  <c:v>7</c:v>
                </c:pt>
                <c:pt idx="125">
                  <c:v>6</c:v>
                </c:pt>
                <c:pt idx="126">
                  <c:v>6.3</c:v>
                </c:pt>
                <c:pt idx="127">
                  <c:v>4.5</c:v>
                </c:pt>
                <c:pt idx="128">
                  <c:v>3.8</c:v>
                </c:pt>
                <c:pt idx="129">
                  <c:v>5.8</c:v>
                </c:pt>
                <c:pt idx="130">
                  <c:v>7.4</c:v>
                </c:pt>
                <c:pt idx="131">
                  <c:v>6.3</c:v>
                </c:pt>
                <c:pt idx="132">
                  <c:v>3.5</c:v>
                </c:pt>
                <c:pt idx="133">
                  <c:v>6.9</c:v>
                </c:pt>
                <c:pt idx="134">
                  <c:v>7.5</c:v>
                </c:pt>
                <c:pt idx="135">
                  <c:v>5.9</c:v>
                </c:pt>
                <c:pt idx="136">
                  <c:v>8.1</c:v>
                </c:pt>
                <c:pt idx="137">
                  <c:v>4.6</c:v>
                </c:pt>
                <c:pt idx="138">
                  <c:v>6.2</c:v>
                </c:pt>
                <c:pt idx="139">
                  <c:v>5.3</c:v>
                </c:pt>
                <c:pt idx="140">
                  <c:v>5.4</c:v>
                </c:pt>
                <c:pt idx="141">
                  <c:v>8.3</c:v>
                </c:pt>
                <c:pt idx="142">
                  <c:v>7.9</c:v>
                </c:pt>
                <c:pt idx="143">
                  <c:v>6.6</c:v>
                </c:pt>
                <c:pt idx="144">
                  <c:v>5.3</c:v>
                </c:pt>
                <c:pt idx="145">
                  <c:v>5.5</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0"/>
          <c:min val="4"/>
        </c:scaling>
        <c:delete val="0"/>
        <c:axPos val="b"/>
        <c:title>
          <c:tx>
            <c:rich>
              <a:bodyPr/>
              <a:lstStyle/>
              <a:p>
                <a:pPr>
                  <a:defRPr sz="1100" b="0" i="0" u="none" strike="noStrike">
                    <a:solidFill>
                      <a:srgbClr val="1B2430"/>
                    </a:solidFill>
                    <a:latin typeface="+mn-lt"/>
                  </a:defRPr>
                </a:pPr>
                <a:r>
                  <a:rPr sz="1100" b="0" i="0" u="none" strike="noStrike">
                    <a:solidFill>
                      <a:srgbClr val="1B2430"/>
                    </a:solidFill>
                    <a:latin typeface="+mn-lt"/>
                  </a:rPr>
                  <a:t>horas_sueno</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6B7A88"/>
                </a:solidFill>
                <a:latin typeface="+mn-lt"/>
              </a:defRPr>
            </a:pPr>
            <a:endParaRPr lang="en-US"/>
          </a:p>
        </c:txPr>
        <c:crossAx val="2094734552"/>
        <c:crosses val="autoZero"/>
        <c:auto val="1"/>
        <c:lblAlgn val="ctr"/>
        <c:noMultiLvlLbl val="1"/>
      </c:valAx>
      <c:valAx>
        <c:axId val="2094734552"/>
        <c:scaling>
          <c:orientation val="minMax"/>
          <c:max val="10"/>
          <c:min val="0"/>
        </c:scaling>
        <c:delete val="0"/>
        <c:axPos val="l"/>
        <c:majorGridlines>
          <c:spPr>
            <a:ln w="6350" cap="flat">
              <a:solidFill>
                <a:srgbClr val="E3E8EC"/>
              </a:solidFill>
              <a:prstDash val="solid"/>
              <a:round/>
            </a:ln>
          </c:spPr>
        </c:majorGridlines>
        <c:title>
          <c:tx>
            <c:rich>
              <a:bodyPr/>
              <a:lstStyle/>
              <a:p>
                <a:pPr>
                  <a:defRPr sz="1100" b="0" i="0" u="none" strike="noStrike">
                    <a:solidFill>
                      <a:srgbClr val="1B2430"/>
                    </a:solidFill>
                    <a:latin typeface="+mn-lt"/>
                  </a:defRPr>
                </a:pPr>
                <a:r>
                  <a:rPr sz="1100" b="0" i="0" u="none" strike="noStrike">
                    <a:solidFill>
                      <a:srgbClr val="1B2430"/>
                    </a:solidFill>
                    <a:latin typeface="+mn-lt"/>
                  </a:rPr>
                  <a:t>nota_final</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6B7A88"/>
                </a:solidFill>
                <a:latin typeface="+mn-lt"/>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F2A3D"/>
                </a:solidFill>
                <a:latin typeface="+mn-lt"/>
              </a:defRPr>
            </a:pPr>
            <a:r>
              <a:rPr sz="1200" b="0" i="0" u="none" strike="noStrike">
                <a:solidFill>
                  <a:srgbClr val="0F2A3D"/>
                </a:solidFill>
                <a:latin typeface="+mn-lt"/>
              </a:rPr>
              <a:t>Mínimos cuadrados: la recta que minimiza los errores al cuadrado</a:t>
            </a:r>
          </a:p>
        </c:rich>
      </c:tx>
      <c:layout/>
      <c:overlay val="0"/>
    </c:title>
    <c:autoTitleDeleted val="0"/>
    <c:plotArea>
      <c:layout/>
      <c:scatterChart>
        <c:scatterStyle val="lineMarker"/>
        <c:varyColors val="0"/>
        <c:ser>
          <c:idx val="0"/>
          <c:order val="0"/>
          <c:tx>
            <c:strRef>
              <c:f>Sheet1!$B$1</c:f>
              <c:strCache>
                <c:ptCount val="1"/>
                <c:pt idx="0">
                  <c:v>Estudiantes</c:v>
                </c:pt>
              </c:strCache>
            </c:strRef>
          </c:tx>
          <c:spPr>
            <a:solidFill>
              <a:srgbClr val="3776AB"/>
            </a:solidFill>
            <a:ln>
              <a:noFill/>
            </a:ln>
            <a:effectLst/>
          </c:spPr>
          <c:marker>
            <c:symbol val="circle"/>
            <c:size val="4"/>
            <c:spPr>
              <a:solidFill>
                <a:srgbClr val="3776AB"/>
              </a:solidFill>
              <a:ln w="9525" cap="flat">
                <a:solidFill>
                  <a:srgbClr val="3776AB"/>
                </a:solidFill>
                <a:prstDash val="solid"/>
                <a:round/>
              </a:ln>
              <a:effectLst/>
            </c:spPr>
          </c:marker>
          <c:xVal>
            <c:numRef>
              <c:f>Sheet1!$A$2:$A$151</c:f>
              <c:numCache>
                <c:formatCode>General</c:formatCode>
                <c:ptCount val="150"/>
                <c:pt idx="0">
                  <c:v>0.5</c:v>
                </c:pt>
                <c:pt idx="1">
                  <c:v>0.5</c:v>
                </c:pt>
                <c:pt idx="2">
                  <c:v>0.5</c:v>
                </c:pt>
                <c:pt idx="3">
                  <c:v>0.5</c:v>
                </c:pt>
                <c:pt idx="4">
                  <c:v>0.6</c:v>
                </c:pt>
                <c:pt idx="5">
                  <c:v>1.1</c:v>
                </c:pt>
                <c:pt idx="6">
                  <c:v>1.2</c:v>
                </c:pt>
                <c:pt idx="7">
                  <c:v>1.8</c:v>
                </c:pt>
                <c:pt idx="8">
                  <c:v>2</c:v>
                </c:pt>
                <c:pt idx="9">
                  <c:v>2.1</c:v>
                </c:pt>
                <c:pt idx="10">
                  <c:v>2.2</c:v>
                </c:pt>
                <c:pt idx="11">
                  <c:v>2.3</c:v>
                </c:pt>
                <c:pt idx="12">
                  <c:v>2.5</c:v>
                </c:pt>
                <c:pt idx="13">
                  <c:v>2.6</c:v>
                </c:pt>
                <c:pt idx="14">
                  <c:v>2.7</c:v>
                </c:pt>
                <c:pt idx="15">
                  <c:v>3.2</c:v>
                </c:pt>
                <c:pt idx="16">
                  <c:v>3.4</c:v>
                </c:pt>
                <c:pt idx="17">
                  <c:v>3.5</c:v>
                </c:pt>
                <c:pt idx="18">
                  <c:v>3.7</c:v>
                </c:pt>
                <c:pt idx="19">
                  <c:v>3.7</c:v>
                </c:pt>
                <c:pt idx="20">
                  <c:v>3.8</c:v>
                </c:pt>
                <c:pt idx="21">
                  <c:v>3.8</c:v>
                </c:pt>
                <c:pt idx="22">
                  <c:v>4</c:v>
                </c:pt>
                <c:pt idx="23">
                  <c:v>4</c:v>
                </c:pt>
                <c:pt idx="24">
                  <c:v>4.1</c:v>
                </c:pt>
                <c:pt idx="25">
                  <c:v>4.1</c:v>
                </c:pt>
                <c:pt idx="26">
                  <c:v>4.2</c:v>
                </c:pt>
                <c:pt idx="27">
                  <c:v>4.3</c:v>
                </c:pt>
                <c:pt idx="28">
                  <c:v>4.4</c:v>
                </c:pt>
                <c:pt idx="29">
                  <c:v>4.4</c:v>
                </c:pt>
                <c:pt idx="30">
                  <c:v>4.5</c:v>
                </c:pt>
                <c:pt idx="31">
                  <c:v>4.5</c:v>
                </c:pt>
                <c:pt idx="32">
                  <c:v>4.6</c:v>
                </c:pt>
                <c:pt idx="33">
                  <c:v>4.7</c:v>
                </c:pt>
                <c:pt idx="34">
                  <c:v>4.7</c:v>
                </c:pt>
                <c:pt idx="35">
                  <c:v>4.8</c:v>
                </c:pt>
                <c:pt idx="36">
                  <c:v>4.9</c:v>
                </c:pt>
                <c:pt idx="37">
                  <c:v>4.9</c:v>
                </c:pt>
                <c:pt idx="38">
                  <c:v>4.9</c:v>
                </c:pt>
                <c:pt idx="39">
                  <c:v>5</c:v>
                </c:pt>
                <c:pt idx="40">
                  <c:v>5</c:v>
                </c:pt>
                <c:pt idx="41">
                  <c:v>5.2</c:v>
                </c:pt>
                <c:pt idx="42">
                  <c:v>5.3</c:v>
                </c:pt>
                <c:pt idx="43">
                  <c:v>5.3</c:v>
                </c:pt>
                <c:pt idx="44">
                  <c:v>5.4</c:v>
                </c:pt>
                <c:pt idx="45">
                  <c:v>5.4</c:v>
                </c:pt>
                <c:pt idx="46">
                  <c:v>5.4</c:v>
                </c:pt>
                <c:pt idx="47">
                  <c:v>5.4</c:v>
                </c:pt>
                <c:pt idx="48">
                  <c:v>5.4</c:v>
                </c:pt>
                <c:pt idx="49">
                  <c:v>5.5</c:v>
                </c:pt>
                <c:pt idx="50">
                  <c:v>5.5</c:v>
                </c:pt>
                <c:pt idx="51">
                  <c:v>5.5</c:v>
                </c:pt>
                <c:pt idx="52">
                  <c:v>5.5</c:v>
                </c:pt>
                <c:pt idx="53">
                  <c:v>5.6</c:v>
                </c:pt>
                <c:pt idx="54">
                  <c:v>5.6</c:v>
                </c:pt>
                <c:pt idx="55">
                  <c:v>5.8</c:v>
                </c:pt>
                <c:pt idx="56">
                  <c:v>5.8</c:v>
                </c:pt>
                <c:pt idx="57">
                  <c:v>5.9</c:v>
                </c:pt>
                <c:pt idx="58">
                  <c:v>5.9</c:v>
                </c:pt>
                <c:pt idx="59">
                  <c:v>5.9</c:v>
                </c:pt>
                <c:pt idx="60">
                  <c:v>6</c:v>
                </c:pt>
                <c:pt idx="61">
                  <c:v>6.1</c:v>
                </c:pt>
                <c:pt idx="62">
                  <c:v>6.2</c:v>
                </c:pt>
                <c:pt idx="63">
                  <c:v>6.2</c:v>
                </c:pt>
                <c:pt idx="64">
                  <c:v>6.3</c:v>
                </c:pt>
                <c:pt idx="65">
                  <c:v>6.4</c:v>
                </c:pt>
                <c:pt idx="66">
                  <c:v>6.6</c:v>
                </c:pt>
                <c:pt idx="67">
                  <c:v>6.6</c:v>
                </c:pt>
                <c:pt idx="68">
                  <c:v>6.7</c:v>
                </c:pt>
                <c:pt idx="69">
                  <c:v>6.7</c:v>
                </c:pt>
                <c:pt idx="70">
                  <c:v>6.8</c:v>
                </c:pt>
                <c:pt idx="71">
                  <c:v>6.8</c:v>
                </c:pt>
                <c:pt idx="72">
                  <c:v>6.8</c:v>
                </c:pt>
                <c:pt idx="73">
                  <c:v>6.8</c:v>
                </c:pt>
                <c:pt idx="74">
                  <c:v>6.8</c:v>
                </c:pt>
                <c:pt idx="75">
                  <c:v>6.9</c:v>
                </c:pt>
                <c:pt idx="76">
                  <c:v>6.9</c:v>
                </c:pt>
                <c:pt idx="77">
                  <c:v>6.9</c:v>
                </c:pt>
                <c:pt idx="78">
                  <c:v>6.9</c:v>
                </c:pt>
                <c:pt idx="79">
                  <c:v>7</c:v>
                </c:pt>
                <c:pt idx="80">
                  <c:v>7</c:v>
                </c:pt>
                <c:pt idx="81">
                  <c:v>7.1</c:v>
                </c:pt>
                <c:pt idx="82">
                  <c:v>7.1</c:v>
                </c:pt>
                <c:pt idx="83">
                  <c:v>7.2</c:v>
                </c:pt>
                <c:pt idx="84">
                  <c:v>7.2</c:v>
                </c:pt>
                <c:pt idx="85">
                  <c:v>7.2</c:v>
                </c:pt>
                <c:pt idx="86">
                  <c:v>7.2</c:v>
                </c:pt>
                <c:pt idx="87">
                  <c:v>7.4</c:v>
                </c:pt>
                <c:pt idx="88">
                  <c:v>7.4</c:v>
                </c:pt>
                <c:pt idx="89">
                  <c:v>7.5</c:v>
                </c:pt>
                <c:pt idx="90">
                  <c:v>7.6</c:v>
                </c:pt>
                <c:pt idx="91">
                  <c:v>7.6</c:v>
                </c:pt>
                <c:pt idx="92">
                  <c:v>7.7</c:v>
                </c:pt>
                <c:pt idx="93">
                  <c:v>7.8</c:v>
                </c:pt>
                <c:pt idx="94">
                  <c:v>7.8</c:v>
                </c:pt>
                <c:pt idx="95">
                  <c:v>7.9</c:v>
                </c:pt>
                <c:pt idx="96">
                  <c:v>7.9</c:v>
                </c:pt>
                <c:pt idx="97">
                  <c:v>8</c:v>
                </c:pt>
                <c:pt idx="98">
                  <c:v>8</c:v>
                </c:pt>
                <c:pt idx="99">
                  <c:v>8.1</c:v>
                </c:pt>
                <c:pt idx="100">
                  <c:v>8.2</c:v>
                </c:pt>
                <c:pt idx="101">
                  <c:v>8.3</c:v>
                </c:pt>
                <c:pt idx="102">
                  <c:v>8.4</c:v>
                </c:pt>
                <c:pt idx="103">
                  <c:v>8.4</c:v>
                </c:pt>
                <c:pt idx="104">
                  <c:v>8.5</c:v>
                </c:pt>
                <c:pt idx="105">
                  <c:v>8.5</c:v>
                </c:pt>
                <c:pt idx="106">
                  <c:v>8.5</c:v>
                </c:pt>
                <c:pt idx="107">
                  <c:v>8.6</c:v>
                </c:pt>
                <c:pt idx="108">
                  <c:v>8.9</c:v>
                </c:pt>
                <c:pt idx="109">
                  <c:v>8.9</c:v>
                </c:pt>
                <c:pt idx="110">
                  <c:v>8.9</c:v>
                </c:pt>
                <c:pt idx="111">
                  <c:v>8.9</c:v>
                </c:pt>
                <c:pt idx="112">
                  <c:v>9</c:v>
                </c:pt>
                <c:pt idx="113">
                  <c:v>9.1</c:v>
                </c:pt>
                <c:pt idx="114">
                  <c:v>9.2</c:v>
                </c:pt>
                <c:pt idx="115">
                  <c:v>9.3</c:v>
                </c:pt>
                <c:pt idx="116">
                  <c:v>9.3</c:v>
                </c:pt>
                <c:pt idx="117">
                  <c:v>9.3</c:v>
                </c:pt>
                <c:pt idx="118">
                  <c:v>9.4</c:v>
                </c:pt>
                <c:pt idx="119">
                  <c:v>9.4</c:v>
                </c:pt>
                <c:pt idx="120">
                  <c:v>9.5</c:v>
                </c:pt>
                <c:pt idx="121">
                  <c:v>9.6</c:v>
                </c:pt>
                <c:pt idx="122">
                  <c:v>9.6</c:v>
                </c:pt>
                <c:pt idx="123">
                  <c:v>9.8</c:v>
                </c:pt>
                <c:pt idx="124">
                  <c:v>9.9</c:v>
                </c:pt>
                <c:pt idx="125">
                  <c:v>9.9</c:v>
                </c:pt>
                <c:pt idx="126">
                  <c:v>10.1</c:v>
                </c:pt>
                <c:pt idx="127">
                  <c:v>10.2</c:v>
                </c:pt>
                <c:pt idx="128">
                  <c:v>10.2</c:v>
                </c:pt>
                <c:pt idx="129">
                  <c:v>10.2</c:v>
                </c:pt>
                <c:pt idx="130">
                  <c:v>10.3</c:v>
                </c:pt>
                <c:pt idx="131">
                  <c:v>10.4</c:v>
                </c:pt>
                <c:pt idx="132">
                  <c:v>10.4</c:v>
                </c:pt>
                <c:pt idx="133">
                  <c:v>10.6</c:v>
                </c:pt>
                <c:pt idx="134">
                  <c:v>10.8</c:v>
                </c:pt>
                <c:pt idx="135">
                  <c:v>10.9</c:v>
                </c:pt>
                <c:pt idx="136">
                  <c:v>11</c:v>
                </c:pt>
                <c:pt idx="137">
                  <c:v>11.1</c:v>
                </c:pt>
                <c:pt idx="138">
                  <c:v>11.5</c:v>
                </c:pt>
                <c:pt idx="139">
                  <c:v>11.7</c:v>
                </c:pt>
                <c:pt idx="140">
                  <c:v>12.1</c:v>
                </c:pt>
                <c:pt idx="141">
                  <c:v>12.2</c:v>
                </c:pt>
                <c:pt idx="142">
                  <c:v>12.4</c:v>
                </c:pt>
                <c:pt idx="143">
                  <c:v>12.5</c:v>
                </c:pt>
                <c:pt idx="144">
                  <c:v>12.8</c:v>
                </c:pt>
                <c:pt idx="145">
                  <c:v>13</c:v>
                </c:pt>
                <c:pt idx="146">
                  <c:v>13.7</c:v>
                </c:pt>
                <c:pt idx="147">
                  <c:v>14.1</c:v>
                </c:pt>
                <c:pt idx="148">
                  <c:v>14.9</c:v>
                </c:pt>
                <c:pt idx="149">
                  <c:v>15</c:v>
                </c:pt>
              </c:numCache>
            </c:numRef>
          </c:xVal>
          <c:yVal>
            <c:numRef>
              <c:f>Sheet1!$B$2:$B$151</c:f>
              <c:numCache>
                <c:formatCode>General</c:formatCode>
                <c:ptCount val="150"/>
                <c:pt idx="0">
                  <c:v>1.6</c:v>
                </c:pt>
                <c:pt idx="1">
                  <c:v>1.9</c:v>
                </c:pt>
                <c:pt idx="2">
                  <c:v>2.4</c:v>
                </c:pt>
                <c:pt idx="3">
                  <c:v>1.6</c:v>
                </c:pt>
                <c:pt idx="4">
                  <c:v>3.2</c:v>
                </c:pt>
                <c:pt idx="5">
                  <c:v>3.1</c:v>
                </c:pt>
                <c:pt idx="6">
                  <c:v>4.2</c:v>
                </c:pt>
                <c:pt idx="7">
                  <c:v>4.6</c:v>
                </c:pt>
                <c:pt idx="8">
                  <c:v>3.6</c:v>
                </c:pt>
                <c:pt idx="9">
                  <c:v>3.4</c:v>
                </c:pt>
                <c:pt idx="10">
                  <c:v>2</c:v>
                </c:pt>
                <c:pt idx="11">
                  <c:v>4.5</c:v>
                </c:pt>
                <c:pt idx="12">
                  <c:v>4.6</c:v>
                </c:pt>
                <c:pt idx="13">
                  <c:v>4.1</c:v>
                </c:pt>
                <c:pt idx="14">
                  <c:v>4</c:v>
                </c:pt>
                <c:pt idx="15">
                  <c:v>4.8</c:v>
                </c:pt>
                <c:pt idx="16">
                  <c:v>6.1</c:v>
                </c:pt>
                <c:pt idx="17">
                  <c:v>5</c:v>
                </c:pt>
                <c:pt idx="18">
                  <c:v>5.3</c:v>
                </c:pt>
                <c:pt idx="19">
                  <c:v>4.4</c:v>
                </c:pt>
                <c:pt idx="20">
                  <c:v>3.9</c:v>
                </c:pt>
                <c:pt idx="21">
                  <c:v>4.8</c:v>
                </c:pt>
                <c:pt idx="22">
                  <c:v>2.6</c:v>
                </c:pt>
                <c:pt idx="23">
                  <c:v>5.3</c:v>
                </c:pt>
                <c:pt idx="24">
                  <c:v>4.4</c:v>
                </c:pt>
                <c:pt idx="25">
                  <c:v>3.5</c:v>
                </c:pt>
                <c:pt idx="26">
                  <c:v>2.3</c:v>
                </c:pt>
                <c:pt idx="27">
                  <c:v>4.7</c:v>
                </c:pt>
                <c:pt idx="28">
                  <c:v>5.2</c:v>
                </c:pt>
                <c:pt idx="29">
                  <c:v>4.9</c:v>
                </c:pt>
                <c:pt idx="30">
                  <c:v>5.4</c:v>
                </c:pt>
                <c:pt idx="31">
                  <c:v>5.8</c:v>
                </c:pt>
                <c:pt idx="32">
                  <c:v>3.6</c:v>
                </c:pt>
                <c:pt idx="33">
                  <c:v>4.6</c:v>
                </c:pt>
                <c:pt idx="34">
                  <c:v>4.5</c:v>
                </c:pt>
                <c:pt idx="35">
                  <c:v>4.8</c:v>
                </c:pt>
                <c:pt idx="36">
                  <c:v>4.5</c:v>
                </c:pt>
                <c:pt idx="37">
                  <c:v>4.8</c:v>
                </c:pt>
                <c:pt idx="38">
                  <c:v>5.7</c:v>
                </c:pt>
                <c:pt idx="39">
                  <c:v>4.7</c:v>
                </c:pt>
                <c:pt idx="40">
                  <c:v>4.9</c:v>
                </c:pt>
                <c:pt idx="41">
                  <c:v>5.9</c:v>
                </c:pt>
                <c:pt idx="42">
                  <c:v>5.7</c:v>
                </c:pt>
                <c:pt idx="43">
                  <c:v>3.4</c:v>
                </c:pt>
                <c:pt idx="44">
                  <c:v>4.3</c:v>
                </c:pt>
                <c:pt idx="45">
                  <c:v>5.6</c:v>
                </c:pt>
                <c:pt idx="46">
                  <c:v>3.8</c:v>
                </c:pt>
                <c:pt idx="47">
                  <c:v>4.2</c:v>
                </c:pt>
                <c:pt idx="48">
                  <c:v>3.5</c:v>
                </c:pt>
                <c:pt idx="49">
                  <c:v>5.4</c:v>
                </c:pt>
                <c:pt idx="50">
                  <c:v>4.8</c:v>
                </c:pt>
                <c:pt idx="51">
                  <c:v>4.4</c:v>
                </c:pt>
                <c:pt idx="52">
                  <c:v>3.5</c:v>
                </c:pt>
                <c:pt idx="53">
                  <c:v>6.3</c:v>
                </c:pt>
                <c:pt idx="54">
                  <c:v>4.1</c:v>
                </c:pt>
                <c:pt idx="55">
                  <c:v>5.5</c:v>
                </c:pt>
                <c:pt idx="56">
                  <c:v>4.4</c:v>
                </c:pt>
                <c:pt idx="57">
                  <c:v>3.6</c:v>
                </c:pt>
                <c:pt idx="58">
                  <c:v>6.2</c:v>
                </c:pt>
                <c:pt idx="59">
                  <c:v>5.9</c:v>
                </c:pt>
                <c:pt idx="60">
                  <c:v>4.5</c:v>
                </c:pt>
                <c:pt idx="61">
                  <c:v>6</c:v>
                </c:pt>
                <c:pt idx="62">
                  <c:v>3.9</c:v>
                </c:pt>
                <c:pt idx="63">
                  <c:v>5.5</c:v>
                </c:pt>
                <c:pt idx="64">
                  <c:v>3.7</c:v>
                </c:pt>
                <c:pt idx="65">
                  <c:v>6.9</c:v>
                </c:pt>
                <c:pt idx="66">
                  <c:v>5.5</c:v>
                </c:pt>
                <c:pt idx="67">
                  <c:v>4.4</c:v>
                </c:pt>
                <c:pt idx="68">
                  <c:v>5</c:v>
                </c:pt>
                <c:pt idx="69">
                  <c:v>5.3</c:v>
                </c:pt>
                <c:pt idx="70">
                  <c:v>6.1</c:v>
                </c:pt>
                <c:pt idx="71">
                  <c:v>4.8</c:v>
                </c:pt>
                <c:pt idx="72">
                  <c:v>4.8</c:v>
                </c:pt>
                <c:pt idx="73">
                  <c:v>5.4</c:v>
                </c:pt>
                <c:pt idx="74">
                  <c:v>4.1</c:v>
                </c:pt>
                <c:pt idx="75">
                  <c:v>7</c:v>
                </c:pt>
                <c:pt idx="76">
                  <c:v>4.3</c:v>
                </c:pt>
                <c:pt idx="77">
                  <c:v>5.5</c:v>
                </c:pt>
                <c:pt idx="78">
                  <c:v>6.2</c:v>
                </c:pt>
                <c:pt idx="79">
                  <c:v>6.5</c:v>
                </c:pt>
                <c:pt idx="80">
                  <c:v>6.1</c:v>
                </c:pt>
                <c:pt idx="81">
                  <c:v>6</c:v>
                </c:pt>
                <c:pt idx="82">
                  <c:v>4.5</c:v>
                </c:pt>
                <c:pt idx="83">
                  <c:v>6.4</c:v>
                </c:pt>
                <c:pt idx="84">
                  <c:v>5.8</c:v>
                </c:pt>
                <c:pt idx="85">
                  <c:v>7.4</c:v>
                </c:pt>
                <c:pt idx="86">
                  <c:v>5</c:v>
                </c:pt>
                <c:pt idx="87">
                  <c:v>5</c:v>
                </c:pt>
                <c:pt idx="88">
                  <c:v>5.8</c:v>
                </c:pt>
                <c:pt idx="89">
                  <c:v>5.2</c:v>
                </c:pt>
                <c:pt idx="90">
                  <c:v>5.4</c:v>
                </c:pt>
                <c:pt idx="91">
                  <c:v>6.2</c:v>
                </c:pt>
                <c:pt idx="92">
                  <c:v>4.6</c:v>
                </c:pt>
                <c:pt idx="93">
                  <c:v>6.7</c:v>
                </c:pt>
                <c:pt idx="94">
                  <c:v>6.3</c:v>
                </c:pt>
                <c:pt idx="95">
                  <c:v>5.8</c:v>
                </c:pt>
                <c:pt idx="96">
                  <c:v>6.6</c:v>
                </c:pt>
                <c:pt idx="97">
                  <c:v>5.6</c:v>
                </c:pt>
                <c:pt idx="98">
                  <c:v>7.7</c:v>
                </c:pt>
                <c:pt idx="99">
                  <c:v>5</c:v>
                </c:pt>
                <c:pt idx="100">
                  <c:v>5.1</c:v>
                </c:pt>
                <c:pt idx="101">
                  <c:v>6.3</c:v>
                </c:pt>
                <c:pt idx="102">
                  <c:v>7.1</c:v>
                </c:pt>
                <c:pt idx="103">
                  <c:v>5.7</c:v>
                </c:pt>
                <c:pt idx="104">
                  <c:v>5.1</c:v>
                </c:pt>
                <c:pt idx="105">
                  <c:v>4.7</c:v>
                </c:pt>
                <c:pt idx="106">
                  <c:v>5.4</c:v>
                </c:pt>
                <c:pt idx="107">
                  <c:v>5.9</c:v>
                </c:pt>
                <c:pt idx="108">
                  <c:v>3.8</c:v>
                </c:pt>
                <c:pt idx="109">
                  <c:v>8.1</c:v>
                </c:pt>
                <c:pt idx="110">
                  <c:v>6.5</c:v>
                </c:pt>
                <c:pt idx="111">
                  <c:v>6.1</c:v>
                </c:pt>
                <c:pt idx="112">
                  <c:v>7</c:v>
                </c:pt>
                <c:pt idx="113">
                  <c:v>5.4</c:v>
                </c:pt>
                <c:pt idx="114">
                  <c:v>6.4</c:v>
                </c:pt>
                <c:pt idx="115">
                  <c:v>7.6</c:v>
                </c:pt>
                <c:pt idx="116">
                  <c:v>5.8</c:v>
                </c:pt>
                <c:pt idx="117">
                  <c:v>6.3</c:v>
                </c:pt>
                <c:pt idx="118">
                  <c:v>7.5</c:v>
                </c:pt>
                <c:pt idx="119">
                  <c:v>6.5</c:v>
                </c:pt>
                <c:pt idx="120">
                  <c:v>7.5</c:v>
                </c:pt>
                <c:pt idx="121">
                  <c:v>7.5</c:v>
                </c:pt>
                <c:pt idx="122">
                  <c:v>5.4</c:v>
                </c:pt>
                <c:pt idx="123">
                  <c:v>5.7</c:v>
                </c:pt>
                <c:pt idx="124">
                  <c:v>5.4</c:v>
                </c:pt>
                <c:pt idx="125">
                  <c:v>7.4</c:v>
                </c:pt>
                <c:pt idx="126">
                  <c:v>7.1</c:v>
                </c:pt>
                <c:pt idx="127">
                  <c:v>7.5</c:v>
                </c:pt>
                <c:pt idx="128">
                  <c:v>6.5</c:v>
                </c:pt>
                <c:pt idx="129">
                  <c:v>5.8</c:v>
                </c:pt>
                <c:pt idx="130">
                  <c:v>7</c:v>
                </c:pt>
                <c:pt idx="131">
                  <c:v>6.3</c:v>
                </c:pt>
                <c:pt idx="132">
                  <c:v>7.4</c:v>
                </c:pt>
                <c:pt idx="133">
                  <c:v>5.2</c:v>
                </c:pt>
                <c:pt idx="134">
                  <c:v>7.6</c:v>
                </c:pt>
                <c:pt idx="135">
                  <c:v>6.9</c:v>
                </c:pt>
                <c:pt idx="136">
                  <c:v>7.8</c:v>
                </c:pt>
                <c:pt idx="137">
                  <c:v>7.9</c:v>
                </c:pt>
                <c:pt idx="138">
                  <c:v>7.8</c:v>
                </c:pt>
                <c:pt idx="139">
                  <c:v>6.5</c:v>
                </c:pt>
                <c:pt idx="140">
                  <c:v>6.4</c:v>
                </c:pt>
                <c:pt idx="141">
                  <c:v>7.9</c:v>
                </c:pt>
                <c:pt idx="142">
                  <c:v>8.6</c:v>
                </c:pt>
                <c:pt idx="143">
                  <c:v>7.7</c:v>
                </c:pt>
                <c:pt idx="144">
                  <c:v>8.5</c:v>
                </c:pt>
                <c:pt idx="145">
                  <c:v>8.1</c:v>
                </c:pt>
                <c:pt idx="146">
                  <c:v>6.3</c:v>
                </c:pt>
                <c:pt idx="147">
                  <c:v>8.5</c:v>
                </c:pt>
                <c:pt idx="148">
                  <c:v>8.3</c:v>
                </c:pt>
                <c:pt idx="149">
                  <c:v>10</c:v>
                </c:pt>
              </c:numCache>
            </c:numRef>
          </c:yVal>
          <c:smooth val="0"/>
        </c:ser>
        <c:ser>
          <c:idx val="1"/>
          <c:order val="1"/>
          <c:tx>
            <c:strRef>
              <c:f>Sheet1!$C$1</c:f>
              <c:strCache>
                <c:ptCount val="1"/>
                <c:pt idx="0">
                  <c:v>Recta ajustada</c:v>
                </c:pt>
              </c:strCache>
            </c:strRef>
          </c:tx>
          <c:spPr>
            <a:solidFill>
              <a:srgbClr val="E07A5F"/>
            </a:solidFill>
            <a:ln>
              <a:noFill/>
            </a:ln>
            <a:effectLst/>
          </c:spPr>
          <c:marker>
            <c:symbol val="circle"/>
            <c:size val="4"/>
            <c:spPr>
              <a:solidFill>
                <a:srgbClr val="E07A5F"/>
              </a:solidFill>
              <a:ln w="9525" cap="flat">
                <a:solidFill>
                  <a:srgbClr val="E07A5F"/>
                </a:solidFill>
                <a:prstDash val="solid"/>
                <a:round/>
              </a:ln>
              <a:effectLst/>
            </c:spPr>
          </c:marker>
          <c:xVal>
            <c:numRef>
              <c:f>Sheet1!$A$2:$A$151</c:f>
              <c:numCache>
                <c:formatCode>General</c:formatCode>
                <c:ptCount val="150"/>
                <c:pt idx="0">
                  <c:v>0.5</c:v>
                </c:pt>
                <c:pt idx="1">
                  <c:v>0.5</c:v>
                </c:pt>
                <c:pt idx="2">
                  <c:v>0.5</c:v>
                </c:pt>
                <c:pt idx="3">
                  <c:v>0.5</c:v>
                </c:pt>
                <c:pt idx="4">
                  <c:v>0.6</c:v>
                </c:pt>
                <c:pt idx="5">
                  <c:v>1.1</c:v>
                </c:pt>
                <c:pt idx="6">
                  <c:v>1.2</c:v>
                </c:pt>
                <c:pt idx="7">
                  <c:v>1.8</c:v>
                </c:pt>
                <c:pt idx="8">
                  <c:v>2</c:v>
                </c:pt>
                <c:pt idx="9">
                  <c:v>2.1</c:v>
                </c:pt>
                <c:pt idx="10">
                  <c:v>2.2</c:v>
                </c:pt>
                <c:pt idx="11">
                  <c:v>2.3</c:v>
                </c:pt>
                <c:pt idx="12">
                  <c:v>2.5</c:v>
                </c:pt>
                <c:pt idx="13">
                  <c:v>2.6</c:v>
                </c:pt>
                <c:pt idx="14">
                  <c:v>2.7</c:v>
                </c:pt>
                <c:pt idx="15">
                  <c:v>3.2</c:v>
                </c:pt>
                <c:pt idx="16">
                  <c:v>3.4</c:v>
                </c:pt>
                <c:pt idx="17">
                  <c:v>3.5</c:v>
                </c:pt>
                <c:pt idx="18">
                  <c:v>3.7</c:v>
                </c:pt>
                <c:pt idx="19">
                  <c:v>3.7</c:v>
                </c:pt>
                <c:pt idx="20">
                  <c:v>3.8</c:v>
                </c:pt>
                <c:pt idx="21">
                  <c:v>3.8</c:v>
                </c:pt>
                <c:pt idx="22">
                  <c:v>4</c:v>
                </c:pt>
                <c:pt idx="23">
                  <c:v>4</c:v>
                </c:pt>
                <c:pt idx="24">
                  <c:v>4.1</c:v>
                </c:pt>
                <c:pt idx="25">
                  <c:v>4.1</c:v>
                </c:pt>
                <c:pt idx="26">
                  <c:v>4.2</c:v>
                </c:pt>
                <c:pt idx="27">
                  <c:v>4.3</c:v>
                </c:pt>
                <c:pt idx="28">
                  <c:v>4.4</c:v>
                </c:pt>
                <c:pt idx="29">
                  <c:v>4.4</c:v>
                </c:pt>
                <c:pt idx="30">
                  <c:v>4.5</c:v>
                </c:pt>
                <c:pt idx="31">
                  <c:v>4.5</c:v>
                </c:pt>
                <c:pt idx="32">
                  <c:v>4.6</c:v>
                </c:pt>
                <c:pt idx="33">
                  <c:v>4.7</c:v>
                </c:pt>
                <c:pt idx="34">
                  <c:v>4.7</c:v>
                </c:pt>
                <c:pt idx="35">
                  <c:v>4.8</c:v>
                </c:pt>
                <c:pt idx="36">
                  <c:v>4.9</c:v>
                </c:pt>
                <c:pt idx="37">
                  <c:v>4.9</c:v>
                </c:pt>
                <c:pt idx="38">
                  <c:v>4.9</c:v>
                </c:pt>
                <c:pt idx="39">
                  <c:v>5</c:v>
                </c:pt>
                <c:pt idx="40">
                  <c:v>5</c:v>
                </c:pt>
                <c:pt idx="41">
                  <c:v>5.2</c:v>
                </c:pt>
                <c:pt idx="42">
                  <c:v>5.3</c:v>
                </c:pt>
                <c:pt idx="43">
                  <c:v>5.3</c:v>
                </c:pt>
                <c:pt idx="44">
                  <c:v>5.4</c:v>
                </c:pt>
                <c:pt idx="45">
                  <c:v>5.4</c:v>
                </c:pt>
                <c:pt idx="46">
                  <c:v>5.4</c:v>
                </c:pt>
                <c:pt idx="47">
                  <c:v>5.4</c:v>
                </c:pt>
                <c:pt idx="48">
                  <c:v>5.4</c:v>
                </c:pt>
                <c:pt idx="49">
                  <c:v>5.5</c:v>
                </c:pt>
                <c:pt idx="50">
                  <c:v>5.5</c:v>
                </c:pt>
                <c:pt idx="51">
                  <c:v>5.5</c:v>
                </c:pt>
                <c:pt idx="52">
                  <c:v>5.5</c:v>
                </c:pt>
                <c:pt idx="53">
                  <c:v>5.6</c:v>
                </c:pt>
                <c:pt idx="54">
                  <c:v>5.6</c:v>
                </c:pt>
                <c:pt idx="55">
                  <c:v>5.8</c:v>
                </c:pt>
                <c:pt idx="56">
                  <c:v>5.8</c:v>
                </c:pt>
                <c:pt idx="57">
                  <c:v>5.9</c:v>
                </c:pt>
                <c:pt idx="58">
                  <c:v>5.9</c:v>
                </c:pt>
                <c:pt idx="59">
                  <c:v>5.9</c:v>
                </c:pt>
                <c:pt idx="60">
                  <c:v>6</c:v>
                </c:pt>
                <c:pt idx="61">
                  <c:v>6.1</c:v>
                </c:pt>
                <c:pt idx="62">
                  <c:v>6.2</c:v>
                </c:pt>
                <c:pt idx="63">
                  <c:v>6.2</c:v>
                </c:pt>
                <c:pt idx="64">
                  <c:v>6.3</c:v>
                </c:pt>
                <c:pt idx="65">
                  <c:v>6.4</c:v>
                </c:pt>
                <c:pt idx="66">
                  <c:v>6.6</c:v>
                </c:pt>
                <c:pt idx="67">
                  <c:v>6.6</c:v>
                </c:pt>
                <c:pt idx="68">
                  <c:v>6.7</c:v>
                </c:pt>
                <c:pt idx="69">
                  <c:v>6.7</c:v>
                </c:pt>
                <c:pt idx="70">
                  <c:v>6.8</c:v>
                </c:pt>
                <c:pt idx="71">
                  <c:v>6.8</c:v>
                </c:pt>
                <c:pt idx="72">
                  <c:v>6.8</c:v>
                </c:pt>
                <c:pt idx="73">
                  <c:v>6.8</c:v>
                </c:pt>
                <c:pt idx="74">
                  <c:v>6.8</c:v>
                </c:pt>
                <c:pt idx="75">
                  <c:v>6.9</c:v>
                </c:pt>
                <c:pt idx="76">
                  <c:v>6.9</c:v>
                </c:pt>
                <c:pt idx="77">
                  <c:v>6.9</c:v>
                </c:pt>
                <c:pt idx="78">
                  <c:v>6.9</c:v>
                </c:pt>
                <c:pt idx="79">
                  <c:v>7</c:v>
                </c:pt>
                <c:pt idx="80">
                  <c:v>7</c:v>
                </c:pt>
                <c:pt idx="81">
                  <c:v>7.1</c:v>
                </c:pt>
                <c:pt idx="82">
                  <c:v>7.1</c:v>
                </c:pt>
                <c:pt idx="83">
                  <c:v>7.2</c:v>
                </c:pt>
                <c:pt idx="84">
                  <c:v>7.2</c:v>
                </c:pt>
                <c:pt idx="85">
                  <c:v>7.2</c:v>
                </c:pt>
                <c:pt idx="86">
                  <c:v>7.2</c:v>
                </c:pt>
                <c:pt idx="87">
                  <c:v>7.4</c:v>
                </c:pt>
                <c:pt idx="88">
                  <c:v>7.4</c:v>
                </c:pt>
                <c:pt idx="89">
                  <c:v>7.5</c:v>
                </c:pt>
                <c:pt idx="90">
                  <c:v>7.6</c:v>
                </c:pt>
                <c:pt idx="91">
                  <c:v>7.6</c:v>
                </c:pt>
                <c:pt idx="92">
                  <c:v>7.7</c:v>
                </c:pt>
                <c:pt idx="93">
                  <c:v>7.8</c:v>
                </c:pt>
                <c:pt idx="94">
                  <c:v>7.8</c:v>
                </c:pt>
                <c:pt idx="95">
                  <c:v>7.9</c:v>
                </c:pt>
                <c:pt idx="96">
                  <c:v>7.9</c:v>
                </c:pt>
                <c:pt idx="97">
                  <c:v>8</c:v>
                </c:pt>
                <c:pt idx="98">
                  <c:v>8</c:v>
                </c:pt>
                <c:pt idx="99">
                  <c:v>8.1</c:v>
                </c:pt>
                <c:pt idx="100">
                  <c:v>8.2</c:v>
                </c:pt>
                <c:pt idx="101">
                  <c:v>8.3</c:v>
                </c:pt>
                <c:pt idx="102">
                  <c:v>8.4</c:v>
                </c:pt>
                <c:pt idx="103">
                  <c:v>8.4</c:v>
                </c:pt>
                <c:pt idx="104">
                  <c:v>8.5</c:v>
                </c:pt>
                <c:pt idx="105">
                  <c:v>8.5</c:v>
                </c:pt>
                <c:pt idx="106">
                  <c:v>8.5</c:v>
                </c:pt>
                <c:pt idx="107">
                  <c:v>8.6</c:v>
                </c:pt>
                <c:pt idx="108">
                  <c:v>8.9</c:v>
                </c:pt>
                <c:pt idx="109">
                  <c:v>8.9</c:v>
                </c:pt>
                <c:pt idx="110">
                  <c:v>8.9</c:v>
                </c:pt>
                <c:pt idx="111">
                  <c:v>8.9</c:v>
                </c:pt>
                <c:pt idx="112">
                  <c:v>9</c:v>
                </c:pt>
                <c:pt idx="113">
                  <c:v>9.1</c:v>
                </c:pt>
                <c:pt idx="114">
                  <c:v>9.2</c:v>
                </c:pt>
                <c:pt idx="115">
                  <c:v>9.3</c:v>
                </c:pt>
                <c:pt idx="116">
                  <c:v>9.3</c:v>
                </c:pt>
                <c:pt idx="117">
                  <c:v>9.3</c:v>
                </c:pt>
                <c:pt idx="118">
                  <c:v>9.4</c:v>
                </c:pt>
                <c:pt idx="119">
                  <c:v>9.4</c:v>
                </c:pt>
                <c:pt idx="120">
                  <c:v>9.5</c:v>
                </c:pt>
                <c:pt idx="121">
                  <c:v>9.6</c:v>
                </c:pt>
                <c:pt idx="122">
                  <c:v>9.6</c:v>
                </c:pt>
                <c:pt idx="123">
                  <c:v>9.8</c:v>
                </c:pt>
                <c:pt idx="124">
                  <c:v>9.9</c:v>
                </c:pt>
                <c:pt idx="125">
                  <c:v>9.9</c:v>
                </c:pt>
                <c:pt idx="126">
                  <c:v>10.1</c:v>
                </c:pt>
                <c:pt idx="127">
                  <c:v>10.2</c:v>
                </c:pt>
                <c:pt idx="128">
                  <c:v>10.2</c:v>
                </c:pt>
                <c:pt idx="129">
                  <c:v>10.2</c:v>
                </c:pt>
                <c:pt idx="130">
                  <c:v>10.3</c:v>
                </c:pt>
                <c:pt idx="131">
                  <c:v>10.4</c:v>
                </c:pt>
                <c:pt idx="132">
                  <c:v>10.4</c:v>
                </c:pt>
                <c:pt idx="133">
                  <c:v>10.6</c:v>
                </c:pt>
                <c:pt idx="134">
                  <c:v>10.8</c:v>
                </c:pt>
                <c:pt idx="135">
                  <c:v>10.9</c:v>
                </c:pt>
                <c:pt idx="136">
                  <c:v>11</c:v>
                </c:pt>
                <c:pt idx="137">
                  <c:v>11.1</c:v>
                </c:pt>
                <c:pt idx="138">
                  <c:v>11.5</c:v>
                </c:pt>
                <c:pt idx="139">
                  <c:v>11.7</c:v>
                </c:pt>
                <c:pt idx="140">
                  <c:v>12.1</c:v>
                </c:pt>
                <c:pt idx="141">
                  <c:v>12.2</c:v>
                </c:pt>
                <c:pt idx="142">
                  <c:v>12.4</c:v>
                </c:pt>
                <c:pt idx="143">
                  <c:v>12.5</c:v>
                </c:pt>
                <c:pt idx="144">
                  <c:v>12.8</c:v>
                </c:pt>
                <c:pt idx="145">
                  <c:v>13</c:v>
                </c:pt>
                <c:pt idx="146">
                  <c:v>13.7</c:v>
                </c:pt>
                <c:pt idx="147">
                  <c:v>14.1</c:v>
                </c:pt>
                <c:pt idx="148">
                  <c:v>14.9</c:v>
                </c:pt>
                <c:pt idx="149">
                  <c:v>15</c:v>
                </c:pt>
              </c:numCache>
            </c:numRef>
          </c:xVal>
          <c:yVal>
            <c:numRef>
              <c:f>Sheet1!$C$2:$C$151</c:f>
              <c:numCache>
                <c:formatCode>General</c:formatCode>
                <c:ptCount val="150"/>
                <c:pt idx="0">
                  <c:v>2.92</c:v>
                </c:pt>
                <c:pt idx="1">
                  <c:v>2.92</c:v>
                </c:pt>
                <c:pt idx="2">
                  <c:v>2.92</c:v>
                </c:pt>
                <c:pt idx="3">
                  <c:v>2.92</c:v>
                </c:pt>
                <c:pt idx="4">
                  <c:v>2.96</c:v>
                </c:pt>
                <c:pt idx="5">
                  <c:v>3.158</c:v>
                </c:pt>
                <c:pt idx="6">
                  <c:v>3.198</c:v>
                </c:pt>
                <c:pt idx="7">
                  <c:v>3.436</c:v>
                </c:pt>
                <c:pt idx="8">
                  <c:v>3.515</c:v>
                </c:pt>
                <c:pt idx="9">
                  <c:v>3.555</c:v>
                </c:pt>
                <c:pt idx="10">
                  <c:v>3.595</c:v>
                </c:pt>
                <c:pt idx="11">
                  <c:v>3.635</c:v>
                </c:pt>
                <c:pt idx="12">
                  <c:v>3.714</c:v>
                </c:pt>
                <c:pt idx="13">
                  <c:v>3.754</c:v>
                </c:pt>
                <c:pt idx="14">
                  <c:v>3.793</c:v>
                </c:pt>
                <c:pt idx="15">
                  <c:v>3.992</c:v>
                </c:pt>
                <c:pt idx="16">
                  <c:v>4.071</c:v>
                </c:pt>
                <c:pt idx="17">
                  <c:v>4.111</c:v>
                </c:pt>
                <c:pt idx="18">
                  <c:v>4.19</c:v>
                </c:pt>
                <c:pt idx="19">
                  <c:v>4.19</c:v>
                </c:pt>
                <c:pt idx="20">
                  <c:v>4.23</c:v>
                </c:pt>
                <c:pt idx="21">
                  <c:v>4.23</c:v>
                </c:pt>
                <c:pt idx="22">
                  <c:v>4.309</c:v>
                </c:pt>
                <c:pt idx="23">
                  <c:v>4.309</c:v>
                </c:pt>
                <c:pt idx="24">
                  <c:v>4.349</c:v>
                </c:pt>
                <c:pt idx="25">
                  <c:v>4.349</c:v>
                </c:pt>
                <c:pt idx="26">
                  <c:v>4.389</c:v>
                </c:pt>
                <c:pt idx="27">
                  <c:v>4.429</c:v>
                </c:pt>
                <c:pt idx="28">
                  <c:v>4.468</c:v>
                </c:pt>
                <c:pt idx="29">
                  <c:v>4.468</c:v>
                </c:pt>
                <c:pt idx="30">
                  <c:v>4.508</c:v>
                </c:pt>
                <c:pt idx="31">
                  <c:v>4.508</c:v>
                </c:pt>
                <c:pt idx="32">
                  <c:v>4.548</c:v>
                </c:pt>
                <c:pt idx="33">
                  <c:v>4.587</c:v>
                </c:pt>
                <c:pt idx="34">
                  <c:v>4.587</c:v>
                </c:pt>
                <c:pt idx="35">
                  <c:v>4.627</c:v>
                </c:pt>
                <c:pt idx="36">
                  <c:v>4.667</c:v>
                </c:pt>
                <c:pt idx="37">
                  <c:v>4.667</c:v>
                </c:pt>
                <c:pt idx="38">
                  <c:v>4.667</c:v>
                </c:pt>
                <c:pt idx="39">
                  <c:v>4.706</c:v>
                </c:pt>
                <c:pt idx="40">
                  <c:v>4.706</c:v>
                </c:pt>
                <c:pt idx="41">
                  <c:v>4.786</c:v>
                </c:pt>
                <c:pt idx="42">
                  <c:v>4.826</c:v>
                </c:pt>
                <c:pt idx="43">
                  <c:v>4.826</c:v>
                </c:pt>
                <c:pt idx="44">
                  <c:v>4.865</c:v>
                </c:pt>
                <c:pt idx="45">
                  <c:v>4.865</c:v>
                </c:pt>
                <c:pt idx="46">
                  <c:v>4.865</c:v>
                </c:pt>
                <c:pt idx="47">
                  <c:v>4.865</c:v>
                </c:pt>
                <c:pt idx="48">
                  <c:v>4.865</c:v>
                </c:pt>
                <c:pt idx="49">
                  <c:v>4.905</c:v>
                </c:pt>
                <c:pt idx="50">
                  <c:v>4.905</c:v>
                </c:pt>
                <c:pt idx="51">
                  <c:v>4.905</c:v>
                </c:pt>
                <c:pt idx="52">
                  <c:v>4.905</c:v>
                </c:pt>
                <c:pt idx="53">
                  <c:v>4.945</c:v>
                </c:pt>
                <c:pt idx="54">
                  <c:v>4.945</c:v>
                </c:pt>
                <c:pt idx="55">
                  <c:v>5.024</c:v>
                </c:pt>
                <c:pt idx="56">
                  <c:v>5.024</c:v>
                </c:pt>
                <c:pt idx="57">
                  <c:v>5.064</c:v>
                </c:pt>
                <c:pt idx="58">
                  <c:v>5.064</c:v>
                </c:pt>
                <c:pt idx="59">
                  <c:v>5.064</c:v>
                </c:pt>
                <c:pt idx="60">
                  <c:v>5.103</c:v>
                </c:pt>
                <c:pt idx="61">
                  <c:v>5.143</c:v>
                </c:pt>
                <c:pt idx="62">
                  <c:v>5.183</c:v>
                </c:pt>
                <c:pt idx="63">
                  <c:v>5.183</c:v>
                </c:pt>
                <c:pt idx="64">
                  <c:v>5.223</c:v>
                </c:pt>
                <c:pt idx="65">
                  <c:v>5.262</c:v>
                </c:pt>
                <c:pt idx="66">
                  <c:v>5.342</c:v>
                </c:pt>
                <c:pt idx="67">
                  <c:v>5.342</c:v>
                </c:pt>
                <c:pt idx="68">
                  <c:v>5.381</c:v>
                </c:pt>
                <c:pt idx="69">
                  <c:v>5.381</c:v>
                </c:pt>
                <c:pt idx="70">
                  <c:v>5.421</c:v>
                </c:pt>
                <c:pt idx="71">
                  <c:v>5.421</c:v>
                </c:pt>
                <c:pt idx="72">
                  <c:v>5.421</c:v>
                </c:pt>
                <c:pt idx="73">
                  <c:v>5.421</c:v>
                </c:pt>
                <c:pt idx="74">
                  <c:v>5.421</c:v>
                </c:pt>
                <c:pt idx="75">
                  <c:v>5.461</c:v>
                </c:pt>
                <c:pt idx="76">
                  <c:v>5.461</c:v>
                </c:pt>
                <c:pt idx="77">
                  <c:v>5.461</c:v>
                </c:pt>
                <c:pt idx="78">
                  <c:v>5.461</c:v>
                </c:pt>
                <c:pt idx="79">
                  <c:v>5.5</c:v>
                </c:pt>
                <c:pt idx="80">
                  <c:v>5.5</c:v>
                </c:pt>
                <c:pt idx="81">
                  <c:v>5.54</c:v>
                </c:pt>
                <c:pt idx="82">
                  <c:v>5.54</c:v>
                </c:pt>
                <c:pt idx="83">
                  <c:v>5.58</c:v>
                </c:pt>
                <c:pt idx="84">
                  <c:v>5.58</c:v>
                </c:pt>
                <c:pt idx="85">
                  <c:v>5.58</c:v>
                </c:pt>
                <c:pt idx="86">
                  <c:v>5.58</c:v>
                </c:pt>
                <c:pt idx="87">
                  <c:v>5.659</c:v>
                </c:pt>
                <c:pt idx="88">
                  <c:v>5.659</c:v>
                </c:pt>
                <c:pt idx="89">
                  <c:v>5.699</c:v>
                </c:pt>
                <c:pt idx="90">
                  <c:v>5.739</c:v>
                </c:pt>
                <c:pt idx="91">
                  <c:v>5.739</c:v>
                </c:pt>
                <c:pt idx="92">
                  <c:v>5.778</c:v>
                </c:pt>
                <c:pt idx="93">
                  <c:v>5.818</c:v>
                </c:pt>
                <c:pt idx="94">
                  <c:v>5.818</c:v>
                </c:pt>
                <c:pt idx="95">
                  <c:v>5.858</c:v>
                </c:pt>
                <c:pt idx="96">
                  <c:v>5.858</c:v>
                </c:pt>
                <c:pt idx="97">
                  <c:v>5.897</c:v>
                </c:pt>
                <c:pt idx="98">
                  <c:v>5.897</c:v>
                </c:pt>
                <c:pt idx="99">
                  <c:v>5.937</c:v>
                </c:pt>
                <c:pt idx="100">
                  <c:v>5.977</c:v>
                </c:pt>
                <c:pt idx="101">
                  <c:v>6.017</c:v>
                </c:pt>
                <c:pt idx="102">
                  <c:v>6.056</c:v>
                </c:pt>
                <c:pt idx="103">
                  <c:v>6.056</c:v>
                </c:pt>
                <c:pt idx="104">
                  <c:v>6.096</c:v>
                </c:pt>
                <c:pt idx="105">
                  <c:v>6.096</c:v>
                </c:pt>
                <c:pt idx="106">
                  <c:v>6.096</c:v>
                </c:pt>
                <c:pt idx="107">
                  <c:v>6.136</c:v>
                </c:pt>
                <c:pt idx="108">
                  <c:v>6.255</c:v>
                </c:pt>
                <c:pt idx="109">
                  <c:v>6.255</c:v>
                </c:pt>
                <c:pt idx="110">
                  <c:v>6.255</c:v>
                </c:pt>
                <c:pt idx="111">
                  <c:v>6.255</c:v>
                </c:pt>
                <c:pt idx="112">
                  <c:v>6.294</c:v>
                </c:pt>
                <c:pt idx="113">
                  <c:v>6.334</c:v>
                </c:pt>
                <c:pt idx="114">
                  <c:v>6.374</c:v>
                </c:pt>
                <c:pt idx="115">
                  <c:v>6.414</c:v>
                </c:pt>
                <c:pt idx="116">
                  <c:v>6.414</c:v>
                </c:pt>
                <c:pt idx="117">
                  <c:v>6.414</c:v>
                </c:pt>
                <c:pt idx="118">
                  <c:v>6.453</c:v>
                </c:pt>
                <c:pt idx="119">
                  <c:v>6.453</c:v>
                </c:pt>
                <c:pt idx="120">
                  <c:v>6.493</c:v>
                </c:pt>
                <c:pt idx="121">
                  <c:v>6.533</c:v>
                </c:pt>
                <c:pt idx="122">
                  <c:v>6.533</c:v>
                </c:pt>
                <c:pt idx="123">
                  <c:v>6.612</c:v>
                </c:pt>
                <c:pt idx="124">
                  <c:v>6.652</c:v>
                </c:pt>
                <c:pt idx="125">
                  <c:v>6.652</c:v>
                </c:pt>
                <c:pt idx="126">
                  <c:v>6.731</c:v>
                </c:pt>
                <c:pt idx="127">
                  <c:v>6.771</c:v>
                </c:pt>
                <c:pt idx="128">
                  <c:v>6.771</c:v>
                </c:pt>
                <c:pt idx="129">
                  <c:v>6.771</c:v>
                </c:pt>
                <c:pt idx="130">
                  <c:v>6.811</c:v>
                </c:pt>
                <c:pt idx="131">
                  <c:v>6.85</c:v>
                </c:pt>
                <c:pt idx="132">
                  <c:v>6.85</c:v>
                </c:pt>
                <c:pt idx="133">
                  <c:v>6.93</c:v>
                </c:pt>
                <c:pt idx="134">
                  <c:v>7.009</c:v>
                </c:pt>
                <c:pt idx="135">
                  <c:v>7.049</c:v>
                </c:pt>
                <c:pt idx="136">
                  <c:v>7.088</c:v>
                </c:pt>
                <c:pt idx="137">
                  <c:v>7.128</c:v>
                </c:pt>
                <c:pt idx="138">
                  <c:v>7.287</c:v>
                </c:pt>
                <c:pt idx="139">
                  <c:v>7.366</c:v>
                </c:pt>
                <c:pt idx="140">
                  <c:v>7.525</c:v>
                </c:pt>
                <c:pt idx="141">
                  <c:v>7.565</c:v>
                </c:pt>
                <c:pt idx="142">
                  <c:v>7.644</c:v>
                </c:pt>
                <c:pt idx="143">
                  <c:v>7.684</c:v>
                </c:pt>
                <c:pt idx="144">
                  <c:v>7.803</c:v>
                </c:pt>
                <c:pt idx="145">
                  <c:v>7.882</c:v>
                </c:pt>
                <c:pt idx="146">
                  <c:v>8.16</c:v>
                </c:pt>
                <c:pt idx="147">
                  <c:v>8.319</c:v>
                </c:pt>
                <c:pt idx="148">
                  <c:v>8.637</c:v>
                </c:pt>
                <c:pt idx="149">
                  <c:v>8.676</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6"/>
          <c:min val="0"/>
        </c:scaling>
        <c:delete val="0"/>
        <c:axPos val="b"/>
        <c:title>
          <c:tx>
            <c:rich>
              <a:bodyPr/>
              <a:lstStyle/>
              <a:p>
                <a:pPr>
                  <a:defRPr sz="1100" b="0" i="0" u="none" strike="noStrike">
                    <a:solidFill>
                      <a:srgbClr val="1B2430"/>
                    </a:solidFill>
                    <a:latin typeface="+mn-lt"/>
                  </a:defRPr>
                </a:pPr>
                <a:r>
                  <a:rPr sz="1100" b="0" i="0" u="none" strike="noStrike">
                    <a:solidFill>
                      <a:srgbClr val="1B2430"/>
                    </a:solidFill>
                    <a:latin typeface="+mn-lt"/>
                  </a:rPr>
                  <a:t>horas_estudio</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6B7A88"/>
                </a:solidFill>
                <a:latin typeface="+mn-lt"/>
              </a:defRPr>
            </a:pPr>
            <a:endParaRPr lang="en-US"/>
          </a:p>
        </c:txPr>
        <c:crossAx val="2094734552"/>
        <c:crosses val="autoZero"/>
        <c:auto val="1"/>
        <c:lblAlgn val="ctr"/>
        <c:noMultiLvlLbl val="1"/>
      </c:valAx>
      <c:valAx>
        <c:axId val="2094734552"/>
        <c:scaling>
          <c:orientation val="minMax"/>
          <c:max val="10"/>
          <c:min val="0"/>
        </c:scaling>
        <c:delete val="0"/>
        <c:axPos val="l"/>
        <c:majorGridlines>
          <c:spPr>
            <a:ln w="6350" cap="flat">
              <a:solidFill>
                <a:srgbClr val="E3E8EC"/>
              </a:solidFill>
              <a:prstDash val="solid"/>
              <a:round/>
            </a:ln>
          </c:spPr>
        </c:majorGridlines>
        <c:title>
          <c:tx>
            <c:rich>
              <a:bodyPr/>
              <a:lstStyle/>
              <a:p>
                <a:pPr>
                  <a:defRPr sz="1100" b="0" i="0" u="none" strike="noStrike">
                    <a:solidFill>
                      <a:srgbClr val="1B2430"/>
                    </a:solidFill>
                    <a:latin typeface="+mn-lt"/>
                  </a:defRPr>
                </a:pPr>
                <a:r>
                  <a:rPr sz="1100" b="0" i="0" u="none" strike="noStrike">
                    <a:solidFill>
                      <a:srgbClr val="1B2430"/>
                    </a:solidFill>
                    <a:latin typeface="+mn-lt"/>
                  </a:rPr>
                  <a:t>nota_final</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6B7A88"/>
                </a:solidFill>
                <a:latin typeface="+mn-lt"/>
              </a:defRPr>
            </a:pPr>
            <a:endParaRPr lang="en-US"/>
          </a:p>
        </c:txPr>
        <c:crossAx val="2094734554"/>
        <c:crosses val="autoZero"/>
        <c:crossBetween val="midCat"/>
      </c:valAx>
      <c:spPr>
        <a:noFill/>
        <a:ln>
          <a:noFill/>
        </a:ln>
        <a:effectLst/>
      </c:spPr>
    </c:plotArea>
    <c:legend>
      <c:legendPos val="b"/>
      <c:overlay val="0"/>
      <c:txPr>
        <a:bodyPr/>
        <a:lstStyle/>
        <a:p>
          <a:pPr>
            <a:defRPr sz="10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F2A3D"/>
                </a:solidFill>
                <a:latin typeface="+mn-lt"/>
              </a:defRPr>
            </a:pPr>
            <a:r>
              <a:rPr sz="1200" b="0" i="0" u="none" strike="noStrike">
                <a:solidFill>
                  <a:srgbClr val="0F2A3D"/>
                </a:solidFill>
                <a:latin typeface="+mn-lt"/>
              </a:rPr>
              <a:t>Residuo = real − predicho</a:t>
            </a:r>
          </a:p>
        </c:rich>
      </c:tx>
      <c:layout/>
      <c:overlay val="0"/>
    </c:title>
    <c:autoTitleDeleted val="0"/>
    <c:plotArea>
      <c:layout/>
      <c:scatterChart>
        <c:scatterStyle val="lineMarker"/>
        <c:varyColors val="0"/>
        <c:ser>
          <c:idx val="0"/>
          <c:order val="0"/>
          <c:tx>
            <c:strRef>
              <c:f>Sheet1!$B$1</c:f>
              <c:strCache>
                <c:ptCount val="1"/>
                <c:pt idx="0">
                  <c:v>Residuos</c:v>
                </c:pt>
              </c:strCache>
            </c:strRef>
          </c:tx>
          <c:spPr>
            <a:solidFill>
              <a:srgbClr val="1F7A8C"/>
            </a:solidFill>
            <a:ln>
              <a:noFill/>
            </a:ln>
            <a:effectLst/>
          </c:spPr>
          <c:marker>
            <c:symbol val="circle"/>
            <c:size val="5"/>
            <c:spPr>
              <a:solidFill>
                <a:srgbClr val="1F7A8C"/>
              </a:solidFill>
              <a:ln w="9525" cap="flat">
                <a:solidFill>
                  <a:srgbClr val="1F7A8C"/>
                </a:solidFill>
                <a:prstDash val="solid"/>
                <a:round/>
              </a:ln>
              <a:effectLst/>
            </c:spPr>
          </c:marker>
          <c:xVal>
            <c:numRef>
              <c:f>Sheet1!$A$2:$A$151</c:f>
              <c:numCache>
                <c:formatCode>General</c:formatCode>
                <c:ptCount val="150"/>
                <c:pt idx="0">
                  <c:v>2.92</c:v>
                </c:pt>
                <c:pt idx="1">
                  <c:v>2.92</c:v>
                </c:pt>
                <c:pt idx="2">
                  <c:v>2.92</c:v>
                </c:pt>
                <c:pt idx="3">
                  <c:v>2.92</c:v>
                </c:pt>
                <c:pt idx="4">
                  <c:v>2.96</c:v>
                </c:pt>
                <c:pt idx="5">
                  <c:v>3.158</c:v>
                </c:pt>
                <c:pt idx="6">
                  <c:v>3.198</c:v>
                </c:pt>
                <c:pt idx="7">
                  <c:v>3.436</c:v>
                </c:pt>
                <c:pt idx="8">
                  <c:v>3.515</c:v>
                </c:pt>
                <c:pt idx="9">
                  <c:v>3.555</c:v>
                </c:pt>
                <c:pt idx="10">
                  <c:v>3.595</c:v>
                </c:pt>
                <c:pt idx="11">
                  <c:v>3.635</c:v>
                </c:pt>
                <c:pt idx="12">
                  <c:v>3.714</c:v>
                </c:pt>
                <c:pt idx="13">
                  <c:v>3.754</c:v>
                </c:pt>
                <c:pt idx="14">
                  <c:v>3.793</c:v>
                </c:pt>
                <c:pt idx="15">
                  <c:v>3.992</c:v>
                </c:pt>
                <c:pt idx="16">
                  <c:v>4.071</c:v>
                </c:pt>
                <c:pt idx="17">
                  <c:v>4.111</c:v>
                </c:pt>
                <c:pt idx="18">
                  <c:v>4.19</c:v>
                </c:pt>
                <c:pt idx="19">
                  <c:v>4.19</c:v>
                </c:pt>
                <c:pt idx="20">
                  <c:v>4.23</c:v>
                </c:pt>
                <c:pt idx="21">
                  <c:v>4.23</c:v>
                </c:pt>
                <c:pt idx="22">
                  <c:v>4.309</c:v>
                </c:pt>
                <c:pt idx="23">
                  <c:v>4.309</c:v>
                </c:pt>
                <c:pt idx="24">
                  <c:v>4.349</c:v>
                </c:pt>
                <c:pt idx="25">
                  <c:v>4.349</c:v>
                </c:pt>
                <c:pt idx="26">
                  <c:v>4.389</c:v>
                </c:pt>
                <c:pt idx="27">
                  <c:v>4.429</c:v>
                </c:pt>
                <c:pt idx="28">
                  <c:v>4.468</c:v>
                </c:pt>
                <c:pt idx="29">
                  <c:v>4.468</c:v>
                </c:pt>
                <c:pt idx="30">
                  <c:v>4.508</c:v>
                </c:pt>
                <c:pt idx="31">
                  <c:v>4.508</c:v>
                </c:pt>
                <c:pt idx="32">
                  <c:v>4.548</c:v>
                </c:pt>
                <c:pt idx="33">
                  <c:v>4.587</c:v>
                </c:pt>
                <c:pt idx="34">
                  <c:v>4.587</c:v>
                </c:pt>
                <c:pt idx="35">
                  <c:v>4.627</c:v>
                </c:pt>
                <c:pt idx="36">
                  <c:v>4.667</c:v>
                </c:pt>
                <c:pt idx="37">
                  <c:v>4.667</c:v>
                </c:pt>
                <c:pt idx="38">
                  <c:v>4.667</c:v>
                </c:pt>
                <c:pt idx="39">
                  <c:v>4.706</c:v>
                </c:pt>
                <c:pt idx="40">
                  <c:v>4.706</c:v>
                </c:pt>
                <c:pt idx="41">
                  <c:v>4.786</c:v>
                </c:pt>
                <c:pt idx="42">
                  <c:v>4.826</c:v>
                </c:pt>
                <c:pt idx="43">
                  <c:v>4.826</c:v>
                </c:pt>
                <c:pt idx="44">
                  <c:v>4.865</c:v>
                </c:pt>
                <c:pt idx="45">
                  <c:v>4.865</c:v>
                </c:pt>
                <c:pt idx="46">
                  <c:v>4.865</c:v>
                </c:pt>
                <c:pt idx="47">
                  <c:v>4.865</c:v>
                </c:pt>
                <c:pt idx="48">
                  <c:v>4.865</c:v>
                </c:pt>
                <c:pt idx="49">
                  <c:v>4.905</c:v>
                </c:pt>
                <c:pt idx="50">
                  <c:v>4.905</c:v>
                </c:pt>
                <c:pt idx="51">
                  <c:v>4.905</c:v>
                </c:pt>
                <c:pt idx="52">
                  <c:v>4.905</c:v>
                </c:pt>
                <c:pt idx="53">
                  <c:v>4.945</c:v>
                </c:pt>
                <c:pt idx="54">
                  <c:v>4.945</c:v>
                </c:pt>
                <c:pt idx="55">
                  <c:v>5.024</c:v>
                </c:pt>
                <c:pt idx="56">
                  <c:v>5.024</c:v>
                </c:pt>
                <c:pt idx="57">
                  <c:v>5.064</c:v>
                </c:pt>
                <c:pt idx="58">
                  <c:v>5.064</c:v>
                </c:pt>
                <c:pt idx="59">
                  <c:v>5.064</c:v>
                </c:pt>
                <c:pt idx="60">
                  <c:v>5.103</c:v>
                </c:pt>
                <c:pt idx="61">
                  <c:v>5.143</c:v>
                </c:pt>
                <c:pt idx="62">
                  <c:v>5.183</c:v>
                </c:pt>
                <c:pt idx="63">
                  <c:v>5.183</c:v>
                </c:pt>
                <c:pt idx="64">
                  <c:v>5.223</c:v>
                </c:pt>
                <c:pt idx="65">
                  <c:v>5.262</c:v>
                </c:pt>
                <c:pt idx="66">
                  <c:v>5.342</c:v>
                </c:pt>
                <c:pt idx="67">
                  <c:v>5.342</c:v>
                </c:pt>
                <c:pt idx="68">
                  <c:v>5.381</c:v>
                </c:pt>
                <c:pt idx="69">
                  <c:v>5.381</c:v>
                </c:pt>
                <c:pt idx="70">
                  <c:v>5.421</c:v>
                </c:pt>
                <c:pt idx="71">
                  <c:v>5.421</c:v>
                </c:pt>
                <c:pt idx="72">
                  <c:v>5.421</c:v>
                </c:pt>
                <c:pt idx="73">
                  <c:v>5.421</c:v>
                </c:pt>
                <c:pt idx="74">
                  <c:v>5.421</c:v>
                </c:pt>
                <c:pt idx="75">
                  <c:v>5.461</c:v>
                </c:pt>
                <c:pt idx="76">
                  <c:v>5.461</c:v>
                </c:pt>
                <c:pt idx="77">
                  <c:v>5.461</c:v>
                </c:pt>
                <c:pt idx="78">
                  <c:v>5.461</c:v>
                </c:pt>
                <c:pt idx="79">
                  <c:v>5.5</c:v>
                </c:pt>
                <c:pt idx="80">
                  <c:v>5.5</c:v>
                </c:pt>
                <c:pt idx="81">
                  <c:v>5.54</c:v>
                </c:pt>
                <c:pt idx="82">
                  <c:v>5.54</c:v>
                </c:pt>
                <c:pt idx="83">
                  <c:v>5.58</c:v>
                </c:pt>
                <c:pt idx="84">
                  <c:v>5.58</c:v>
                </c:pt>
                <c:pt idx="85">
                  <c:v>5.58</c:v>
                </c:pt>
                <c:pt idx="86">
                  <c:v>5.58</c:v>
                </c:pt>
                <c:pt idx="87">
                  <c:v>5.659</c:v>
                </c:pt>
                <c:pt idx="88">
                  <c:v>5.659</c:v>
                </c:pt>
                <c:pt idx="89">
                  <c:v>5.699</c:v>
                </c:pt>
                <c:pt idx="90">
                  <c:v>5.739</c:v>
                </c:pt>
                <c:pt idx="91">
                  <c:v>5.739</c:v>
                </c:pt>
                <c:pt idx="92">
                  <c:v>5.778</c:v>
                </c:pt>
                <c:pt idx="93">
                  <c:v>5.818</c:v>
                </c:pt>
                <c:pt idx="94">
                  <c:v>5.818</c:v>
                </c:pt>
                <c:pt idx="95">
                  <c:v>5.858</c:v>
                </c:pt>
                <c:pt idx="96">
                  <c:v>5.858</c:v>
                </c:pt>
                <c:pt idx="97">
                  <c:v>5.897</c:v>
                </c:pt>
                <c:pt idx="98">
                  <c:v>5.897</c:v>
                </c:pt>
                <c:pt idx="99">
                  <c:v>5.937</c:v>
                </c:pt>
                <c:pt idx="100">
                  <c:v>5.977</c:v>
                </c:pt>
                <c:pt idx="101">
                  <c:v>6.017</c:v>
                </c:pt>
                <c:pt idx="102">
                  <c:v>6.056</c:v>
                </c:pt>
                <c:pt idx="103">
                  <c:v>6.056</c:v>
                </c:pt>
                <c:pt idx="104">
                  <c:v>6.096</c:v>
                </c:pt>
                <c:pt idx="105">
                  <c:v>6.096</c:v>
                </c:pt>
                <c:pt idx="106">
                  <c:v>6.096</c:v>
                </c:pt>
                <c:pt idx="107">
                  <c:v>6.136</c:v>
                </c:pt>
                <c:pt idx="108">
                  <c:v>6.255</c:v>
                </c:pt>
                <c:pt idx="109">
                  <c:v>6.255</c:v>
                </c:pt>
                <c:pt idx="110">
                  <c:v>6.255</c:v>
                </c:pt>
                <c:pt idx="111">
                  <c:v>6.255</c:v>
                </c:pt>
                <c:pt idx="112">
                  <c:v>6.294</c:v>
                </c:pt>
                <c:pt idx="113">
                  <c:v>6.334</c:v>
                </c:pt>
                <c:pt idx="114">
                  <c:v>6.374</c:v>
                </c:pt>
                <c:pt idx="115">
                  <c:v>6.414</c:v>
                </c:pt>
                <c:pt idx="116">
                  <c:v>6.414</c:v>
                </c:pt>
                <c:pt idx="117">
                  <c:v>6.414</c:v>
                </c:pt>
                <c:pt idx="118">
                  <c:v>6.453</c:v>
                </c:pt>
                <c:pt idx="119">
                  <c:v>6.453</c:v>
                </c:pt>
                <c:pt idx="120">
                  <c:v>6.493</c:v>
                </c:pt>
                <c:pt idx="121">
                  <c:v>6.533</c:v>
                </c:pt>
                <c:pt idx="122">
                  <c:v>6.533</c:v>
                </c:pt>
                <c:pt idx="123">
                  <c:v>6.612</c:v>
                </c:pt>
                <c:pt idx="124">
                  <c:v>6.652</c:v>
                </c:pt>
                <c:pt idx="125">
                  <c:v>6.652</c:v>
                </c:pt>
                <c:pt idx="126">
                  <c:v>6.731</c:v>
                </c:pt>
                <c:pt idx="127">
                  <c:v>6.771</c:v>
                </c:pt>
                <c:pt idx="128">
                  <c:v>6.771</c:v>
                </c:pt>
                <c:pt idx="129">
                  <c:v>6.771</c:v>
                </c:pt>
                <c:pt idx="130">
                  <c:v>6.811</c:v>
                </c:pt>
                <c:pt idx="131">
                  <c:v>6.85</c:v>
                </c:pt>
                <c:pt idx="132">
                  <c:v>6.85</c:v>
                </c:pt>
                <c:pt idx="133">
                  <c:v>6.93</c:v>
                </c:pt>
                <c:pt idx="134">
                  <c:v>7.009</c:v>
                </c:pt>
                <c:pt idx="135">
                  <c:v>7.049</c:v>
                </c:pt>
                <c:pt idx="136">
                  <c:v>7.088</c:v>
                </c:pt>
                <c:pt idx="137">
                  <c:v>7.128</c:v>
                </c:pt>
                <c:pt idx="138">
                  <c:v>7.287</c:v>
                </c:pt>
                <c:pt idx="139">
                  <c:v>7.366</c:v>
                </c:pt>
                <c:pt idx="140">
                  <c:v>7.525</c:v>
                </c:pt>
                <c:pt idx="141">
                  <c:v>7.565</c:v>
                </c:pt>
                <c:pt idx="142">
                  <c:v>7.644</c:v>
                </c:pt>
                <c:pt idx="143">
                  <c:v>7.684</c:v>
                </c:pt>
                <c:pt idx="144">
                  <c:v>7.803</c:v>
                </c:pt>
                <c:pt idx="145">
                  <c:v>7.882</c:v>
                </c:pt>
                <c:pt idx="146">
                  <c:v>8.16</c:v>
                </c:pt>
                <c:pt idx="147">
                  <c:v>8.319</c:v>
                </c:pt>
                <c:pt idx="148">
                  <c:v>8.637</c:v>
                </c:pt>
                <c:pt idx="149">
                  <c:v>8.676</c:v>
                </c:pt>
              </c:numCache>
            </c:numRef>
          </c:xVal>
          <c:yVal>
            <c:numRef>
              <c:f>Sheet1!$B$2:$B$151</c:f>
              <c:numCache>
                <c:formatCode>General</c:formatCode>
                <c:ptCount val="150"/>
                <c:pt idx="0">
                  <c:v>-1.32</c:v>
                </c:pt>
                <c:pt idx="1">
                  <c:v>-1.02</c:v>
                </c:pt>
                <c:pt idx="2">
                  <c:v>-0.52</c:v>
                </c:pt>
                <c:pt idx="3">
                  <c:v>-1.32</c:v>
                </c:pt>
                <c:pt idx="4">
                  <c:v>0.24</c:v>
                </c:pt>
                <c:pt idx="5">
                  <c:v>-0.058</c:v>
                </c:pt>
                <c:pt idx="6">
                  <c:v>1.002</c:v>
                </c:pt>
                <c:pt idx="7">
                  <c:v>1.164</c:v>
                </c:pt>
                <c:pt idx="8">
                  <c:v>0.085</c:v>
                </c:pt>
                <c:pt idx="9">
                  <c:v>-0.155</c:v>
                </c:pt>
                <c:pt idx="10">
                  <c:v>-1.595</c:v>
                </c:pt>
                <c:pt idx="11">
                  <c:v>0.865</c:v>
                </c:pt>
                <c:pt idx="12">
                  <c:v>0.886</c:v>
                </c:pt>
                <c:pt idx="13">
                  <c:v>0.346</c:v>
                </c:pt>
                <c:pt idx="14">
                  <c:v>0.207</c:v>
                </c:pt>
                <c:pt idx="15">
                  <c:v>0.808</c:v>
                </c:pt>
                <c:pt idx="16">
                  <c:v>2.029</c:v>
                </c:pt>
                <c:pt idx="17">
                  <c:v>0.889</c:v>
                </c:pt>
                <c:pt idx="18">
                  <c:v>1.11</c:v>
                </c:pt>
                <c:pt idx="19">
                  <c:v>0.21</c:v>
                </c:pt>
                <c:pt idx="20">
                  <c:v>-0.33</c:v>
                </c:pt>
                <c:pt idx="21">
                  <c:v>0.57</c:v>
                </c:pt>
                <c:pt idx="22">
                  <c:v>-1.709</c:v>
                </c:pt>
                <c:pt idx="23">
                  <c:v>0.991</c:v>
                </c:pt>
                <c:pt idx="24">
                  <c:v>0.051</c:v>
                </c:pt>
                <c:pt idx="25">
                  <c:v>-0.849</c:v>
                </c:pt>
                <c:pt idx="26">
                  <c:v>-2.089</c:v>
                </c:pt>
                <c:pt idx="27">
                  <c:v>0.271</c:v>
                </c:pt>
                <c:pt idx="28">
                  <c:v>0.732</c:v>
                </c:pt>
                <c:pt idx="29">
                  <c:v>0.432</c:v>
                </c:pt>
                <c:pt idx="30">
                  <c:v>0.892</c:v>
                </c:pt>
                <c:pt idx="31">
                  <c:v>1.292</c:v>
                </c:pt>
                <c:pt idx="32">
                  <c:v>-0.948</c:v>
                </c:pt>
                <c:pt idx="33">
                  <c:v>0.013</c:v>
                </c:pt>
                <c:pt idx="34">
                  <c:v>-0.087</c:v>
                </c:pt>
                <c:pt idx="35">
                  <c:v>0.173</c:v>
                </c:pt>
                <c:pt idx="36">
                  <c:v>-0.167</c:v>
                </c:pt>
                <c:pt idx="37">
                  <c:v>0.133</c:v>
                </c:pt>
                <c:pt idx="38">
                  <c:v>1.033</c:v>
                </c:pt>
                <c:pt idx="39">
                  <c:v>-0.006</c:v>
                </c:pt>
                <c:pt idx="40">
                  <c:v>0.194</c:v>
                </c:pt>
                <c:pt idx="41">
                  <c:v>1.114</c:v>
                </c:pt>
                <c:pt idx="42">
                  <c:v>0.874</c:v>
                </c:pt>
                <c:pt idx="43">
                  <c:v>-1.426</c:v>
                </c:pt>
                <c:pt idx="44">
                  <c:v>-0.565</c:v>
                </c:pt>
                <c:pt idx="45">
                  <c:v>0.735</c:v>
                </c:pt>
                <c:pt idx="46">
                  <c:v>-1.065</c:v>
                </c:pt>
                <c:pt idx="47">
                  <c:v>-0.665</c:v>
                </c:pt>
                <c:pt idx="48">
                  <c:v>-1.365</c:v>
                </c:pt>
                <c:pt idx="49">
                  <c:v>0.495</c:v>
                </c:pt>
                <c:pt idx="50">
                  <c:v>-0.105</c:v>
                </c:pt>
                <c:pt idx="51">
                  <c:v>-0.505</c:v>
                </c:pt>
                <c:pt idx="52">
                  <c:v>-1.405</c:v>
                </c:pt>
                <c:pt idx="53">
                  <c:v>1.355</c:v>
                </c:pt>
                <c:pt idx="54">
                  <c:v>-0.845</c:v>
                </c:pt>
                <c:pt idx="55">
                  <c:v>0.476</c:v>
                </c:pt>
                <c:pt idx="56">
                  <c:v>-0.624</c:v>
                </c:pt>
                <c:pt idx="57">
                  <c:v>-1.464</c:v>
                </c:pt>
                <c:pt idx="58">
                  <c:v>1.136</c:v>
                </c:pt>
                <c:pt idx="59">
                  <c:v>0.836</c:v>
                </c:pt>
                <c:pt idx="60">
                  <c:v>-0.603</c:v>
                </c:pt>
                <c:pt idx="61">
                  <c:v>0.857</c:v>
                </c:pt>
                <c:pt idx="62">
                  <c:v>-1.283</c:v>
                </c:pt>
                <c:pt idx="63">
                  <c:v>0.317</c:v>
                </c:pt>
                <c:pt idx="64">
                  <c:v>-1.523</c:v>
                </c:pt>
                <c:pt idx="65">
                  <c:v>1.638</c:v>
                </c:pt>
                <c:pt idx="66">
                  <c:v>0.158</c:v>
                </c:pt>
                <c:pt idx="67">
                  <c:v>-0.942</c:v>
                </c:pt>
                <c:pt idx="68">
                  <c:v>-0.381</c:v>
                </c:pt>
                <c:pt idx="69">
                  <c:v>-0.081</c:v>
                </c:pt>
                <c:pt idx="70">
                  <c:v>0.679</c:v>
                </c:pt>
                <c:pt idx="71">
                  <c:v>-0.621</c:v>
                </c:pt>
                <c:pt idx="72">
                  <c:v>-0.621</c:v>
                </c:pt>
                <c:pt idx="73">
                  <c:v>-0.021</c:v>
                </c:pt>
                <c:pt idx="74">
                  <c:v>-1.321</c:v>
                </c:pt>
                <c:pt idx="75">
                  <c:v>1.539</c:v>
                </c:pt>
                <c:pt idx="76">
                  <c:v>-1.161</c:v>
                </c:pt>
                <c:pt idx="77">
                  <c:v>0.039</c:v>
                </c:pt>
                <c:pt idx="78">
                  <c:v>0.739</c:v>
                </c:pt>
                <c:pt idx="79">
                  <c:v>1</c:v>
                </c:pt>
                <c:pt idx="80">
                  <c:v>0.6</c:v>
                </c:pt>
                <c:pt idx="81">
                  <c:v>0.46</c:v>
                </c:pt>
                <c:pt idx="82">
                  <c:v>-1.04</c:v>
                </c:pt>
                <c:pt idx="83">
                  <c:v>0.82</c:v>
                </c:pt>
                <c:pt idx="84">
                  <c:v>0.22</c:v>
                </c:pt>
                <c:pt idx="85">
                  <c:v>1.82</c:v>
                </c:pt>
                <c:pt idx="86">
                  <c:v>-0.58</c:v>
                </c:pt>
                <c:pt idx="87">
                  <c:v>-0.659</c:v>
                </c:pt>
                <c:pt idx="88">
                  <c:v>0.141</c:v>
                </c:pt>
                <c:pt idx="89">
                  <c:v>-0.499</c:v>
                </c:pt>
                <c:pt idx="90">
                  <c:v>-0.339</c:v>
                </c:pt>
                <c:pt idx="91">
                  <c:v>0.461</c:v>
                </c:pt>
                <c:pt idx="92">
                  <c:v>-1.178</c:v>
                </c:pt>
                <c:pt idx="93">
                  <c:v>0.882</c:v>
                </c:pt>
                <c:pt idx="94">
                  <c:v>0.482</c:v>
                </c:pt>
                <c:pt idx="95">
                  <c:v>-0.058</c:v>
                </c:pt>
                <c:pt idx="96">
                  <c:v>0.742</c:v>
                </c:pt>
                <c:pt idx="97">
                  <c:v>-0.297</c:v>
                </c:pt>
                <c:pt idx="98">
                  <c:v>1.803</c:v>
                </c:pt>
                <c:pt idx="99">
                  <c:v>-0.937</c:v>
                </c:pt>
                <c:pt idx="100">
                  <c:v>-0.877</c:v>
                </c:pt>
                <c:pt idx="101">
                  <c:v>0.283</c:v>
                </c:pt>
                <c:pt idx="102">
                  <c:v>1.044</c:v>
                </c:pt>
                <c:pt idx="103">
                  <c:v>-0.356</c:v>
                </c:pt>
                <c:pt idx="104">
                  <c:v>-0.996</c:v>
                </c:pt>
                <c:pt idx="105">
                  <c:v>-1.396</c:v>
                </c:pt>
                <c:pt idx="106">
                  <c:v>-0.696</c:v>
                </c:pt>
                <c:pt idx="107">
                  <c:v>-0.236</c:v>
                </c:pt>
                <c:pt idx="108">
                  <c:v>-2.455</c:v>
                </c:pt>
                <c:pt idx="109">
                  <c:v>1.845</c:v>
                </c:pt>
                <c:pt idx="110">
                  <c:v>0.245</c:v>
                </c:pt>
                <c:pt idx="111">
                  <c:v>-0.155</c:v>
                </c:pt>
                <c:pt idx="112">
                  <c:v>0.706</c:v>
                </c:pt>
                <c:pt idx="113">
                  <c:v>-0.934</c:v>
                </c:pt>
                <c:pt idx="114">
                  <c:v>0.026</c:v>
                </c:pt>
                <c:pt idx="115">
                  <c:v>1.186</c:v>
                </c:pt>
                <c:pt idx="116">
                  <c:v>-0.614</c:v>
                </c:pt>
                <c:pt idx="117">
                  <c:v>-0.114</c:v>
                </c:pt>
                <c:pt idx="118">
                  <c:v>1.047</c:v>
                </c:pt>
                <c:pt idx="119">
                  <c:v>0.047</c:v>
                </c:pt>
                <c:pt idx="120">
                  <c:v>1.007</c:v>
                </c:pt>
                <c:pt idx="121">
                  <c:v>0.967</c:v>
                </c:pt>
                <c:pt idx="122">
                  <c:v>-1.133</c:v>
                </c:pt>
                <c:pt idx="123">
                  <c:v>-0.912</c:v>
                </c:pt>
                <c:pt idx="124">
                  <c:v>-1.252</c:v>
                </c:pt>
                <c:pt idx="125">
                  <c:v>0.748</c:v>
                </c:pt>
                <c:pt idx="126">
                  <c:v>0.369</c:v>
                </c:pt>
                <c:pt idx="127">
                  <c:v>0.729</c:v>
                </c:pt>
                <c:pt idx="128">
                  <c:v>-0.271</c:v>
                </c:pt>
                <c:pt idx="129">
                  <c:v>-0.971</c:v>
                </c:pt>
                <c:pt idx="130">
                  <c:v>0.189</c:v>
                </c:pt>
                <c:pt idx="131">
                  <c:v>-0.55</c:v>
                </c:pt>
                <c:pt idx="132">
                  <c:v>0.55</c:v>
                </c:pt>
                <c:pt idx="133">
                  <c:v>-1.73</c:v>
                </c:pt>
                <c:pt idx="134">
                  <c:v>0.591</c:v>
                </c:pt>
                <c:pt idx="135">
                  <c:v>-0.149</c:v>
                </c:pt>
                <c:pt idx="136">
                  <c:v>0.712</c:v>
                </c:pt>
                <c:pt idx="137">
                  <c:v>0.772</c:v>
                </c:pt>
                <c:pt idx="138">
                  <c:v>0.513</c:v>
                </c:pt>
                <c:pt idx="139">
                  <c:v>-0.866</c:v>
                </c:pt>
                <c:pt idx="140">
                  <c:v>-1.125</c:v>
                </c:pt>
                <c:pt idx="141">
                  <c:v>0.335</c:v>
                </c:pt>
                <c:pt idx="142">
                  <c:v>0.956</c:v>
                </c:pt>
                <c:pt idx="143">
                  <c:v>0.016</c:v>
                </c:pt>
                <c:pt idx="144">
                  <c:v>0.697</c:v>
                </c:pt>
                <c:pt idx="145">
                  <c:v>0.218</c:v>
                </c:pt>
                <c:pt idx="146">
                  <c:v>-1.86</c:v>
                </c:pt>
                <c:pt idx="147">
                  <c:v>0.181</c:v>
                </c:pt>
                <c:pt idx="148">
                  <c:v>-0.337</c:v>
                </c:pt>
                <c:pt idx="149">
                  <c:v>1.324</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9"/>
          <c:min val="2"/>
        </c:scaling>
        <c:delete val="0"/>
        <c:axPos val="b"/>
        <c:title>
          <c:tx>
            <c:rich>
              <a:bodyPr/>
              <a:lstStyle/>
              <a:p>
                <a:pPr>
                  <a:defRPr sz="1100" b="0" i="0" u="none" strike="noStrike">
                    <a:solidFill>
                      <a:srgbClr val="1B2430"/>
                    </a:solidFill>
                    <a:latin typeface="+mn-lt"/>
                  </a:defRPr>
                </a:pPr>
                <a:r>
                  <a:rPr sz="1100" b="0" i="0" u="none" strike="noStrike">
                    <a:solidFill>
                      <a:srgbClr val="1B2430"/>
                    </a:solidFill>
                    <a:latin typeface="+mn-lt"/>
                  </a:rPr>
                  <a:t>nota predicha</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6B7A88"/>
                </a:solidFill>
                <a:latin typeface="+mn-lt"/>
              </a:defRPr>
            </a:pPr>
            <a:endParaRPr lang="en-US"/>
          </a:p>
        </c:txPr>
        <c:crossAx val="2094734552"/>
        <c:crossesAt val="-3"/>
        <c:auto val="1"/>
        <c:lblAlgn val="ctr"/>
        <c:noMultiLvlLbl val="1"/>
      </c:valAx>
      <c:valAx>
        <c:axId val="2094734552"/>
        <c:scaling>
          <c:orientation val="minMax"/>
          <c:max val="3"/>
          <c:min val="-3"/>
        </c:scaling>
        <c:delete val="0"/>
        <c:axPos val="l"/>
        <c:majorGridlines>
          <c:spPr>
            <a:ln w="6350" cap="flat">
              <a:solidFill>
                <a:srgbClr val="E3E8EC"/>
              </a:solidFill>
              <a:prstDash val="solid"/>
              <a:round/>
            </a:ln>
          </c:spPr>
        </c:majorGridlines>
        <c:title>
          <c:tx>
            <c:rich>
              <a:bodyPr/>
              <a:lstStyle/>
              <a:p>
                <a:pPr>
                  <a:defRPr sz="1100" b="0" i="0" u="none" strike="noStrike">
                    <a:solidFill>
                      <a:srgbClr val="1B2430"/>
                    </a:solidFill>
                    <a:latin typeface="+mn-lt"/>
                  </a:defRPr>
                </a:pPr>
                <a:r>
                  <a:rPr sz="1100" b="0" i="0" u="none" strike="noStrike">
                    <a:solidFill>
                      <a:srgbClr val="1B2430"/>
                    </a:solidFill>
                    <a:latin typeface="+mn-lt"/>
                  </a:rPr>
                  <a:t>residuo</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6B7A88"/>
                </a:solidFill>
                <a:latin typeface="+mn-lt"/>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F2A3D"/>
                </a:solidFill>
                <a:latin typeface="+mn-lt"/>
              </a:defRPr>
            </a:pPr>
            <a:r>
              <a:rPr sz="1200" b="0" i="0" u="none" strike="noStrike">
                <a:solidFill>
                  <a:srgbClr val="0F2A3D"/>
                </a:solidFill>
                <a:latin typeface="+mn-lt"/>
              </a:rPr>
              <a:t>Coeficiente de horas_estudio según el modelo</a:t>
            </a:r>
          </a:p>
        </c:rich>
      </c:tx>
      <c:layout/>
      <c:overlay val="0"/>
    </c:title>
    <c:autoTitleDeleted val="0"/>
    <c:plotArea>
      <c:layout/>
      <c:barChart>
        <c:barDir val="col"/>
        <c:grouping val="clustered"/>
        <c:varyColors val="0"/>
        <c:ser>
          <c:idx val="0"/>
          <c:order val="0"/>
          <c:tx>
            <c:strRef>
              <c:f>Sheet1!$B$1</c:f>
              <c:strCache>
                <c:ptCount val="1"/>
                <c:pt idx="0">
                  <c:v>coef</c:v>
                </c:pt>
              </c:strCache>
            </c:strRef>
          </c:tx>
          <c:spPr>
            <a:solidFill>
              <a:srgbClr val="3776AB"/>
            </a:solidFill>
            <a:effectLst/>
          </c:spPr>
          <c:invertIfNegative val="0"/>
          <c:dLbls>
            <c:numFmt formatCode="0.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Sheet1!$A$2:$A$4</c:f>
              <c:multiLvlStrCache>
                <c:ptCount val="3"/>
                <c:lvl>
                  <c:pt idx="0">
                    <c:v>M1 simple</c:v>
                  </c:pt>
                  <c:pt idx="1">
                    <c:v>M2 + asistencia</c:v>
                  </c:pt>
                  <c:pt idx="2">
                    <c:v>M3 completo</c:v>
                  </c:pt>
                </c:lvl>
              </c:multiLvlStrCache>
            </c:multiLvlStrRef>
          </c:cat>
          <c:val>
            <c:numRef>
              <c:f>Sheet1!$B$2:$B$4</c:f>
              <c:numCache>
                <c:formatCode>General</c:formatCode>
                <c:ptCount val="3"/>
                <c:pt idx="0">
                  <c:v>0.4</c:v>
                </c:pt>
                <c:pt idx="1">
                  <c:v>0.35</c:v>
                </c:pt>
                <c:pt idx="2">
                  <c:v>0.31</c:v>
                </c:pt>
              </c:numCache>
            </c:numRef>
          </c:val>
        </c:ser>
        <c:dLbls>
          <c:numFmt formatCode="0.0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A88"/>
                </a:solidFill>
                <a:latin typeface="+mn-lt"/>
              </a:defRPr>
            </a:pPr>
            <a:endParaRPr lang="en-US"/>
          </a:p>
        </c:txPr>
        <c:crossAx val="2094734552"/>
        <c:crosses val="autoZero"/>
        <c:auto val="1"/>
        <c:lblAlgn val="ctr"/>
        <c:noMultiLvlLbl val="1"/>
      </c:catAx>
      <c:valAx>
        <c:axId val="2094734552"/>
        <c:scaling>
          <c:orientation val="minMax"/>
          <c:max val="0.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A8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F2A3D"/>
                </a:solidFill>
                <a:latin typeface="+mn-lt"/>
              </a:defRPr>
            </a:pPr>
            <a:r>
              <a:rPr sz="1200" b="0" i="0" u="none" strike="noStrike">
                <a:solidFill>
                  <a:srgbClr val="0F2A3D"/>
                </a:solidFill>
                <a:latin typeface="+mn-lt"/>
              </a:rPr>
              <a:t>R² y R² ajustado por modelo</a:t>
            </a:r>
          </a:p>
        </c:rich>
      </c:tx>
      <c:layout/>
      <c:overlay val="0"/>
    </c:title>
    <c:autoTitleDeleted val="0"/>
    <c:plotArea>
      <c:layout/>
      <c:barChart>
        <c:barDir val="col"/>
        <c:grouping val="clustered"/>
        <c:varyColors val="0"/>
        <c:ser>
          <c:idx val="0"/>
          <c:order val="0"/>
          <c:tx>
            <c:strRef>
              <c:f>Sheet1!$B$1</c:f>
              <c:strCache>
                <c:ptCount val="1"/>
                <c:pt idx="0">
                  <c:v>R²</c:v>
                </c:pt>
              </c:strCache>
            </c:strRef>
          </c:tx>
          <c:spPr>
            <a:solidFill>
              <a:srgbClr val="6B7A88"/>
            </a:solidFill>
            <a:effectLst/>
          </c:spPr>
          <c:invertIfNegative val="0"/>
          <c:dLbls>
            <c:numFmt formatCode="0.00" sourceLinked="0"/>
            <c:txPr>
              <a:bodyPr/>
              <a:lstStyle/>
              <a:p>
                <a:pPr>
                  <a:defRPr b="0" i="0" strike="noStrike" sz="1000" u="none">
                    <a:solidFill>
                      <a:srgbClr val="1B2430"/>
                    </a:solidFill>
                    <a:latin typeface="+mn-lt"/>
                  </a:defRPr>
                </a:pPr>
              </a:p>
            </c:txPr>
            <c:showLegendKey val="0"/>
            <c:showVal val="1"/>
            <c:showCatName val="0"/>
            <c:showSerName val="0"/>
            <c:showPercent val="0"/>
            <c:showBubbleSize val="0"/>
            <c:showLeaderLines val="0"/>
          </c:dLbls>
          <c:cat>
            <c:multiLvlStrRef>
              <c:f>Sheet1!$A$2:$A$4</c:f>
              <c:multiLvlStrCache>
                <c:ptCount val="3"/>
                <c:lvl>
                  <c:pt idx="0">
                    <c:v>M1 simple</c:v>
                  </c:pt>
                  <c:pt idx="1">
                    <c:v>M2 + asistencia</c:v>
                  </c:pt>
                  <c:pt idx="2">
                    <c:v>M3 completo</c:v>
                  </c:pt>
                </c:lvl>
              </c:multiLvlStrCache>
            </c:multiLvlStrRef>
          </c:cat>
          <c:val>
            <c:numRef>
              <c:f>Sheet1!$B$2:$B$4</c:f>
              <c:numCache>
                <c:formatCode>General</c:formatCode>
                <c:ptCount val="3"/>
                <c:pt idx="0">
                  <c:v>0.656</c:v>
                </c:pt>
                <c:pt idx="1">
                  <c:v>0.672</c:v>
                </c:pt>
                <c:pt idx="2">
                  <c:v>0.761</c:v>
                </c:pt>
              </c:numCache>
            </c:numRef>
          </c:val>
        </c:ser>
        <c:ser>
          <c:idx val="1"/>
          <c:order val="1"/>
          <c:tx>
            <c:strRef>
              <c:f>Sheet1!$C$1</c:f>
              <c:strCache>
                <c:ptCount val="1"/>
                <c:pt idx="0">
                  <c:v>R² ajustado</c:v>
                </c:pt>
              </c:strCache>
            </c:strRef>
          </c:tx>
          <c:spPr>
            <a:solidFill>
              <a:srgbClr val="1F7A8C"/>
            </a:solidFill>
            <a:effectLst/>
          </c:spPr>
          <c:invertIfNegative val="0"/>
          <c:dLbls>
            <c:numFmt formatCode="0.00" sourceLinked="0"/>
            <c:txPr>
              <a:bodyPr/>
              <a:lstStyle/>
              <a:p>
                <a:pPr>
                  <a:defRPr b="0" i="0" strike="noStrike" sz="1000" u="none">
                    <a:solidFill>
                      <a:srgbClr val="1B2430"/>
                    </a:solidFill>
                    <a:latin typeface="+mn-lt"/>
                  </a:defRPr>
                </a:pPr>
              </a:p>
            </c:txPr>
            <c:showLegendKey val="0"/>
            <c:showVal val="1"/>
            <c:showCatName val="0"/>
            <c:showSerName val="0"/>
            <c:showPercent val="0"/>
            <c:showBubbleSize val="0"/>
            <c:showLeaderLines val="0"/>
          </c:dLbls>
          <c:cat>
            <c:multiLvlStrRef>
              <c:f>Sheet1!$A$2:$A$4</c:f>
              <c:multiLvlStrCache>
                <c:ptCount val="3"/>
                <c:lvl>
                  <c:pt idx="0">
                    <c:v>M1 simple</c:v>
                  </c:pt>
                  <c:pt idx="1">
                    <c:v>M2 + asistencia</c:v>
                  </c:pt>
                  <c:pt idx="2">
                    <c:v>M3 completo</c:v>
                  </c:pt>
                </c:lvl>
              </c:multiLvlStrCache>
            </c:multiLvlStrRef>
          </c:cat>
          <c:val>
            <c:numRef>
              <c:f>Sheet1!$C$2:$C$4</c:f>
              <c:numCache>
                <c:formatCode>General</c:formatCode>
                <c:ptCount val="3"/>
                <c:pt idx="0">
                  <c:v>0.654</c:v>
                </c:pt>
                <c:pt idx="1">
                  <c:v>0.667</c:v>
                </c:pt>
                <c:pt idx="2">
                  <c:v>0.751</c:v>
                </c:pt>
              </c:numCache>
            </c:numRef>
          </c:val>
        </c:ser>
        <c:dLbls>
          <c:numFmt formatCode="0.00" sourceLinked="0"/>
          <c:txPr>
            <a:bodyPr/>
            <a:lstStyle/>
            <a:p>
              <a:pPr>
                <a:defRPr b="0" i="0" strike="noStrike" sz="10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A88"/>
                </a:solidFill>
                <a:latin typeface="+mn-lt"/>
              </a:defRPr>
            </a:pPr>
            <a:endParaRPr lang="en-US"/>
          </a:p>
        </c:txPr>
        <c:crossAx val="2094734552"/>
        <c:crosses val="autoZero"/>
        <c:auto val="1"/>
        <c:lblAlgn val="ctr"/>
        <c:noMultiLvlLbl val="1"/>
      </c:catAx>
      <c:valAx>
        <c:axId val="2094734552"/>
        <c:scaling>
          <c:orientation val="minMax"/>
          <c:max val="1"/>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A8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Última unidad del módulo. Usamos todo lo anterior —datos limpios, faltantes tratados, variables bien definidas— para responder una pregunta con un modelo estadístico.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unidad 6 cierra el módulo. El objetivo no es solo ajustar modelos, sino leerlos e interpretarlos con criterio.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datos/rendimiento.csv. Los 4 faltantes en horas_sueno conectan con la Unidad 3: habrá que decidir y documentar qué hacer con ellos.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Ejemplos del repositorio: 12_correlacion.py, 13_regresion_simple.py, 14_regresion_multiple.py y 15_prediccion_evaluacion.py.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escala es orientativa. El dato de r = 0,62 entre horas de estudio y asistencia es la semilla de la regresión múltiple: parte del efecto que atribuimos a estudiar podría deberse a asistir.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Colab: plt.scatter(df['horas_estudio'], df['nota_final']). Cada punto es un estudiante. Izquierda: tendencia clara hacia arriba. Derecha: sin patrón.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b1 también se puede calcular a mano: cov(x, y) / var(x) = 0,397. El ejemplo 13 lo comprueba. El intercepto rara vez se interpreta literalmente.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 summary interesan cuatro números: el coeficiente, su p-valor, el R² y el número de observaciones. p &lt; 0,05 indica que es muy improbable observar esta pendiente si en realidad no hubiera relación.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Pedir a los estudiantes que escriban la interpretación en una celda de texto del notebook, con unidades. Es la habilidad más importante de la unidad.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los residuos se ven razonables: nube sin forma, ancho similar en todo el rango. Si apareciera una curva, la relación no sería lineal y la recta sería un mal resumen.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Concepto clave: variable de confusión. 'Manteniendo constante el resto' es la frase que acompaña cada coeficiente de una regresión múltiple.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le indica a statsmodels que la variable es categórica y la convierte en columnas 0/1. horas_sueno no aporta: p = 0,65. Matemáticas está en el límite, pero curso se conserva porque Química sí difiere: una variable categórica se decide completa.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Quitar horas_sueno deja el R² ajustado prácticamente igual (0,752): modelo más simple, misma capacidad explicativa. Ese es el modelo final del ejemplo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statsmodels es ideal para explicar (p-valores, interpretación); scikit-learn, para predecir y evaluar. random_state=42 hace que todos obtengan la misma división.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flujo resume la unidad y conecta con todo el módulo: sin las unidades 1 a 5, el paso 1 no es posible.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ejercicios usan la asistencia (en vez de las horas de estudio de los ejemplos) para que los estudiantes repliquen el método con otra variable. Incluye una celda de interpretación para completar con palabras.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Comparar con horas_estudio (R² = 0,64): la asistencia explica bastante menos por sí sola.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 pregunta para discutir: ¿significa esto que dormir no importa? No: significa que en este rango de horas y con estos datos no hay evidencia de efecto.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del módulo. Cada unidad es un paso del mismo flujo: cargar, explorar, filtrar, transformar, integrar, limpiar y modelar.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4937760" cy="146304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3" name="Text 0"/>
          <p:cNvSpPr/>
          <p:nvPr>
            <p:ph idx="101" type="body" hasCustomPrompt="1"/>
          </p:nvPr>
        </p:nvSpPr>
        <p:spPr>
          <a:xfrm>
            <a:off x="548640" y="2788920"/>
            <a:ext cx="4754880" cy="1097280"/>
          </a:xfrm>
          <a:prstGeom prst="rect">
            <a:avLst/>
          </a:prstGeom>
          <a:noFill/>
          <a:ln/>
        </p:spPr>
        <p:txBody>
          <a:bodyPr wrap="square" rtlCol="0"/>
          <a:lstStyle>
            <a:lvl1pPr indent="0" marL="0">
              <a:buNone/>
              <a:defRPr lang="en-US" sz="1600" dirty="0">
                <a:solidFill>
                  <a:schemeClr val="accent1"/>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C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011680" y="1600200"/>
            <a:ext cx="6583680" cy="9144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2011680" y="2651760"/>
            <a:ext cx="6400800" cy="109728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56032"/>
          </a:xfrm>
          <a:prstGeom prst="rect">
            <a:avLst/>
          </a:prstGeom>
          <a:noFill/>
          <a:ln/>
        </p:spPr>
        <p:txBody>
          <a:bodyPr wrap="square" rtlCol="0"/>
          <a:lstStyle>
            <a:lvl1pPr indent="0" marL="0">
              <a:buNone/>
              <a:defRPr lang="en-US" sz="1100" b="1" spc="100" kern="0" dirty="0">
                <a:solidFill>
                  <a:schemeClr val="accent3"/>
                </a:solidFill>
              </a:defRPr>
            </a:lvl1pPr>
          </a:lstStyle>
          <a:p>
            <a:pPr indent="0" marL="0">
              <a:buNone/>
            </a:pP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4" name="Text 0"/>
          <p:cNvSpPr/>
          <p:nvPr/>
        </p:nvSpPr>
        <p:spPr>
          <a:xfrm>
            <a:off x="457200" y="4773168"/>
            <a:ext cx="5486400" cy="228600"/>
          </a:xfrm>
          <a:prstGeom prst="rect">
            <a:avLst/>
          </a:prstGeom>
          <a:noFill/>
          <a:ln/>
        </p:spPr>
        <p:txBody>
          <a:bodyPr wrap="square" lIns="0" tIns="0" rIns="0" bIns="0" rtlCol="0" anchor="ctr"/>
          <a:lstStyle/>
          <a:p>
            <a:pPr indent="0" marL="0">
              <a:buNone/>
            </a:pPr>
            <a:r>
              <a:rPr lang="en-US" sz="900" dirty="0">
                <a:solidFill>
                  <a:schemeClr val="accent6"/>
                </a:solidFill>
              </a:rPr>
              <a:t>Programación en Python · Pandas en Google Colab · Parte 3</a:t>
            </a:r>
            <a:endParaRPr lang="en-US" sz="9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4937760" cy="1463040"/>
          </a:xfrm>
          <a:prstGeom prst="rect">
            <a:avLst/>
          </a:prstGeom>
          <a:noFill/>
          <a:ln/>
        </p:spPr>
        <p:txBody>
          <a:bodyPr wrap="square" lIns="0" tIns="0" rIns="0" bIns="0" rtlCol="0" anchor="b"/>
          <a:lstStyle/>
          <a:p>
            <a:pPr algn="l" indent="0" marL="0">
              <a:buNone/>
            </a:pPr>
            <a:r>
              <a:rPr lang="en-US" sz="4200" b="1" dirty="0">
                <a:solidFill>
                  <a:schemeClr val="bg1"/>
                </a:solidFill>
              </a:rPr>
              <a:t>Pandas en Google Colab · Parte 3</a:t>
            </a:r>
            <a:endParaRPr lang="en-US" sz="4200" dirty="0"/>
          </a:p>
        </p:txBody>
      </p:sp>
      <p:sp>
        <p:nvSpPr>
          <p:cNvPr id="3" name="Text 0"/>
          <p:cNvSpPr/>
          <p:nvPr>
            <p:ph idx="101" type="body" hasCustomPrompt="1"/>
          </p:nvPr>
        </p:nvSpPr>
        <p:spPr>
          <a:xfrm>
            <a:off x="548640" y="2788920"/>
            <a:ext cx="4754880" cy="1097280"/>
          </a:xfrm>
          <a:prstGeom prst="rect">
            <a:avLst/>
          </a:prstGeom>
          <a:noFill/>
          <a:ln/>
        </p:spPr>
        <p:txBody>
          <a:bodyPr wrap="square" lIns="0" tIns="0" rIns="0" bIns="0" rtlCol="0" anchor="t"/>
          <a:lstStyle/>
          <a:p>
            <a:pPr indent="0" marL="0">
              <a:buNone/>
            </a:pPr>
            <a:r>
              <a:rPr lang="en-US" sz="1600" dirty="0">
                <a:solidFill>
                  <a:schemeClr val="accent1"/>
                </a:solidFill>
              </a:rPr>
              <a:t>Uso estadístico con Python</a:t>
            </a:r>
            <a:endParaRPr lang="en-US" sz="1600" dirty="0"/>
          </a:p>
          <a:p>
            <a:pPr indent="0" marL="0">
              <a:buNone/>
            </a:pPr>
            <a:r>
              <a:rPr lang="en-US" sz="1600" dirty="0">
                <a:solidFill>
                  <a:schemeClr val="accent1"/>
                </a:solidFill>
              </a:rPr>
              <a:t>Regresión lineal simple y múltiple</a:t>
            </a:r>
            <a:endParaRPr lang="en-US" sz="1600" dirty="0"/>
          </a:p>
        </p:txBody>
      </p:sp>
      <p:sp>
        <p:nvSpPr>
          <p:cNvPr id="4" name="Bloque de código"/>
          <p:cNvSpPr/>
          <p:nvPr/>
        </p:nvSpPr>
        <p:spPr>
          <a:xfrm>
            <a:off x="5760720" y="1280160"/>
            <a:ext cx="2926080" cy="2560320"/>
          </a:xfrm>
          <a:prstGeom prst="roundRect">
            <a:avLst>
              <a:gd name="adj" fmla="val 2857"/>
            </a:avLst>
          </a:prstGeom>
          <a:solidFill>
            <a:schemeClr val="tx2"/>
          </a:solidFill>
          <a:ln w="12700">
            <a:solidFill>
              <a:schemeClr val="tx2"/>
            </a:solidFill>
            <a:prstDash val="solid"/>
          </a:ln>
        </p:spPr>
      </p:sp>
      <p:sp>
        <p:nvSpPr>
          <p:cNvPr id="5" name="Text 3"/>
          <p:cNvSpPr txBox="1"/>
          <p:nvPr/>
        </p:nvSpPr>
        <p:spPr>
          <a:xfrm>
            <a:off x="5897880" y="1371600"/>
            <a:ext cx="2651760" cy="2377440"/>
          </a:xfrm>
          <a:prstGeom prst="rect">
            <a:avLst/>
          </a:prstGeom>
          <a:noFill/>
          <a:ln/>
        </p:spPr>
        <p:txBody>
          <a:bodyPr wrap="square" lIns="0" tIns="0" rIns="0" bIns="0" rtlCol="0" anchor="t"/>
          <a:lstStyle/>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import statsmodels</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.formula.api as smf</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m = smf.ols(</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"nota ~ horas",</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data=df).fit()</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spcAft>
                <a:spcPts val="200"/>
              </a:spcAft>
              <a:buNone/>
            </a:pPr>
            <a:r>
              <a:rPr lang="en-US" sz="1300" dirty="0">
                <a:solidFill>
                  <a:schemeClr val="accent5"/>
                </a:solidFill>
                <a:latin typeface="Courier New" pitchFamily="34" charset="0"/>
                <a:ea typeface="Courier New" pitchFamily="34" charset="-122"/>
                <a:cs typeface="Courier New" pitchFamily="34" charset="-120"/>
              </a:rPr>
              <a:t># ¿cuánto explica?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56032"/>
          </a:xfrm>
          <a:prstGeom prst="rect">
            <a:avLst/>
          </a:prstGeom>
          <a:noFill/>
          <a:ln/>
        </p:spPr>
        <p:txBody>
          <a:bodyPr wrap="square" lIns="0" tIns="0" rIns="0" bIns="0" rtlCol="0"/>
          <a:lstStyle/>
          <a:p>
            <a:pPr indent="0" marL="0">
              <a:buNone/>
            </a:pPr>
            <a:r>
              <a:rPr lang="en-US" sz="1100" b="1" spc="100" kern="0" dirty="0">
                <a:solidFill>
                  <a:schemeClr val="accent3"/>
                </a:solidFill>
              </a:rPr>
              <a:t>RUTA DE APRENDIZAJE</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Con los datos preparados, llega la hora de modelar</a:t>
            </a:r>
            <a:endParaRPr lang="en-US" sz="2800" dirty="0"/>
          </a:p>
        </p:txBody>
      </p:sp>
      <p:sp>
        <p:nvSpPr>
          <p:cNvPr id="4" name="Tarjeta"/>
          <p:cNvSpPr/>
          <p:nvPr/>
        </p:nvSpPr>
        <p:spPr>
          <a:xfrm>
            <a:off x="457200" y="1325880"/>
            <a:ext cx="1252728" cy="2468880"/>
          </a:xfrm>
          <a:prstGeom prst="roundRect">
            <a:avLst>
              <a:gd name="adj" fmla="val 5839"/>
            </a:avLst>
          </a:prstGeom>
          <a:solidFill>
            <a:schemeClr val="bg2"/>
          </a:solidFill>
          <a:ln w="12700">
            <a:solidFill>
              <a:schemeClr val="bg2"/>
            </a:solidFill>
            <a:prstDash val="solid"/>
          </a:ln>
        </p:spPr>
      </p:sp>
      <p:sp>
        <p:nvSpPr>
          <p:cNvPr id="5" name="Círculo número"/>
          <p:cNvSpPr/>
          <p:nvPr/>
        </p:nvSpPr>
        <p:spPr>
          <a:xfrm>
            <a:off x="576072" y="1463040"/>
            <a:ext cx="457200" cy="457200"/>
          </a:xfrm>
          <a:prstGeom prst="ellipse">
            <a:avLst/>
          </a:prstGeom>
          <a:solidFill>
            <a:schemeClr val="accent5"/>
          </a:solidFill>
          <a:ln w="12700">
            <a:solidFill>
              <a:schemeClr val="accent5"/>
            </a:solidFill>
            <a:prstDash val="solid"/>
          </a:ln>
        </p:spPr>
      </p:sp>
      <p:sp>
        <p:nvSpPr>
          <p:cNvPr id="6" name="Text 4"/>
          <p:cNvSpPr txBox="1"/>
          <p:nvPr/>
        </p:nvSpPr>
        <p:spPr>
          <a:xfrm>
            <a:off x="576072" y="146304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7" name="Text 5"/>
          <p:cNvSpPr txBox="1"/>
          <p:nvPr/>
        </p:nvSpPr>
        <p:spPr>
          <a:xfrm>
            <a:off x="576072" y="2057400"/>
            <a:ext cx="1014984" cy="914400"/>
          </a:xfrm>
          <a:prstGeom prst="rect">
            <a:avLst/>
          </a:prstGeom>
          <a:noFill/>
          <a:ln/>
        </p:spPr>
        <p:txBody>
          <a:bodyPr wrap="square" lIns="0" tIns="0" rIns="0" bIns="0" rtlCol="0" anchor="t"/>
          <a:lstStyle/>
          <a:p>
            <a:pPr indent="0" marL="0">
              <a:buNone/>
            </a:pPr>
            <a:r>
              <a:rPr lang="en-US" sz="1300" b="1" dirty="0">
                <a:solidFill>
                  <a:schemeClr val="tx2"/>
                </a:solidFill>
              </a:rPr>
              <a:t>Introducción a Pandas</a:t>
            </a:r>
            <a:endParaRPr lang="en-US" sz="1300" dirty="0"/>
          </a:p>
        </p:txBody>
      </p:sp>
      <p:sp>
        <p:nvSpPr>
          <p:cNvPr id="8" name="Text 6"/>
          <p:cNvSpPr txBox="1"/>
          <p:nvPr/>
        </p:nvSpPr>
        <p:spPr>
          <a:xfrm>
            <a:off x="576072" y="3383280"/>
            <a:ext cx="1014984" cy="274320"/>
          </a:xfrm>
          <a:prstGeom prst="rect">
            <a:avLst/>
          </a:prstGeom>
          <a:noFill/>
          <a:ln/>
        </p:spPr>
        <p:txBody>
          <a:bodyPr wrap="square" lIns="0" tIns="0" rIns="0" bIns="0" rtlCol="0" anchor="ctr"/>
          <a:lstStyle/>
          <a:p>
            <a:pPr indent="0" marL="0">
              <a:buNone/>
            </a:pPr>
            <a:r>
              <a:rPr lang="en-US" sz="1100" b="1" dirty="0">
                <a:solidFill>
                  <a:schemeClr val="accent3"/>
                </a:solidFill>
              </a:rPr>
              <a:t>Completado ✓</a:t>
            </a:r>
            <a:endParaRPr lang="en-US" sz="1100" dirty="0"/>
          </a:p>
        </p:txBody>
      </p:sp>
      <p:sp>
        <p:nvSpPr>
          <p:cNvPr id="9" name="Tarjeta"/>
          <p:cNvSpPr/>
          <p:nvPr/>
        </p:nvSpPr>
        <p:spPr>
          <a:xfrm>
            <a:off x="1852574" y="1325880"/>
            <a:ext cx="1252728" cy="2468880"/>
          </a:xfrm>
          <a:prstGeom prst="roundRect">
            <a:avLst>
              <a:gd name="adj" fmla="val 5839"/>
            </a:avLst>
          </a:prstGeom>
          <a:solidFill>
            <a:schemeClr val="bg2"/>
          </a:solidFill>
          <a:ln w="12700">
            <a:solidFill>
              <a:schemeClr val="bg2"/>
            </a:solidFill>
            <a:prstDash val="solid"/>
          </a:ln>
        </p:spPr>
      </p:sp>
      <p:sp>
        <p:nvSpPr>
          <p:cNvPr id="10" name="Círculo número"/>
          <p:cNvSpPr/>
          <p:nvPr/>
        </p:nvSpPr>
        <p:spPr>
          <a:xfrm>
            <a:off x="1971446" y="1463040"/>
            <a:ext cx="457200" cy="457200"/>
          </a:xfrm>
          <a:prstGeom prst="ellipse">
            <a:avLst/>
          </a:prstGeom>
          <a:solidFill>
            <a:schemeClr val="accent5"/>
          </a:solidFill>
          <a:ln w="12700">
            <a:solidFill>
              <a:schemeClr val="accent5"/>
            </a:solidFill>
            <a:prstDash val="solid"/>
          </a:ln>
        </p:spPr>
      </p:sp>
      <p:sp>
        <p:nvSpPr>
          <p:cNvPr id="11" name="Text 9"/>
          <p:cNvSpPr txBox="1"/>
          <p:nvPr/>
        </p:nvSpPr>
        <p:spPr>
          <a:xfrm>
            <a:off x="1971446" y="146304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12" name="Text 10"/>
          <p:cNvSpPr txBox="1"/>
          <p:nvPr/>
        </p:nvSpPr>
        <p:spPr>
          <a:xfrm>
            <a:off x="1971446" y="2057400"/>
            <a:ext cx="1014984" cy="914400"/>
          </a:xfrm>
          <a:prstGeom prst="rect">
            <a:avLst/>
          </a:prstGeom>
          <a:noFill/>
          <a:ln/>
        </p:spPr>
        <p:txBody>
          <a:bodyPr wrap="square" lIns="0" tIns="0" rIns="0" bIns="0" rtlCol="0" anchor="t"/>
          <a:lstStyle/>
          <a:p>
            <a:pPr indent="0" marL="0">
              <a:buNone/>
            </a:pPr>
            <a:r>
              <a:rPr lang="en-US" sz="1300" b="1" dirty="0">
                <a:solidFill>
                  <a:schemeClr val="tx2"/>
                </a:solidFill>
              </a:rPr>
              <a:t>Filtrar y ordenar</a:t>
            </a:r>
            <a:endParaRPr lang="en-US" sz="1300" dirty="0"/>
          </a:p>
        </p:txBody>
      </p:sp>
      <p:sp>
        <p:nvSpPr>
          <p:cNvPr id="13" name="Text 11"/>
          <p:cNvSpPr txBox="1"/>
          <p:nvPr/>
        </p:nvSpPr>
        <p:spPr>
          <a:xfrm>
            <a:off x="1971446" y="3383280"/>
            <a:ext cx="1014984" cy="274320"/>
          </a:xfrm>
          <a:prstGeom prst="rect">
            <a:avLst/>
          </a:prstGeom>
          <a:noFill/>
          <a:ln/>
        </p:spPr>
        <p:txBody>
          <a:bodyPr wrap="square" lIns="0" tIns="0" rIns="0" bIns="0" rtlCol="0" anchor="ctr"/>
          <a:lstStyle/>
          <a:p>
            <a:pPr indent="0" marL="0">
              <a:buNone/>
            </a:pPr>
            <a:r>
              <a:rPr lang="en-US" sz="1100" b="1" dirty="0">
                <a:solidFill>
                  <a:schemeClr val="accent3"/>
                </a:solidFill>
              </a:rPr>
              <a:t>Completado ✓</a:t>
            </a:r>
            <a:endParaRPr lang="en-US" sz="1100" dirty="0"/>
          </a:p>
        </p:txBody>
      </p:sp>
      <p:sp>
        <p:nvSpPr>
          <p:cNvPr id="14" name="Tarjeta"/>
          <p:cNvSpPr/>
          <p:nvPr/>
        </p:nvSpPr>
        <p:spPr>
          <a:xfrm>
            <a:off x="3247949" y="1325880"/>
            <a:ext cx="1252728" cy="2468880"/>
          </a:xfrm>
          <a:prstGeom prst="roundRect">
            <a:avLst>
              <a:gd name="adj" fmla="val 5839"/>
            </a:avLst>
          </a:prstGeom>
          <a:solidFill>
            <a:schemeClr val="bg2"/>
          </a:solidFill>
          <a:ln w="12700">
            <a:solidFill>
              <a:schemeClr val="bg2"/>
            </a:solidFill>
            <a:prstDash val="solid"/>
          </a:ln>
        </p:spPr>
      </p:sp>
      <p:sp>
        <p:nvSpPr>
          <p:cNvPr id="15" name="Círculo número"/>
          <p:cNvSpPr/>
          <p:nvPr/>
        </p:nvSpPr>
        <p:spPr>
          <a:xfrm>
            <a:off x="3366821" y="1463040"/>
            <a:ext cx="457200" cy="457200"/>
          </a:xfrm>
          <a:prstGeom prst="ellipse">
            <a:avLst/>
          </a:prstGeom>
          <a:solidFill>
            <a:schemeClr val="accent5"/>
          </a:solidFill>
          <a:ln w="12700">
            <a:solidFill>
              <a:schemeClr val="accent5"/>
            </a:solidFill>
            <a:prstDash val="solid"/>
          </a:ln>
        </p:spPr>
      </p:sp>
      <p:sp>
        <p:nvSpPr>
          <p:cNvPr id="16" name="Text 14"/>
          <p:cNvSpPr txBox="1"/>
          <p:nvPr/>
        </p:nvSpPr>
        <p:spPr>
          <a:xfrm>
            <a:off x="3366821" y="146304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7" name="Text 15"/>
          <p:cNvSpPr txBox="1"/>
          <p:nvPr/>
        </p:nvSpPr>
        <p:spPr>
          <a:xfrm>
            <a:off x="3366821" y="2057400"/>
            <a:ext cx="1014984" cy="914400"/>
          </a:xfrm>
          <a:prstGeom prst="rect">
            <a:avLst/>
          </a:prstGeom>
          <a:noFill/>
          <a:ln/>
        </p:spPr>
        <p:txBody>
          <a:bodyPr wrap="square" lIns="0" tIns="0" rIns="0" bIns="0" rtlCol="0" anchor="t"/>
          <a:lstStyle/>
          <a:p>
            <a:pPr indent="0" marL="0">
              <a:buNone/>
            </a:pPr>
            <a:r>
              <a:rPr lang="en-US" sz="1300" b="1" dirty="0">
                <a:solidFill>
                  <a:schemeClr val="tx2"/>
                </a:solidFill>
              </a:rPr>
              <a:t>Transformar y faltantes</a:t>
            </a:r>
            <a:endParaRPr lang="en-US" sz="1300" dirty="0"/>
          </a:p>
        </p:txBody>
      </p:sp>
      <p:sp>
        <p:nvSpPr>
          <p:cNvPr id="18" name="Text 16"/>
          <p:cNvSpPr txBox="1"/>
          <p:nvPr/>
        </p:nvSpPr>
        <p:spPr>
          <a:xfrm>
            <a:off x="3366821" y="3383280"/>
            <a:ext cx="1014984" cy="274320"/>
          </a:xfrm>
          <a:prstGeom prst="rect">
            <a:avLst/>
          </a:prstGeom>
          <a:noFill/>
          <a:ln/>
        </p:spPr>
        <p:txBody>
          <a:bodyPr wrap="square" lIns="0" tIns="0" rIns="0" bIns="0" rtlCol="0" anchor="ctr"/>
          <a:lstStyle/>
          <a:p>
            <a:pPr indent="0" marL="0">
              <a:buNone/>
            </a:pPr>
            <a:r>
              <a:rPr lang="en-US" sz="1100" b="1" dirty="0">
                <a:solidFill>
                  <a:schemeClr val="accent3"/>
                </a:solidFill>
              </a:rPr>
              <a:t>Completado ✓</a:t>
            </a:r>
            <a:endParaRPr lang="en-US" sz="1100" dirty="0"/>
          </a:p>
        </p:txBody>
      </p:sp>
      <p:sp>
        <p:nvSpPr>
          <p:cNvPr id="19" name="Tarjeta"/>
          <p:cNvSpPr/>
          <p:nvPr/>
        </p:nvSpPr>
        <p:spPr>
          <a:xfrm>
            <a:off x="4643323" y="1325880"/>
            <a:ext cx="1252728" cy="2468880"/>
          </a:xfrm>
          <a:prstGeom prst="roundRect">
            <a:avLst>
              <a:gd name="adj" fmla="val 5839"/>
            </a:avLst>
          </a:prstGeom>
          <a:solidFill>
            <a:schemeClr val="bg2"/>
          </a:solidFill>
          <a:ln w="12700">
            <a:solidFill>
              <a:schemeClr val="bg2"/>
            </a:solidFill>
            <a:prstDash val="solid"/>
          </a:ln>
        </p:spPr>
      </p:sp>
      <p:sp>
        <p:nvSpPr>
          <p:cNvPr id="20" name="Círculo número"/>
          <p:cNvSpPr/>
          <p:nvPr/>
        </p:nvSpPr>
        <p:spPr>
          <a:xfrm>
            <a:off x="4762195" y="1463040"/>
            <a:ext cx="457200" cy="457200"/>
          </a:xfrm>
          <a:prstGeom prst="ellipse">
            <a:avLst/>
          </a:prstGeom>
          <a:solidFill>
            <a:schemeClr val="accent5"/>
          </a:solidFill>
          <a:ln w="12700">
            <a:solidFill>
              <a:schemeClr val="accent5"/>
            </a:solidFill>
            <a:prstDash val="solid"/>
          </a:ln>
        </p:spPr>
      </p:sp>
      <p:sp>
        <p:nvSpPr>
          <p:cNvPr id="21" name="Text 19"/>
          <p:cNvSpPr txBox="1"/>
          <p:nvPr/>
        </p:nvSpPr>
        <p:spPr>
          <a:xfrm>
            <a:off x="4762195" y="146304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22" name="Text 20"/>
          <p:cNvSpPr txBox="1"/>
          <p:nvPr/>
        </p:nvSpPr>
        <p:spPr>
          <a:xfrm>
            <a:off x="4762195" y="2057400"/>
            <a:ext cx="1014984" cy="914400"/>
          </a:xfrm>
          <a:prstGeom prst="rect">
            <a:avLst/>
          </a:prstGeom>
          <a:noFill/>
          <a:ln/>
        </p:spPr>
        <p:txBody>
          <a:bodyPr wrap="square" lIns="0" tIns="0" rIns="0" bIns="0" rtlCol="0" anchor="t"/>
          <a:lstStyle/>
          <a:p>
            <a:pPr indent="0" marL="0">
              <a:buNone/>
            </a:pPr>
            <a:r>
              <a:rPr lang="en-US" sz="1300" b="1" dirty="0">
                <a:solidFill>
                  <a:schemeClr val="tx2"/>
                </a:solidFill>
              </a:rPr>
              <a:t>Combinar tablas</a:t>
            </a:r>
            <a:endParaRPr lang="en-US" sz="1300" dirty="0"/>
          </a:p>
        </p:txBody>
      </p:sp>
      <p:sp>
        <p:nvSpPr>
          <p:cNvPr id="23" name="Text 21"/>
          <p:cNvSpPr txBox="1"/>
          <p:nvPr/>
        </p:nvSpPr>
        <p:spPr>
          <a:xfrm>
            <a:off x="4762195" y="3383280"/>
            <a:ext cx="1014984" cy="274320"/>
          </a:xfrm>
          <a:prstGeom prst="rect">
            <a:avLst/>
          </a:prstGeom>
          <a:noFill/>
          <a:ln/>
        </p:spPr>
        <p:txBody>
          <a:bodyPr wrap="square" lIns="0" tIns="0" rIns="0" bIns="0" rtlCol="0" anchor="ctr"/>
          <a:lstStyle/>
          <a:p>
            <a:pPr indent="0" marL="0">
              <a:buNone/>
            </a:pPr>
            <a:r>
              <a:rPr lang="en-US" sz="1100" b="1" dirty="0">
                <a:solidFill>
                  <a:schemeClr val="accent3"/>
                </a:solidFill>
              </a:rPr>
              <a:t>Completado ✓</a:t>
            </a:r>
            <a:endParaRPr lang="en-US" sz="1100" dirty="0"/>
          </a:p>
        </p:txBody>
      </p:sp>
      <p:sp>
        <p:nvSpPr>
          <p:cNvPr id="24" name="Tarjeta"/>
          <p:cNvSpPr/>
          <p:nvPr/>
        </p:nvSpPr>
        <p:spPr>
          <a:xfrm>
            <a:off x="6038698" y="1325880"/>
            <a:ext cx="1252728" cy="2468880"/>
          </a:xfrm>
          <a:prstGeom prst="roundRect">
            <a:avLst>
              <a:gd name="adj" fmla="val 5839"/>
            </a:avLst>
          </a:prstGeom>
          <a:solidFill>
            <a:schemeClr val="bg2"/>
          </a:solidFill>
          <a:ln w="12700">
            <a:solidFill>
              <a:schemeClr val="bg2"/>
            </a:solidFill>
            <a:prstDash val="solid"/>
          </a:ln>
        </p:spPr>
      </p:sp>
      <p:sp>
        <p:nvSpPr>
          <p:cNvPr id="25" name="Círculo número"/>
          <p:cNvSpPr/>
          <p:nvPr/>
        </p:nvSpPr>
        <p:spPr>
          <a:xfrm>
            <a:off x="6157570" y="1463040"/>
            <a:ext cx="457200" cy="457200"/>
          </a:xfrm>
          <a:prstGeom prst="ellipse">
            <a:avLst/>
          </a:prstGeom>
          <a:solidFill>
            <a:schemeClr val="accent5"/>
          </a:solidFill>
          <a:ln w="12700">
            <a:solidFill>
              <a:schemeClr val="accent5"/>
            </a:solidFill>
            <a:prstDash val="solid"/>
          </a:ln>
        </p:spPr>
      </p:sp>
      <p:sp>
        <p:nvSpPr>
          <p:cNvPr id="26" name="Text 24"/>
          <p:cNvSpPr txBox="1"/>
          <p:nvPr/>
        </p:nvSpPr>
        <p:spPr>
          <a:xfrm>
            <a:off x="6157570" y="146304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5</a:t>
            </a:r>
            <a:endParaRPr lang="en-US" sz="1600" dirty="0"/>
          </a:p>
        </p:txBody>
      </p:sp>
      <p:sp>
        <p:nvSpPr>
          <p:cNvPr id="27" name="Text 25"/>
          <p:cNvSpPr txBox="1"/>
          <p:nvPr/>
        </p:nvSpPr>
        <p:spPr>
          <a:xfrm>
            <a:off x="6157570" y="2057400"/>
            <a:ext cx="1014984" cy="914400"/>
          </a:xfrm>
          <a:prstGeom prst="rect">
            <a:avLst/>
          </a:prstGeom>
          <a:noFill/>
          <a:ln/>
        </p:spPr>
        <p:txBody>
          <a:bodyPr wrap="square" lIns="0" tIns="0" rIns="0" bIns="0" rtlCol="0" anchor="t"/>
          <a:lstStyle/>
          <a:p>
            <a:pPr indent="0" marL="0">
              <a:buNone/>
            </a:pPr>
            <a:r>
              <a:rPr lang="en-US" sz="1300" b="1" dirty="0">
                <a:solidFill>
                  <a:schemeClr val="tx2"/>
                </a:solidFill>
              </a:rPr>
              <a:t>Limpieza de datos</a:t>
            </a:r>
            <a:endParaRPr lang="en-US" sz="1300" dirty="0"/>
          </a:p>
        </p:txBody>
      </p:sp>
      <p:sp>
        <p:nvSpPr>
          <p:cNvPr id="28" name="Text 26"/>
          <p:cNvSpPr txBox="1"/>
          <p:nvPr/>
        </p:nvSpPr>
        <p:spPr>
          <a:xfrm>
            <a:off x="6157570" y="3383280"/>
            <a:ext cx="1014984" cy="274320"/>
          </a:xfrm>
          <a:prstGeom prst="rect">
            <a:avLst/>
          </a:prstGeom>
          <a:noFill/>
          <a:ln/>
        </p:spPr>
        <p:txBody>
          <a:bodyPr wrap="square" lIns="0" tIns="0" rIns="0" bIns="0" rtlCol="0" anchor="ctr"/>
          <a:lstStyle/>
          <a:p>
            <a:pPr indent="0" marL="0">
              <a:buNone/>
            </a:pPr>
            <a:r>
              <a:rPr lang="en-US" sz="1100" b="1" dirty="0">
                <a:solidFill>
                  <a:schemeClr val="accent3"/>
                </a:solidFill>
              </a:rPr>
              <a:t>Completado ✓</a:t>
            </a:r>
            <a:endParaRPr lang="en-US" sz="1100" dirty="0"/>
          </a:p>
        </p:txBody>
      </p:sp>
      <p:sp>
        <p:nvSpPr>
          <p:cNvPr id="29" name="Tarjeta"/>
          <p:cNvSpPr/>
          <p:nvPr/>
        </p:nvSpPr>
        <p:spPr>
          <a:xfrm>
            <a:off x="7434072" y="1325880"/>
            <a:ext cx="1252728" cy="2468880"/>
          </a:xfrm>
          <a:prstGeom prst="roundRect">
            <a:avLst>
              <a:gd name="adj" fmla="val 5839"/>
            </a:avLst>
          </a:prstGeom>
          <a:solidFill>
            <a:schemeClr val="tx2"/>
          </a:solidFill>
          <a:ln w="12700">
            <a:solidFill>
              <a:schemeClr val="tx2"/>
            </a:solidFill>
            <a:prstDash val="solid"/>
          </a:ln>
        </p:spPr>
      </p:sp>
      <p:sp>
        <p:nvSpPr>
          <p:cNvPr id="30" name="Círculo número"/>
          <p:cNvSpPr/>
          <p:nvPr/>
        </p:nvSpPr>
        <p:spPr>
          <a:xfrm>
            <a:off x="7552944" y="1463040"/>
            <a:ext cx="457200" cy="457200"/>
          </a:xfrm>
          <a:prstGeom prst="ellipse">
            <a:avLst/>
          </a:prstGeom>
          <a:solidFill>
            <a:schemeClr val="accent1"/>
          </a:solidFill>
          <a:ln w="12700">
            <a:solidFill>
              <a:schemeClr val="accent1"/>
            </a:solidFill>
            <a:prstDash val="solid"/>
          </a:ln>
        </p:spPr>
      </p:sp>
      <p:sp>
        <p:nvSpPr>
          <p:cNvPr id="31" name="Text 29"/>
          <p:cNvSpPr txBox="1"/>
          <p:nvPr/>
        </p:nvSpPr>
        <p:spPr>
          <a:xfrm>
            <a:off x="7552944" y="146304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6</a:t>
            </a:r>
            <a:endParaRPr lang="en-US" sz="1600" dirty="0"/>
          </a:p>
        </p:txBody>
      </p:sp>
      <p:sp>
        <p:nvSpPr>
          <p:cNvPr id="32" name="Text 30"/>
          <p:cNvSpPr txBox="1"/>
          <p:nvPr/>
        </p:nvSpPr>
        <p:spPr>
          <a:xfrm>
            <a:off x="7552944" y="2057400"/>
            <a:ext cx="1014984" cy="914400"/>
          </a:xfrm>
          <a:prstGeom prst="rect">
            <a:avLst/>
          </a:prstGeom>
          <a:noFill/>
          <a:ln/>
        </p:spPr>
        <p:txBody>
          <a:bodyPr wrap="square" lIns="0" tIns="0" rIns="0" bIns="0" rtlCol="0" anchor="t"/>
          <a:lstStyle/>
          <a:p>
            <a:pPr indent="0" marL="0">
              <a:buNone/>
            </a:pPr>
            <a:r>
              <a:rPr lang="en-US" sz="1300" b="1" dirty="0">
                <a:solidFill>
                  <a:schemeClr val="bg1"/>
                </a:solidFill>
              </a:rPr>
              <a:t>Regresión lineal</a:t>
            </a:r>
            <a:endParaRPr lang="en-US" sz="1300" dirty="0"/>
          </a:p>
        </p:txBody>
      </p:sp>
      <p:sp>
        <p:nvSpPr>
          <p:cNvPr id="33" name="Text 31"/>
          <p:cNvSpPr txBox="1"/>
          <p:nvPr/>
        </p:nvSpPr>
        <p:spPr>
          <a:xfrm>
            <a:off x="7552944" y="3383280"/>
            <a:ext cx="1014984" cy="274320"/>
          </a:xfrm>
          <a:prstGeom prst="rect">
            <a:avLst/>
          </a:prstGeom>
          <a:noFill/>
          <a:ln/>
        </p:spPr>
        <p:txBody>
          <a:bodyPr wrap="square" lIns="0" tIns="0" rIns="0" bIns="0" rtlCol="0" anchor="ctr"/>
          <a:lstStyle/>
          <a:p>
            <a:pPr indent="0" marL="0">
              <a:buNone/>
            </a:pPr>
            <a:r>
              <a:rPr lang="en-US" sz="1100" b="1" dirty="0">
                <a:solidFill>
                  <a:schemeClr val="accent1"/>
                </a:solidFill>
              </a:rPr>
              <a:t>Hoy</a:t>
            </a:r>
            <a:endParaRPr lang="en-US" sz="1100" dirty="0"/>
          </a:p>
        </p:txBody>
      </p:sp>
      <p:sp>
        <p:nvSpPr>
          <p:cNvPr id="34" name="Text 32"/>
          <p:cNvSpPr txBox="1"/>
          <p:nvPr/>
        </p:nvSpPr>
        <p:spPr>
          <a:xfrm>
            <a:off x="457200" y="4023360"/>
            <a:ext cx="8229600" cy="457200"/>
          </a:xfrm>
          <a:prstGeom prst="rect">
            <a:avLst/>
          </a:prstGeom>
          <a:noFill/>
          <a:ln/>
        </p:spPr>
        <p:txBody>
          <a:bodyPr wrap="square" lIns="0" tIns="0" rIns="0" bIns="0" rtlCol="0" anchor="t"/>
          <a:lstStyle/>
          <a:p>
            <a:pPr indent="0" marL="0">
              <a:buNone/>
            </a:pPr>
            <a:r>
              <a:rPr lang="en-US" sz="1100" i="1" dirty="0">
                <a:solidFill>
                  <a:schemeClr val="accent6"/>
                </a:solidFill>
              </a:rPr>
              <a:t>Material nuevo: datos/rendimiento.csv, ejemplos 12 a 15, ejercicios_parte3.py y notebooks/Parte3_Regresion_Colab.ipynb</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56032"/>
          </a:xfrm>
          <a:prstGeom prst="rect">
            <a:avLst/>
          </a:prstGeom>
          <a:noFill/>
          <a:ln/>
        </p:spPr>
        <p:txBody>
          <a:bodyPr wrap="square" lIns="0" tIns="0" rIns="0" bIns="0" rtlCol="0"/>
          <a:lstStyle/>
          <a:p>
            <a:pPr indent="0" marL="0">
              <a:buNone/>
            </a:pPr>
            <a:r>
              <a:rPr lang="en-US" sz="1100" b="1" spc="100" kern="0" dirty="0">
                <a:solidFill>
                  <a:schemeClr val="accent3"/>
                </a:solidFill>
              </a:rPr>
              <a:t>LA PREGUNTA</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¿Qué explica la nota final de un estudiante, y cuánto?</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5120640" cy="914400"/>
        </p:xfrm>
        <a:graphic>
          <a:graphicData uri="http://schemas.openxmlformats.org/drawingml/2006/table">
            <a:tbl>
              <a:tblPr/>
              <a:tblGrid>
                <a:gridCol w="1463040"/>
                <a:gridCol w="2468880"/>
                <a:gridCol w="1188720"/>
              </a:tblGrid>
              <a:tr h="384048">
                <a:tc>
                  <a:txBody>
                    <a:bodyPr/>
                    <a:lstStyle/>
                    <a:p>
                      <a:pPr indent="0" marL="0">
                        <a:buNone/>
                      </a:pPr>
                      <a:r>
                        <a:rPr lang="en-US" sz="1100" b="1" dirty="0">
                          <a:solidFill>
                            <a:srgbClr val="FFFFFF"/>
                          </a:solidFill>
                        </a:rPr>
                        <a:t>Columna</a:t>
                      </a:r>
                      <a:endParaRPr lang="en-US" sz="1100" dirty="0"/>
                    </a:p>
                  </a:txBody>
                  <a:tcPr marL="45720" marR="4572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0F2A3D"/>
                    </a:solidFill>
                  </a:tcPr>
                </a:tc>
                <a:tc>
                  <a:txBody>
                    <a:bodyPr/>
                    <a:lstStyle/>
                    <a:p>
                      <a:pPr indent="0" marL="0">
                        <a:buNone/>
                      </a:pPr>
                      <a:r>
                        <a:rPr lang="en-US" sz="1100" b="1" dirty="0">
                          <a:solidFill>
                            <a:srgbClr val="FFFFFF"/>
                          </a:solidFill>
                        </a:rPr>
                        <a:t>Descripción</a:t>
                      </a:r>
                      <a:endParaRPr lang="en-US" sz="1100" dirty="0"/>
                    </a:p>
                  </a:txBody>
                  <a:tcPr marL="45720" marR="4572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0F2A3D"/>
                    </a:solidFill>
                  </a:tcPr>
                </a:tc>
                <a:tc>
                  <a:txBody>
                    <a:bodyPr/>
                    <a:lstStyle/>
                    <a:p>
                      <a:pPr indent="0" marL="0">
                        <a:buNone/>
                      </a:pPr>
                      <a:r>
                        <a:rPr lang="en-US" sz="1100" b="1" dirty="0">
                          <a:solidFill>
                            <a:srgbClr val="FFFFFF"/>
                          </a:solidFill>
                        </a:rPr>
                        <a:t>Tipo</a:t>
                      </a:r>
                      <a:endParaRPr lang="en-US" sz="1100" dirty="0"/>
                    </a:p>
                  </a:txBody>
                  <a:tcPr marL="45720" marR="4572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0F2A3D"/>
                    </a:solidFill>
                  </a:tcPr>
                </a:tc>
              </a:tr>
              <a:tr h="384048">
                <a:tc>
                  <a:txBody>
                    <a:bodyPr/>
                    <a:lstStyle/>
                    <a:p>
                      <a:pPr indent="0" marL="0">
                        <a:buNone/>
                      </a:pPr>
                      <a:r>
                        <a:rPr lang="en-US" sz="1000" dirty="0">
                          <a:solidFill>
                            <a:srgbClr val="1B2430"/>
                          </a:solidFill>
                          <a:latin typeface="Courier New" pitchFamily="34" charset="0"/>
                          <a:ea typeface="Courier New" pitchFamily="34" charset="-122"/>
                          <a:cs typeface="Courier New" pitchFamily="34" charset="-120"/>
                        </a:rPr>
                        <a:t>horas_estudio</a:t>
                      </a:r>
                      <a:endParaRPr lang="en-US" sz="1000" dirty="0">
                        <a:latin typeface="Courier New" charset="0"/>
                        <a:ea typeface="Courier New" charset="0"/>
                        <a:cs typeface="Courier New" charset="0"/>
                      </a:endParaRPr>
                    </a:p>
                  </a:txBody>
                  <a:tcPr marL="45720" marR="4572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c>
                  <a:txBody>
                    <a:bodyPr/>
                    <a:lstStyle/>
                    <a:p>
                      <a:pPr indent="0" marL="0">
                        <a:buNone/>
                      </a:pPr>
                      <a:r>
                        <a:rPr lang="en-US" sz="1100" dirty="0">
                          <a:solidFill>
                            <a:srgbClr val="1B2430"/>
                          </a:solidFill>
                        </a:rPr>
                        <a:t>Horas de estudio semanales</a:t>
                      </a:r>
                      <a:endParaRPr lang="en-US" sz="1100" dirty="0"/>
                    </a:p>
                  </a:txBody>
                  <a:tcPr marL="45720" marR="4572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c>
                  <a:txBody>
                    <a:bodyPr/>
                    <a:lstStyle/>
                    <a:p>
                      <a:pPr indent="0" marL="0">
                        <a:buNone/>
                      </a:pPr>
                      <a:r>
                        <a:rPr lang="en-US" sz="1100" dirty="0">
                          <a:solidFill>
                            <a:srgbClr val="1B2430"/>
                          </a:solidFill>
                        </a:rPr>
                        <a:t>Numérica</a:t>
                      </a:r>
                      <a:endParaRPr lang="en-US" sz="1100" dirty="0"/>
                    </a:p>
                  </a:txBody>
                  <a:tcPr marL="45720" marR="4572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r>
              <a:tr h="384048">
                <a:tc>
                  <a:txBody>
                    <a:bodyPr/>
                    <a:lstStyle/>
                    <a:p>
                      <a:pPr indent="0" marL="0">
                        <a:buNone/>
                      </a:pPr>
                      <a:r>
                        <a:rPr lang="en-US" sz="1000" dirty="0">
                          <a:solidFill>
                            <a:srgbClr val="1B2430"/>
                          </a:solidFill>
                          <a:latin typeface="Courier New" pitchFamily="34" charset="0"/>
                          <a:ea typeface="Courier New" pitchFamily="34" charset="-122"/>
                          <a:cs typeface="Courier New" pitchFamily="34" charset="-120"/>
                        </a:rPr>
                        <a:t>asistencia</a:t>
                      </a:r>
                      <a:endParaRPr lang="en-US" sz="1000" dirty="0">
                        <a:latin typeface="Courier New" charset="0"/>
                        <a:ea typeface="Courier New" charset="0"/>
                        <a:cs typeface="Courier New" charset="0"/>
                      </a:endParaRPr>
                    </a:p>
                  </a:txBody>
                  <a:tcPr marL="45720" marR="4572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c>
                  <a:txBody>
                    <a:bodyPr/>
                    <a:lstStyle/>
                    <a:p>
                      <a:pPr indent="0" marL="0">
                        <a:buNone/>
                      </a:pPr>
                      <a:r>
                        <a:rPr lang="en-US" sz="1100" dirty="0">
                          <a:solidFill>
                            <a:srgbClr val="1B2430"/>
                          </a:solidFill>
                        </a:rPr>
                        <a:t>Porcentaje de asistencia</a:t>
                      </a:r>
                      <a:endParaRPr lang="en-US" sz="1100" dirty="0"/>
                    </a:p>
                  </a:txBody>
                  <a:tcPr marL="45720" marR="4572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c>
                  <a:txBody>
                    <a:bodyPr/>
                    <a:lstStyle/>
                    <a:p>
                      <a:pPr indent="0" marL="0">
                        <a:buNone/>
                      </a:pPr>
                      <a:r>
                        <a:rPr lang="en-US" sz="1100" dirty="0">
                          <a:solidFill>
                            <a:srgbClr val="1B2430"/>
                          </a:solidFill>
                        </a:rPr>
                        <a:t>Numérica</a:t>
                      </a:r>
                      <a:endParaRPr lang="en-US" sz="1100" dirty="0"/>
                    </a:p>
                  </a:txBody>
                  <a:tcPr marL="45720" marR="4572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r>
              <a:tr h="384048">
                <a:tc>
                  <a:txBody>
                    <a:bodyPr/>
                    <a:lstStyle/>
                    <a:p>
                      <a:pPr indent="0" marL="0">
                        <a:buNone/>
                      </a:pPr>
                      <a:r>
                        <a:rPr lang="en-US" sz="1000" dirty="0">
                          <a:solidFill>
                            <a:srgbClr val="1B2430"/>
                          </a:solidFill>
                          <a:latin typeface="Courier New" pitchFamily="34" charset="0"/>
                          <a:ea typeface="Courier New" pitchFamily="34" charset="-122"/>
                          <a:cs typeface="Courier New" pitchFamily="34" charset="-120"/>
                        </a:rPr>
                        <a:t>horas_sueno</a:t>
                      </a:r>
                      <a:endParaRPr lang="en-US" sz="1000" dirty="0">
                        <a:latin typeface="Courier New" charset="0"/>
                        <a:ea typeface="Courier New" charset="0"/>
                        <a:cs typeface="Courier New" charset="0"/>
                      </a:endParaRPr>
                    </a:p>
                  </a:txBody>
                  <a:tcPr marL="45720" marR="4572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c>
                  <a:txBody>
                    <a:bodyPr/>
                    <a:lstStyle/>
                    <a:p>
                      <a:pPr indent="0" marL="0">
                        <a:buNone/>
                      </a:pPr>
                      <a:r>
                        <a:rPr lang="en-US" sz="1100" dirty="0">
                          <a:solidFill>
                            <a:srgbClr val="1B2430"/>
                          </a:solidFill>
                        </a:rPr>
                        <a:t>Horas de sueño por noche</a:t>
                      </a:r>
                      <a:endParaRPr lang="en-US" sz="1100" dirty="0"/>
                    </a:p>
                  </a:txBody>
                  <a:tcPr marL="45720" marR="4572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c>
                  <a:txBody>
                    <a:bodyPr/>
                    <a:lstStyle/>
                    <a:p>
                      <a:pPr indent="0" marL="0">
                        <a:buNone/>
                      </a:pPr>
                      <a:r>
                        <a:rPr lang="en-US" sz="1100" dirty="0">
                          <a:solidFill>
                            <a:srgbClr val="1B2430"/>
                          </a:solidFill>
                        </a:rPr>
                        <a:t>Numérica</a:t>
                      </a:r>
                      <a:endParaRPr lang="en-US" sz="1100" dirty="0"/>
                    </a:p>
                  </a:txBody>
                  <a:tcPr marL="45720" marR="4572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r>
              <a:tr h="384048">
                <a:tc>
                  <a:txBody>
                    <a:bodyPr/>
                    <a:lstStyle/>
                    <a:p>
                      <a:pPr indent="0" marL="0">
                        <a:buNone/>
                      </a:pPr>
                      <a:r>
                        <a:rPr lang="en-US" sz="1000" dirty="0">
                          <a:solidFill>
                            <a:srgbClr val="1B2430"/>
                          </a:solidFill>
                          <a:latin typeface="Courier New" pitchFamily="34" charset="0"/>
                          <a:ea typeface="Courier New" pitchFamily="34" charset="-122"/>
                          <a:cs typeface="Courier New" pitchFamily="34" charset="-120"/>
                        </a:rPr>
                        <a:t>trabaja</a:t>
                      </a:r>
                      <a:endParaRPr lang="en-US" sz="1000" dirty="0">
                        <a:latin typeface="Courier New" charset="0"/>
                        <a:ea typeface="Courier New" charset="0"/>
                        <a:cs typeface="Courier New" charset="0"/>
                      </a:endParaRPr>
                    </a:p>
                  </a:txBody>
                  <a:tcPr marL="45720" marR="4572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c>
                  <a:txBody>
                    <a:bodyPr/>
                    <a:lstStyle/>
                    <a:p>
                      <a:pPr indent="0" marL="0">
                        <a:buNone/>
                      </a:pPr>
                      <a:r>
                        <a:rPr lang="en-US" sz="1100" dirty="0">
                          <a:solidFill>
                            <a:srgbClr val="1B2430"/>
                          </a:solidFill>
                        </a:rPr>
                        <a:t>¿Trabaja además de estudiar?</a:t>
                      </a:r>
                      <a:endParaRPr lang="en-US" sz="1100" dirty="0"/>
                    </a:p>
                  </a:txBody>
                  <a:tcPr marL="45720" marR="4572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c>
                  <a:txBody>
                    <a:bodyPr/>
                    <a:lstStyle/>
                    <a:p>
                      <a:pPr indent="0" marL="0">
                        <a:buNone/>
                      </a:pPr>
                      <a:r>
                        <a:rPr lang="en-US" sz="1100" dirty="0">
                          <a:solidFill>
                            <a:srgbClr val="1B2430"/>
                          </a:solidFill>
                        </a:rPr>
                        <a:t>Categórica</a:t>
                      </a:r>
                      <a:endParaRPr lang="en-US" sz="1100" dirty="0"/>
                    </a:p>
                  </a:txBody>
                  <a:tcPr marL="45720" marR="4572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r>
              <a:tr h="384048">
                <a:tc>
                  <a:txBody>
                    <a:bodyPr/>
                    <a:lstStyle/>
                    <a:p>
                      <a:pPr indent="0" marL="0">
                        <a:buNone/>
                      </a:pPr>
                      <a:r>
                        <a:rPr lang="en-US" sz="1000" dirty="0">
                          <a:solidFill>
                            <a:srgbClr val="1B2430"/>
                          </a:solidFill>
                          <a:latin typeface="Courier New" pitchFamily="34" charset="0"/>
                          <a:ea typeface="Courier New" pitchFamily="34" charset="-122"/>
                          <a:cs typeface="Courier New" pitchFamily="34" charset="-120"/>
                        </a:rPr>
                        <a:t>curso</a:t>
                      </a:r>
                      <a:endParaRPr lang="en-US" sz="1000" dirty="0">
                        <a:latin typeface="Courier New" charset="0"/>
                        <a:ea typeface="Courier New" charset="0"/>
                        <a:cs typeface="Courier New" charset="0"/>
                      </a:endParaRPr>
                    </a:p>
                  </a:txBody>
                  <a:tcPr marL="45720" marR="4572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c>
                  <a:txBody>
                    <a:bodyPr/>
                    <a:lstStyle/>
                    <a:p>
                      <a:pPr indent="0" marL="0">
                        <a:buNone/>
                      </a:pPr>
                      <a:r>
                        <a:rPr lang="en-US" sz="1100" dirty="0">
                          <a:solidFill>
                            <a:srgbClr val="1B2430"/>
                          </a:solidFill>
                        </a:rPr>
                        <a:t>Matemáticas, Física o Química</a:t>
                      </a:r>
                      <a:endParaRPr lang="en-US" sz="1100" dirty="0"/>
                    </a:p>
                  </a:txBody>
                  <a:tcPr marL="45720" marR="4572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c>
                  <a:txBody>
                    <a:bodyPr/>
                    <a:lstStyle/>
                    <a:p>
                      <a:pPr indent="0" marL="0">
                        <a:buNone/>
                      </a:pPr>
                      <a:r>
                        <a:rPr lang="en-US" sz="1100" dirty="0">
                          <a:solidFill>
                            <a:srgbClr val="1B2430"/>
                          </a:solidFill>
                        </a:rPr>
                        <a:t>Categórica</a:t>
                      </a:r>
                      <a:endParaRPr lang="en-US" sz="1100" dirty="0"/>
                    </a:p>
                  </a:txBody>
                  <a:tcPr marL="45720" marR="4572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r>
              <a:tr h="384048">
                <a:tc>
                  <a:txBody>
                    <a:bodyPr/>
                    <a:lstStyle/>
                    <a:p>
                      <a:pPr indent="0" marL="0">
                        <a:buNone/>
                      </a:pPr>
                      <a:r>
                        <a:rPr lang="en-US" sz="1000" dirty="0">
                          <a:solidFill>
                            <a:srgbClr val="1B2430"/>
                          </a:solidFill>
                          <a:latin typeface="Courier New" pitchFamily="34" charset="0"/>
                          <a:ea typeface="Courier New" pitchFamily="34" charset="-122"/>
                          <a:cs typeface="Courier New" pitchFamily="34" charset="-120"/>
                        </a:rPr>
                        <a:t>nota_final</a:t>
                      </a:r>
                      <a:endParaRPr lang="en-US" sz="1000" dirty="0">
                        <a:latin typeface="Courier New" charset="0"/>
                        <a:ea typeface="Courier New" charset="0"/>
                        <a:cs typeface="Courier New" charset="0"/>
                      </a:endParaRPr>
                    </a:p>
                  </a:txBody>
                  <a:tcPr marL="45720" marR="4572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c>
                  <a:txBody>
                    <a:bodyPr/>
                    <a:lstStyle/>
                    <a:p>
                      <a:pPr indent="0" marL="0">
                        <a:buNone/>
                      </a:pPr>
                      <a:r>
                        <a:rPr lang="en-US" sz="1100" dirty="0">
                          <a:solidFill>
                            <a:srgbClr val="1B2430"/>
                          </a:solidFill>
                        </a:rPr>
                        <a:t>Nota final (1 a 10)</a:t>
                      </a:r>
                      <a:endParaRPr lang="en-US" sz="1100" dirty="0"/>
                    </a:p>
                  </a:txBody>
                  <a:tcPr marL="45720" marR="4572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c>
                  <a:txBody>
                    <a:bodyPr/>
                    <a:lstStyle/>
                    <a:p>
                      <a:pPr indent="0" marL="0">
                        <a:buNone/>
                      </a:pPr>
                      <a:r>
                        <a:rPr lang="en-US" sz="1100" dirty="0">
                          <a:solidFill>
                            <a:srgbClr val="1B2430"/>
                          </a:solidFill>
                        </a:rPr>
                        <a:t>A explicar</a:t>
                      </a:r>
                      <a:endParaRPr lang="en-US" sz="1100" dirty="0"/>
                    </a:p>
                  </a:txBody>
                  <a:tcPr marL="45720" marR="45720" marT="45720" marB="45720"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r>
            </a:tbl>
          </a:graphicData>
        </a:graphic>
      </p:graphicFrame>
      <p:sp>
        <p:nvSpPr>
          <p:cNvPr id="5" name="Tarjeta"/>
          <p:cNvSpPr/>
          <p:nvPr/>
        </p:nvSpPr>
        <p:spPr>
          <a:xfrm>
            <a:off x="5852160" y="1234440"/>
            <a:ext cx="2834640" cy="1005840"/>
          </a:xfrm>
          <a:prstGeom prst="roundRect">
            <a:avLst>
              <a:gd name="adj" fmla="val 7273"/>
            </a:avLst>
          </a:prstGeom>
          <a:solidFill>
            <a:schemeClr val="bg2"/>
          </a:solidFill>
          <a:ln w="12700">
            <a:solidFill>
              <a:schemeClr val="bg2"/>
            </a:solidFill>
            <a:prstDash val="solid"/>
          </a:ln>
        </p:spPr>
      </p:sp>
      <p:sp>
        <p:nvSpPr>
          <p:cNvPr id="6" name="Text 3"/>
          <p:cNvSpPr txBox="1"/>
          <p:nvPr/>
        </p:nvSpPr>
        <p:spPr>
          <a:xfrm>
            <a:off x="5852160" y="1307592"/>
            <a:ext cx="2834640" cy="583387"/>
          </a:xfrm>
          <a:prstGeom prst="rect">
            <a:avLst/>
          </a:prstGeom>
          <a:noFill/>
          <a:ln/>
        </p:spPr>
        <p:txBody>
          <a:bodyPr wrap="square" lIns="0" tIns="0" rIns="0" bIns="0" rtlCol="0" anchor="ctr"/>
          <a:lstStyle/>
          <a:p>
            <a:pPr algn="ctr" indent="0" marL="0">
              <a:buNone/>
            </a:pPr>
            <a:r>
              <a:rPr lang="en-US" sz="3400" b="1" dirty="0">
                <a:solidFill>
                  <a:schemeClr val="accent2"/>
                </a:solidFill>
              </a:rPr>
              <a:t>150</a:t>
            </a:r>
            <a:endParaRPr lang="en-US" sz="3400" dirty="0"/>
          </a:p>
        </p:txBody>
      </p:sp>
      <p:sp>
        <p:nvSpPr>
          <p:cNvPr id="7" name="Text 4"/>
          <p:cNvSpPr txBox="1"/>
          <p:nvPr/>
        </p:nvSpPr>
        <p:spPr>
          <a:xfrm>
            <a:off x="5943600" y="1858061"/>
            <a:ext cx="2651760" cy="321869"/>
          </a:xfrm>
          <a:prstGeom prst="rect">
            <a:avLst/>
          </a:prstGeom>
          <a:noFill/>
          <a:ln/>
        </p:spPr>
        <p:txBody>
          <a:bodyPr wrap="square" lIns="0" tIns="0" rIns="0" bIns="0" rtlCol="0" anchor="t"/>
          <a:lstStyle/>
          <a:p>
            <a:pPr algn="ctr" indent="0" marL="0">
              <a:buNone/>
            </a:pPr>
            <a:r>
              <a:rPr lang="en-US" sz="1200" dirty="0">
                <a:solidFill>
                  <a:schemeClr val="tx1"/>
                </a:solidFill>
              </a:rPr>
              <a:t>estudiantes</a:t>
            </a:r>
            <a:endParaRPr lang="en-US" sz="1200" dirty="0"/>
          </a:p>
        </p:txBody>
      </p:sp>
      <p:sp>
        <p:nvSpPr>
          <p:cNvPr id="8" name="Tarjeta"/>
          <p:cNvSpPr/>
          <p:nvPr/>
        </p:nvSpPr>
        <p:spPr>
          <a:xfrm>
            <a:off x="5852160" y="2377440"/>
            <a:ext cx="2834640" cy="1005840"/>
          </a:xfrm>
          <a:prstGeom prst="roundRect">
            <a:avLst>
              <a:gd name="adj" fmla="val 7273"/>
            </a:avLst>
          </a:prstGeom>
          <a:solidFill>
            <a:schemeClr val="bg2"/>
          </a:solidFill>
          <a:ln w="12700">
            <a:solidFill>
              <a:schemeClr val="bg2"/>
            </a:solidFill>
            <a:prstDash val="solid"/>
          </a:ln>
        </p:spPr>
      </p:sp>
      <p:sp>
        <p:nvSpPr>
          <p:cNvPr id="9" name="Text 6"/>
          <p:cNvSpPr txBox="1"/>
          <p:nvPr/>
        </p:nvSpPr>
        <p:spPr>
          <a:xfrm>
            <a:off x="5852160" y="2450592"/>
            <a:ext cx="2834640" cy="583387"/>
          </a:xfrm>
          <a:prstGeom prst="rect">
            <a:avLst/>
          </a:prstGeom>
          <a:noFill/>
          <a:ln/>
        </p:spPr>
        <p:txBody>
          <a:bodyPr wrap="square" lIns="0" tIns="0" rIns="0" bIns="0" rtlCol="0" anchor="ctr"/>
          <a:lstStyle/>
          <a:p>
            <a:pPr algn="ctr" indent="0" marL="0">
              <a:buNone/>
            </a:pPr>
            <a:r>
              <a:rPr lang="en-US" sz="3400" b="1" dirty="0">
                <a:solidFill>
                  <a:schemeClr val="accent2"/>
                </a:solidFill>
              </a:rPr>
              <a:t>6</a:t>
            </a:r>
            <a:endParaRPr lang="en-US" sz="3400" dirty="0"/>
          </a:p>
        </p:txBody>
      </p:sp>
      <p:sp>
        <p:nvSpPr>
          <p:cNvPr id="10" name="Text 7"/>
          <p:cNvSpPr txBox="1"/>
          <p:nvPr/>
        </p:nvSpPr>
        <p:spPr>
          <a:xfrm>
            <a:off x="5943600" y="3001061"/>
            <a:ext cx="2651760" cy="321869"/>
          </a:xfrm>
          <a:prstGeom prst="rect">
            <a:avLst/>
          </a:prstGeom>
          <a:noFill/>
          <a:ln/>
        </p:spPr>
        <p:txBody>
          <a:bodyPr wrap="square" lIns="0" tIns="0" rIns="0" bIns="0" rtlCol="0" anchor="t"/>
          <a:lstStyle/>
          <a:p>
            <a:pPr algn="ctr" indent="0" marL="0">
              <a:buNone/>
            </a:pPr>
            <a:r>
              <a:rPr lang="en-US" sz="1200" dirty="0">
                <a:solidFill>
                  <a:schemeClr val="tx1"/>
                </a:solidFill>
              </a:rPr>
              <a:t>variables candidatas a explicar</a:t>
            </a:r>
            <a:endParaRPr lang="en-US" sz="1200" dirty="0"/>
          </a:p>
        </p:txBody>
      </p:sp>
      <p:sp>
        <p:nvSpPr>
          <p:cNvPr id="11" name="Tarjeta"/>
          <p:cNvSpPr/>
          <p:nvPr/>
        </p:nvSpPr>
        <p:spPr>
          <a:xfrm>
            <a:off x="5852160" y="3520440"/>
            <a:ext cx="2834640" cy="1005840"/>
          </a:xfrm>
          <a:prstGeom prst="roundRect">
            <a:avLst>
              <a:gd name="adj" fmla="val 7273"/>
            </a:avLst>
          </a:prstGeom>
          <a:solidFill>
            <a:schemeClr val="bg2"/>
          </a:solidFill>
          <a:ln w="12700">
            <a:solidFill>
              <a:schemeClr val="bg2"/>
            </a:solidFill>
            <a:prstDash val="solid"/>
          </a:ln>
        </p:spPr>
      </p:sp>
      <p:sp>
        <p:nvSpPr>
          <p:cNvPr id="12" name="Text 9"/>
          <p:cNvSpPr txBox="1"/>
          <p:nvPr/>
        </p:nvSpPr>
        <p:spPr>
          <a:xfrm>
            <a:off x="5852160" y="3593592"/>
            <a:ext cx="2834640" cy="583387"/>
          </a:xfrm>
          <a:prstGeom prst="rect">
            <a:avLst/>
          </a:prstGeom>
          <a:noFill/>
          <a:ln/>
        </p:spPr>
        <p:txBody>
          <a:bodyPr wrap="square" lIns="0" tIns="0" rIns="0" bIns="0" rtlCol="0" anchor="ctr"/>
          <a:lstStyle/>
          <a:p>
            <a:pPr algn="ctr" indent="0" marL="0">
              <a:buNone/>
            </a:pPr>
            <a:r>
              <a:rPr lang="en-US" sz="3400" b="1" dirty="0">
                <a:solidFill>
                  <a:schemeClr val="accent4"/>
                </a:solidFill>
              </a:rPr>
              <a:t>4</a:t>
            </a:r>
            <a:endParaRPr lang="en-US" sz="3400" dirty="0"/>
          </a:p>
        </p:txBody>
      </p:sp>
      <p:sp>
        <p:nvSpPr>
          <p:cNvPr id="13" name="Text 10"/>
          <p:cNvSpPr txBox="1"/>
          <p:nvPr/>
        </p:nvSpPr>
        <p:spPr>
          <a:xfrm>
            <a:off x="5943600" y="4144061"/>
            <a:ext cx="2651760" cy="321869"/>
          </a:xfrm>
          <a:prstGeom prst="rect">
            <a:avLst/>
          </a:prstGeom>
          <a:noFill/>
          <a:ln/>
        </p:spPr>
        <p:txBody>
          <a:bodyPr wrap="square" lIns="0" tIns="0" rIns="0" bIns="0" rtlCol="0" anchor="t"/>
          <a:lstStyle/>
          <a:p>
            <a:pPr algn="ctr" indent="0" marL="0">
              <a:buNone/>
            </a:pPr>
            <a:r>
              <a:rPr lang="en-US" sz="1200" dirty="0">
                <a:solidFill>
                  <a:schemeClr val="tx1"/>
                </a:solidFill>
              </a:rPr>
              <a:t>faltantes en horas_sueno</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Círculo número"/>
          <p:cNvSpPr/>
          <p:nvPr/>
        </p:nvSpPr>
        <p:spPr>
          <a:xfrm>
            <a:off x="640080" y="1783080"/>
            <a:ext cx="1005840" cy="1005840"/>
          </a:xfrm>
          <a:prstGeom prst="ellipse">
            <a:avLst/>
          </a:prstGeom>
          <a:solidFill>
            <a:schemeClr val="accent1"/>
          </a:solidFill>
          <a:ln w="12700">
            <a:solidFill>
              <a:schemeClr val="accent1"/>
            </a:solidFill>
            <a:prstDash val="solid"/>
          </a:ln>
        </p:spPr>
      </p:sp>
      <p:sp>
        <p:nvSpPr>
          <p:cNvPr id="3" name="Text 1"/>
          <p:cNvSpPr txBox="1"/>
          <p:nvPr/>
        </p:nvSpPr>
        <p:spPr>
          <a:xfrm>
            <a:off x="640080" y="1783080"/>
            <a:ext cx="1005840" cy="1005840"/>
          </a:xfrm>
          <a:prstGeom prst="rect">
            <a:avLst/>
          </a:prstGeom>
          <a:noFill/>
          <a:ln/>
        </p:spPr>
        <p:txBody>
          <a:bodyPr wrap="square" lIns="0" tIns="0" rIns="0" bIns="0" rtlCol="0" anchor="ctr"/>
          <a:lstStyle/>
          <a:p>
            <a:pPr algn="ctr" indent="0" marL="0">
              <a:buNone/>
            </a:pPr>
            <a:r>
              <a:rPr lang="en-US" sz="2600" b="1" dirty="0">
                <a:solidFill>
                  <a:schemeClr val="tx2"/>
                </a:solidFill>
              </a:rPr>
              <a:t>6</a:t>
            </a:r>
            <a:endParaRPr lang="en-US" sz="2600" dirty="0"/>
          </a:p>
        </p:txBody>
      </p:sp>
      <p:sp>
        <p:nvSpPr>
          <p:cNvPr id="4" name="Text 0"/>
          <p:cNvSpPr/>
          <p:nvPr>
            <p:ph idx="100" type="title" hasCustomPrompt="1"/>
          </p:nvPr>
        </p:nvSpPr>
        <p:spPr>
          <a:xfrm>
            <a:off x="2011680" y="1600200"/>
            <a:ext cx="6583680" cy="914400"/>
          </a:xfrm>
          <a:prstGeom prst="rect">
            <a:avLst/>
          </a:prstGeom>
          <a:noFill/>
          <a:ln/>
        </p:spPr>
        <p:txBody>
          <a:bodyPr wrap="square" lIns="0" tIns="0" rIns="0" bIns="0" rtlCol="0" anchor="b"/>
          <a:lstStyle/>
          <a:p>
            <a:pPr algn="l" indent="0" marL="0">
              <a:buNone/>
            </a:pPr>
            <a:r>
              <a:rPr lang="en-US" sz="3600" b="1" dirty="0">
                <a:solidFill>
                  <a:schemeClr val="bg1"/>
                </a:solidFill>
              </a:rPr>
              <a:t>Uso estadístico con Python</a:t>
            </a:r>
            <a:endParaRPr lang="en-US" sz="3600" dirty="0"/>
          </a:p>
        </p:txBody>
      </p:sp>
      <p:sp>
        <p:nvSpPr>
          <p:cNvPr id="5" name="Text 0"/>
          <p:cNvSpPr/>
          <p:nvPr>
            <p:ph idx="101" type="body" hasCustomPrompt="1"/>
          </p:nvPr>
        </p:nvSpPr>
        <p:spPr>
          <a:xfrm>
            <a:off x="2011680" y="2651760"/>
            <a:ext cx="6400800" cy="1097280"/>
          </a:xfrm>
          <a:prstGeom prst="rect">
            <a:avLst/>
          </a:prstGeom>
          <a:noFill/>
          <a:ln/>
        </p:spPr>
        <p:txBody>
          <a:bodyPr wrap="square" lIns="0" tIns="0" rIns="0" bIns="0" rtlCol="0" anchor="t"/>
          <a:lstStyle/>
          <a:p>
            <a:pPr indent="0" marL="0">
              <a:buNone/>
            </a:pPr>
            <a:r>
              <a:rPr lang="en-US" sz="1600" dirty="0">
                <a:solidFill>
                  <a:schemeClr val="bg2"/>
                </a:solidFill>
              </a:rPr>
              <a:t>Regresión lineal simple y múltiple: explicar, interpretar y predecir con datos.</a:t>
            </a:r>
            <a:endParaRPr lang="en-US" sz="1600" dirty="0"/>
          </a:p>
        </p:txBody>
      </p:sp>
      <p:sp>
        <p:nvSpPr>
          <p:cNvPr id="6" name="Etiqueta"/>
          <p:cNvSpPr/>
          <p:nvPr/>
        </p:nvSpPr>
        <p:spPr>
          <a:xfrm>
            <a:off x="2011680" y="3886200"/>
            <a:ext cx="2377440" cy="365760"/>
          </a:xfrm>
          <a:prstGeom prst="roundRect">
            <a:avLst>
              <a:gd name="adj" fmla="val 50000"/>
            </a:avLst>
          </a:prstGeom>
          <a:solidFill>
            <a:schemeClr val="accent1"/>
          </a:solidFill>
          <a:ln w="12700">
            <a:solidFill>
              <a:schemeClr val="accent1"/>
            </a:solidFill>
            <a:prstDash val="solid"/>
          </a:ln>
        </p:spPr>
      </p:sp>
      <p:sp>
        <p:nvSpPr>
          <p:cNvPr id="7" name="Text 5"/>
          <p:cNvSpPr txBox="1"/>
          <p:nvPr/>
        </p:nvSpPr>
        <p:spPr>
          <a:xfrm>
            <a:off x="2011680" y="3886200"/>
            <a:ext cx="2377440" cy="365760"/>
          </a:xfrm>
          <a:prstGeom prst="rect">
            <a:avLst/>
          </a:prstGeom>
          <a:noFill/>
          <a:ln/>
        </p:spPr>
        <p:txBody>
          <a:bodyPr wrap="square" lIns="0" tIns="0" rIns="0" bIns="0" rtlCol="0" anchor="ctr"/>
          <a:lstStyle/>
          <a:p>
            <a:pPr algn="ctr" indent="0" marL="0">
              <a:buNone/>
            </a:pPr>
            <a:r>
              <a:rPr lang="en-US" sz="1200" b="1" dirty="0">
                <a:solidFill>
                  <a:schemeClr val="tx2"/>
                </a:solidFill>
              </a:rPr>
              <a:t>Práctica en Colab</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56032"/>
          </a:xfrm>
          <a:prstGeom prst="rect">
            <a:avLst/>
          </a:prstGeom>
          <a:noFill/>
          <a:ln/>
        </p:spPr>
        <p:txBody>
          <a:bodyPr wrap="square" lIns="0" tIns="0" rIns="0" bIns="0" rtlCol="0"/>
          <a:lstStyle/>
          <a:p>
            <a:pPr indent="0" marL="0">
              <a:buNone/>
            </a:pPr>
            <a:r>
              <a:rPr lang="en-US" sz="1100" b="1" spc="100" kern="0" dirty="0">
                <a:solidFill>
                  <a:schemeClr val="accent3"/>
                </a:solidFill>
              </a:rPr>
              <a:t>PASO 1 · CORRELACIÓN</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Primero medir cuánto se mueven juntas las variables</a:t>
            </a:r>
            <a:endParaRPr lang="en-US" sz="2800" dirty="0"/>
          </a:p>
        </p:txBody>
      </p:sp>
      <p:graphicFrame>
        <p:nvGraphicFramePr>
          <p:cNvPr id="4" name="Chart 0" descr=""/>
          <p:cNvGraphicFramePr/>
          <p:nvPr/>
        </p:nvGraphicFramePr>
        <p:xfrm>
          <a:off x="457200" y="1188720"/>
          <a:ext cx="4206240" cy="2377440"/>
        </p:xfrm>
        <a:graphic xmlns:a="http://schemas.openxmlformats.org/drawingml/2006/main">
          <a:graphicData uri="http://schemas.openxmlformats.org/drawingml/2006/chart">
            <c:chart xmlns:c="http://schemas.openxmlformats.org/drawingml/2006/chart" r:id="rId1"/>
          </a:graphicData>
        </a:graphic>
      </p:graphicFrame>
      <p:sp>
        <p:nvSpPr>
          <p:cNvPr id="5" name="Bloque de código"/>
          <p:cNvSpPr/>
          <p:nvPr/>
        </p:nvSpPr>
        <p:spPr>
          <a:xfrm>
            <a:off x="457200" y="3657600"/>
            <a:ext cx="4206240" cy="914400"/>
          </a:xfrm>
          <a:prstGeom prst="roundRect">
            <a:avLst>
              <a:gd name="adj" fmla="val 8000"/>
            </a:avLst>
          </a:prstGeom>
          <a:solidFill>
            <a:schemeClr val="tx2"/>
          </a:solidFill>
          <a:ln w="12700">
            <a:solidFill>
              <a:schemeClr val="tx2"/>
            </a:solidFill>
            <a:prstDash val="solid"/>
          </a:ln>
        </p:spPr>
      </p:sp>
      <p:sp>
        <p:nvSpPr>
          <p:cNvPr id="6" name="Text 3"/>
          <p:cNvSpPr txBox="1"/>
          <p:nvPr/>
        </p:nvSpPr>
        <p:spPr>
          <a:xfrm>
            <a:off x="594360" y="3749040"/>
            <a:ext cx="3931920" cy="731520"/>
          </a:xfrm>
          <a:prstGeom prst="rect">
            <a:avLst/>
          </a:prstGeom>
          <a:noFill/>
          <a:ln/>
        </p:spPr>
        <p:txBody>
          <a:bodyPr wrap="square" lIns="0" tIns="0" rIns="0" bIns="0" rtlCol="0" anchor="t"/>
          <a:lstStyle/>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df[["horas_estudio", "asistencia",</a:t>
            </a:r>
            <a:endParaRPr lang="en-US" sz="1100" dirty="0"/>
          </a:p>
          <a:p>
            <a:pPr indent="0" marL="0">
              <a:spcAft>
                <a:spcPts val="200"/>
              </a:spcAft>
              <a:buNone/>
            </a:pPr>
            <a:r>
              <a:rPr lang="en-US" sz="1100" dirty="0">
                <a:solidFill>
                  <a:schemeClr val="bg1"/>
                </a:solidFill>
                <a:latin typeface="Courier New" pitchFamily="34" charset="0"/>
                <a:ea typeface="Courier New" pitchFamily="34" charset="-122"/>
                <a:cs typeface="Courier New" pitchFamily="34" charset="-120"/>
              </a:rPr>
              <a:t>    "horas_sueno", "nota_final"]].corr()</a:t>
            </a:r>
            <a:endParaRPr lang="en-US" sz="1100" dirty="0"/>
          </a:p>
        </p:txBody>
      </p:sp>
      <p:sp>
        <p:nvSpPr>
          <p:cNvPr id="7" name="Text 4"/>
          <p:cNvSpPr txBox="1"/>
          <p:nvPr/>
        </p:nvSpPr>
        <p:spPr>
          <a:xfrm>
            <a:off x="4937760" y="1234440"/>
            <a:ext cx="3749040" cy="320040"/>
          </a:xfrm>
          <a:prstGeom prst="rect">
            <a:avLst/>
          </a:prstGeom>
          <a:noFill/>
          <a:ln/>
        </p:spPr>
        <p:txBody>
          <a:bodyPr wrap="square" lIns="0" tIns="0" rIns="0" bIns="0" rtlCol="0" anchor="ctr"/>
          <a:lstStyle/>
          <a:p>
            <a:pPr indent="0" marL="0">
              <a:buNone/>
            </a:pPr>
            <a:r>
              <a:rPr lang="en-US" sz="1400" b="1" dirty="0">
                <a:solidFill>
                  <a:schemeClr val="tx2"/>
                </a:solidFill>
              </a:rPr>
              <a:t>Cómo leer r (de −1 a 1)</a:t>
            </a:r>
            <a:endParaRPr lang="en-US" sz="1400" dirty="0"/>
          </a:p>
        </p:txBody>
      </p:sp>
      <p:sp>
        <p:nvSpPr>
          <p:cNvPr id="8" name="Tarjeta"/>
          <p:cNvSpPr/>
          <p:nvPr/>
        </p:nvSpPr>
        <p:spPr>
          <a:xfrm>
            <a:off x="4937760" y="1645920"/>
            <a:ext cx="3749040" cy="411480"/>
          </a:xfrm>
          <a:prstGeom prst="roundRect">
            <a:avLst>
              <a:gd name="adj" fmla="val 17778"/>
            </a:avLst>
          </a:prstGeom>
          <a:solidFill>
            <a:schemeClr val="bg2"/>
          </a:solidFill>
          <a:ln w="12700">
            <a:solidFill>
              <a:schemeClr val="bg2"/>
            </a:solidFill>
            <a:prstDash val="solid"/>
          </a:ln>
        </p:spPr>
      </p:sp>
      <p:sp>
        <p:nvSpPr>
          <p:cNvPr id="9" name="Text 6"/>
          <p:cNvSpPr txBox="1"/>
          <p:nvPr/>
        </p:nvSpPr>
        <p:spPr>
          <a:xfrm>
            <a:off x="5074920" y="1645920"/>
            <a:ext cx="1280160" cy="411480"/>
          </a:xfrm>
          <a:prstGeom prst="rect">
            <a:avLst/>
          </a:prstGeom>
          <a:noFill/>
          <a:ln/>
        </p:spPr>
        <p:txBody>
          <a:bodyPr wrap="square" lIns="0" tIns="0" rIns="0" bIns="0" rtlCol="0" anchor="ctr"/>
          <a:lstStyle/>
          <a:p>
            <a:pPr indent="0" marL="0">
              <a:buNone/>
            </a:pPr>
            <a:r>
              <a:rPr lang="en-US" sz="1300" b="1" dirty="0">
                <a:solidFill>
                  <a:schemeClr val="accent3"/>
                </a:solidFill>
              </a:rPr>
              <a:t>|r| ≥ 0,7</a:t>
            </a:r>
            <a:endParaRPr lang="en-US" sz="1300" dirty="0"/>
          </a:p>
        </p:txBody>
      </p:sp>
      <p:sp>
        <p:nvSpPr>
          <p:cNvPr id="10" name="Text 7"/>
          <p:cNvSpPr txBox="1"/>
          <p:nvPr/>
        </p:nvSpPr>
        <p:spPr>
          <a:xfrm>
            <a:off x="6400800" y="1645920"/>
            <a:ext cx="2194560" cy="411480"/>
          </a:xfrm>
          <a:prstGeom prst="rect">
            <a:avLst/>
          </a:prstGeom>
          <a:noFill/>
          <a:ln/>
        </p:spPr>
        <p:txBody>
          <a:bodyPr wrap="square" lIns="0" tIns="0" rIns="0" bIns="0" rtlCol="0" anchor="ctr"/>
          <a:lstStyle/>
          <a:p>
            <a:pPr indent="0" marL="0">
              <a:buNone/>
            </a:pPr>
            <a:r>
              <a:rPr lang="en-US" sz="1300" dirty="0">
                <a:solidFill>
                  <a:schemeClr val="tx1"/>
                </a:solidFill>
              </a:rPr>
              <a:t>Fuerte</a:t>
            </a:r>
            <a:endParaRPr lang="en-US" sz="1300" dirty="0"/>
          </a:p>
        </p:txBody>
      </p:sp>
      <p:sp>
        <p:nvSpPr>
          <p:cNvPr id="11" name="Tarjeta"/>
          <p:cNvSpPr/>
          <p:nvPr/>
        </p:nvSpPr>
        <p:spPr>
          <a:xfrm>
            <a:off x="4937760" y="2148840"/>
            <a:ext cx="3749040" cy="411480"/>
          </a:xfrm>
          <a:prstGeom prst="roundRect">
            <a:avLst>
              <a:gd name="adj" fmla="val 17778"/>
            </a:avLst>
          </a:prstGeom>
          <a:solidFill>
            <a:schemeClr val="bg2"/>
          </a:solidFill>
          <a:ln w="12700">
            <a:solidFill>
              <a:schemeClr val="bg2"/>
            </a:solidFill>
            <a:prstDash val="solid"/>
          </a:ln>
        </p:spPr>
      </p:sp>
      <p:sp>
        <p:nvSpPr>
          <p:cNvPr id="12" name="Text 9"/>
          <p:cNvSpPr txBox="1"/>
          <p:nvPr/>
        </p:nvSpPr>
        <p:spPr>
          <a:xfrm>
            <a:off x="5074920" y="2148840"/>
            <a:ext cx="1280160" cy="411480"/>
          </a:xfrm>
          <a:prstGeom prst="rect">
            <a:avLst/>
          </a:prstGeom>
          <a:noFill/>
          <a:ln/>
        </p:spPr>
        <p:txBody>
          <a:bodyPr wrap="square" lIns="0" tIns="0" rIns="0" bIns="0" rtlCol="0" anchor="ctr"/>
          <a:lstStyle/>
          <a:p>
            <a:pPr indent="0" marL="0">
              <a:buNone/>
            </a:pPr>
            <a:r>
              <a:rPr lang="en-US" sz="1300" b="1" dirty="0">
                <a:solidFill>
                  <a:schemeClr val="accent2"/>
                </a:solidFill>
              </a:rPr>
              <a:t>0,4 – 0,7</a:t>
            </a:r>
            <a:endParaRPr lang="en-US" sz="1300" dirty="0"/>
          </a:p>
        </p:txBody>
      </p:sp>
      <p:sp>
        <p:nvSpPr>
          <p:cNvPr id="13" name="Text 10"/>
          <p:cNvSpPr txBox="1"/>
          <p:nvPr/>
        </p:nvSpPr>
        <p:spPr>
          <a:xfrm>
            <a:off x="6400800" y="2148840"/>
            <a:ext cx="2194560" cy="411480"/>
          </a:xfrm>
          <a:prstGeom prst="rect">
            <a:avLst/>
          </a:prstGeom>
          <a:noFill/>
          <a:ln/>
        </p:spPr>
        <p:txBody>
          <a:bodyPr wrap="square" lIns="0" tIns="0" rIns="0" bIns="0" rtlCol="0" anchor="ctr"/>
          <a:lstStyle/>
          <a:p>
            <a:pPr indent="0" marL="0">
              <a:buNone/>
            </a:pPr>
            <a:r>
              <a:rPr lang="en-US" sz="1300" dirty="0">
                <a:solidFill>
                  <a:schemeClr val="tx1"/>
                </a:solidFill>
              </a:rPr>
              <a:t>Moderada</a:t>
            </a:r>
            <a:endParaRPr lang="en-US" sz="1300" dirty="0"/>
          </a:p>
        </p:txBody>
      </p:sp>
      <p:sp>
        <p:nvSpPr>
          <p:cNvPr id="14" name="Tarjeta"/>
          <p:cNvSpPr/>
          <p:nvPr/>
        </p:nvSpPr>
        <p:spPr>
          <a:xfrm>
            <a:off x="4937760" y="2651760"/>
            <a:ext cx="3749040" cy="411480"/>
          </a:xfrm>
          <a:prstGeom prst="roundRect">
            <a:avLst>
              <a:gd name="adj" fmla="val 17778"/>
            </a:avLst>
          </a:prstGeom>
          <a:solidFill>
            <a:schemeClr val="bg2"/>
          </a:solidFill>
          <a:ln w="12700">
            <a:solidFill>
              <a:schemeClr val="bg2"/>
            </a:solidFill>
            <a:prstDash val="solid"/>
          </a:ln>
        </p:spPr>
      </p:sp>
      <p:sp>
        <p:nvSpPr>
          <p:cNvPr id="15" name="Text 12"/>
          <p:cNvSpPr txBox="1"/>
          <p:nvPr/>
        </p:nvSpPr>
        <p:spPr>
          <a:xfrm>
            <a:off x="5074920" y="2651760"/>
            <a:ext cx="1280160" cy="411480"/>
          </a:xfrm>
          <a:prstGeom prst="rect">
            <a:avLst/>
          </a:prstGeom>
          <a:noFill/>
          <a:ln/>
        </p:spPr>
        <p:txBody>
          <a:bodyPr wrap="square" lIns="0" tIns="0" rIns="0" bIns="0" rtlCol="0" anchor="ctr"/>
          <a:lstStyle/>
          <a:p>
            <a:pPr indent="0" marL="0">
              <a:buNone/>
            </a:pPr>
            <a:r>
              <a:rPr lang="en-US" sz="1300" b="1" dirty="0">
                <a:solidFill>
                  <a:schemeClr val="accent6"/>
                </a:solidFill>
              </a:rPr>
              <a:t>0,2 – 0,4</a:t>
            </a:r>
            <a:endParaRPr lang="en-US" sz="1300" dirty="0"/>
          </a:p>
        </p:txBody>
      </p:sp>
      <p:sp>
        <p:nvSpPr>
          <p:cNvPr id="16" name="Text 13"/>
          <p:cNvSpPr txBox="1"/>
          <p:nvPr/>
        </p:nvSpPr>
        <p:spPr>
          <a:xfrm>
            <a:off x="6400800" y="2651760"/>
            <a:ext cx="2194560" cy="411480"/>
          </a:xfrm>
          <a:prstGeom prst="rect">
            <a:avLst/>
          </a:prstGeom>
          <a:noFill/>
          <a:ln/>
        </p:spPr>
        <p:txBody>
          <a:bodyPr wrap="square" lIns="0" tIns="0" rIns="0" bIns="0" rtlCol="0" anchor="ctr"/>
          <a:lstStyle/>
          <a:p>
            <a:pPr indent="0" marL="0">
              <a:buNone/>
            </a:pPr>
            <a:r>
              <a:rPr lang="en-US" sz="1300" dirty="0">
                <a:solidFill>
                  <a:schemeClr val="tx1"/>
                </a:solidFill>
              </a:rPr>
              <a:t>Débil</a:t>
            </a:r>
            <a:endParaRPr lang="en-US" sz="1300" dirty="0"/>
          </a:p>
        </p:txBody>
      </p:sp>
      <p:sp>
        <p:nvSpPr>
          <p:cNvPr id="17" name="Tarjeta"/>
          <p:cNvSpPr/>
          <p:nvPr/>
        </p:nvSpPr>
        <p:spPr>
          <a:xfrm>
            <a:off x="4937760" y="3154680"/>
            <a:ext cx="3749040" cy="411480"/>
          </a:xfrm>
          <a:prstGeom prst="roundRect">
            <a:avLst>
              <a:gd name="adj" fmla="val 17778"/>
            </a:avLst>
          </a:prstGeom>
          <a:solidFill>
            <a:schemeClr val="bg2"/>
          </a:solidFill>
          <a:ln w="12700">
            <a:solidFill>
              <a:schemeClr val="bg2"/>
            </a:solidFill>
            <a:prstDash val="solid"/>
          </a:ln>
        </p:spPr>
      </p:sp>
      <p:sp>
        <p:nvSpPr>
          <p:cNvPr id="18" name="Text 15"/>
          <p:cNvSpPr txBox="1"/>
          <p:nvPr/>
        </p:nvSpPr>
        <p:spPr>
          <a:xfrm>
            <a:off x="5074920" y="3154680"/>
            <a:ext cx="1280160" cy="411480"/>
          </a:xfrm>
          <a:prstGeom prst="rect">
            <a:avLst/>
          </a:prstGeom>
          <a:noFill/>
          <a:ln/>
        </p:spPr>
        <p:txBody>
          <a:bodyPr wrap="square" lIns="0" tIns="0" rIns="0" bIns="0" rtlCol="0" anchor="ctr"/>
          <a:lstStyle/>
          <a:p>
            <a:pPr indent="0" marL="0">
              <a:buNone/>
            </a:pPr>
            <a:r>
              <a:rPr lang="en-US" sz="1300" b="1" dirty="0">
                <a:solidFill>
                  <a:schemeClr val="accent4"/>
                </a:solidFill>
              </a:rPr>
              <a:t>&lt; 0,2</a:t>
            </a:r>
            <a:endParaRPr lang="en-US" sz="1300" dirty="0"/>
          </a:p>
        </p:txBody>
      </p:sp>
      <p:sp>
        <p:nvSpPr>
          <p:cNvPr id="19" name="Text 16"/>
          <p:cNvSpPr txBox="1"/>
          <p:nvPr/>
        </p:nvSpPr>
        <p:spPr>
          <a:xfrm>
            <a:off x="6400800" y="3154680"/>
            <a:ext cx="2194560" cy="411480"/>
          </a:xfrm>
          <a:prstGeom prst="rect">
            <a:avLst/>
          </a:prstGeom>
          <a:noFill/>
          <a:ln/>
        </p:spPr>
        <p:txBody>
          <a:bodyPr wrap="square" lIns="0" tIns="0" rIns="0" bIns="0" rtlCol="0" anchor="ctr"/>
          <a:lstStyle/>
          <a:p>
            <a:pPr indent="0" marL="0">
              <a:buNone/>
            </a:pPr>
            <a:r>
              <a:rPr lang="en-US" sz="1300" dirty="0">
                <a:solidFill>
                  <a:schemeClr val="tx1"/>
                </a:solidFill>
              </a:rPr>
              <a:t>Muy débil o nula</a:t>
            </a:r>
            <a:endParaRPr lang="en-US" sz="1300" dirty="0"/>
          </a:p>
        </p:txBody>
      </p:sp>
      <p:sp>
        <p:nvSpPr>
          <p:cNvPr id="20" name="Text 17"/>
          <p:cNvSpPr txBox="1"/>
          <p:nvPr/>
        </p:nvSpPr>
        <p:spPr>
          <a:xfrm>
            <a:off x="4937760" y="3703320"/>
            <a:ext cx="3749040" cy="822960"/>
          </a:xfrm>
          <a:prstGeom prst="rect">
            <a:avLst/>
          </a:prstGeom>
          <a:noFill/>
          <a:ln/>
        </p:spPr>
        <p:txBody>
          <a:bodyPr wrap="square" lIns="0" tIns="0" rIns="0" bIns="0" rtlCol="0" anchor="t"/>
          <a:lstStyle/>
          <a:p>
            <a:pPr indent="0" marL="0">
              <a:buNone/>
            </a:pPr>
            <a:r>
              <a:rPr lang="en-US" sz="1200" i="1" dirty="0">
                <a:solidFill>
                  <a:schemeClr val="tx1"/>
                </a:solidFill>
              </a:rPr>
              <a:t>Correlación no es causalidad. Y ojo: horas_estudio y asistencia también se relacionan entre sí (r = 0,62).</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56032"/>
          </a:xfrm>
          <a:prstGeom prst="rect">
            <a:avLst/>
          </a:prstGeom>
          <a:noFill/>
          <a:ln/>
        </p:spPr>
        <p:txBody>
          <a:bodyPr wrap="square" lIns="0" tIns="0" rIns="0" bIns="0" rtlCol="0"/>
          <a:lstStyle/>
          <a:p>
            <a:pPr indent="0" marL="0">
              <a:buNone/>
            </a:pPr>
            <a:r>
              <a:rPr lang="en-US" sz="1100" b="1" spc="100" kern="0" dirty="0">
                <a:solidFill>
                  <a:schemeClr val="accent3"/>
                </a:solidFill>
              </a:rPr>
              <a:t>PASO 1 · DISPERSIÓN</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Nube alargada indica relación; nube redonda, no</a:t>
            </a:r>
            <a:endParaRPr lang="en-US" sz="2800" dirty="0"/>
          </a:p>
        </p:txBody>
      </p:sp>
      <p:graphicFrame>
        <p:nvGraphicFramePr>
          <p:cNvPr id="4" name="Chart 0" descr=""/>
          <p:cNvGraphicFramePr/>
          <p:nvPr/>
        </p:nvGraphicFramePr>
        <p:xfrm>
          <a:off x="457200" y="1188720"/>
          <a:ext cx="4023360" cy="31089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663440" y="1188720"/>
          <a:ext cx="4023360" cy="3108960"/>
        </p:xfrm>
        <a:graphic xmlns:a="http://schemas.openxmlformats.org/drawingml/2006/main">
          <a:graphicData uri="http://schemas.openxmlformats.org/drawingml/2006/chart">
            <c:chart xmlns:c="http://schemas.openxmlformats.org/drawingml/2006/chart" r:id="rId2"/>
          </a:graphicData>
        </a:graphic>
      </p:graphicFrame>
      <p:sp>
        <p:nvSpPr>
          <p:cNvPr id="6" name="Text 2"/>
          <p:cNvSpPr txBox="1"/>
          <p:nvPr/>
        </p:nvSpPr>
        <p:spPr>
          <a:xfrm>
            <a:off x="457200" y="4389120"/>
            <a:ext cx="8229600" cy="320040"/>
          </a:xfrm>
          <a:prstGeom prst="rect">
            <a:avLst/>
          </a:prstGeom>
          <a:noFill/>
          <a:ln/>
        </p:spPr>
        <p:txBody>
          <a:bodyPr wrap="square" lIns="0" tIns="0" rIns="0" bIns="0" rtlCol="0" anchor="ctr"/>
          <a:lstStyle/>
          <a:p>
            <a:pPr indent="0" marL="0">
              <a:buNone/>
            </a:pPr>
            <a:r>
              <a:rPr lang="en-US" sz="1200" i="1" dirty="0">
                <a:solidFill>
                  <a:schemeClr val="tx1"/>
                </a:solidFill>
              </a:rPr>
              <a:t>Siempre graficar antes de modelar: r solo detecta relaciones lineales.</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56032"/>
          </a:xfrm>
          <a:prstGeom prst="rect">
            <a:avLst/>
          </a:prstGeom>
          <a:noFill/>
          <a:ln/>
        </p:spPr>
        <p:txBody>
          <a:bodyPr wrap="square" lIns="0" tIns="0" rIns="0" bIns="0" rtlCol="0"/>
          <a:lstStyle/>
          <a:p>
            <a:pPr indent="0" marL="0">
              <a:buNone/>
            </a:pPr>
            <a:r>
              <a:rPr lang="en-US" sz="1100" b="1" spc="100" kern="0" dirty="0">
                <a:solidFill>
                  <a:schemeClr val="accent3"/>
                </a:solidFill>
              </a:rPr>
              <a:t>PASO 2 · REGRESIÓN SIMPLE</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La recta que mejor resume la relación</a:t>
            </a:r>
            <a:endParaRPr lang="en-US" sz="2800" dirty="0"/>
          </a:p>
        </p:txBody>
      </p:sp>
      <p:graphicFrame>
        <p:nvGraphicFramePr>
          <p:cNvPr id="4" name="Chart 0" descr=""/>
          <p:cNvGraphicFramePr/>
          <p:nvPr/>
        </p:nvGraphicFramePr>
        <p:xfrm>
          <a:off x="457200" y="1188720"/>
          <a:ext cx="4846320" cy="3429000"/>
        </p:xfrm>
        <a:graphic xmlns:a="http://schemas.openxmlformats.org/drawingml/2006/main">
          <a:graphicData uri="http://schemas.openxmlformats.org/drawingml/2006/chart">
            <c:chart xmlns:c="http://schemas.openxmlformats.org/drawingml/2006/chart" r:id="rId1"/>
          </a:graphicData>
        </a:graphic>
      </p:graphicFrame>
      <p:sp>
        <p:nvSpPr>
          <p:cNvPr id="5" name="Tarjeta"/>
          <p:cNvSpPr/>
          <p:nvPr/>
        </p:nvSpPr>
        <p:spPr>
          <a:xfrm>
            <a:off x="5577840" y="1234440"/>
            <a:ext cx="3108960" cy="1371600"/>
          </a:xfrm>
          <a:prstGeom prst="roundRect">
            <a:avLst>
              <a:gd name="adj" fmla="val 5333"/>
            </a:avLst>
          </a:prstGeom>
          <a:solidFill>
            <a:schemeClr val="tx2"/>
          </a:solidFill>
          <a:ln w="12700">
            <a:solidFill>
              <a:schemeClr val="tx2"/>
            </a:solidFill>
            <a:prstDash val="solid"/>
          </a:ln>
        </p:spPr>
      </p:sp>
      <p:sp>
        <p:nvSpPr>
          <p:cNvPr id="6" name="Text 3"/>
          <p:cNvSpPr txBox="1"/>
          <p:nvPr/>
        </p:nvSpPr>
        <p:spPr>
          <a:xfrm>
            <a:off x="5669280" y="1325880"/>
            <a:ext cx="2926080" cy="731520"/>
          </a:xfrm>
          <a:prstGeom prst="rect">
            <a:avLst/>
          </a:prstGeom>
          <a:noFill/>
          <a:ln/>
        </p:spPr>
        <p:txBody>
          <a:bodyPr wrap="square" lIns="0" tIns="0" rIns="0" bIns="0" rtlCol="0" anchor="ctr"/>
          <a:lstStyle/>
          <a:p>
            <a:pPr algn="ctr" indent="0" marL="0">
              <a:buNone/>
            </a:pPr>
            <a:r>
              <a:rPr lang="en-US" sz="2000" dirty="0">
                <a:solidFill>
                  <a:schemeClr val="bg1"/>
                </a:solidFill>
              </a:rPr>
              <a:t>nota = </a:t>
            </a:r>
            <a:pPr algn="ctr" indent="0" marL="0">
              <a:buNone/>
            </a:pPr>
            <a:r>
              <a:rPr lang="en-US" sz="2000" b="1" dirty="0">
                <a:solidFill>
                  <a:schemeClr val="accent1"/>
                </a:solidFill>
              </a:rPr>
              <a:t>2,72</a:t>
            </a:r>
            <a:pPr algn="ctr" indent="0" marL="0">
              <a:buNone/>
            </a:pPr>
            <a:r>
              <a:rPr lang="en-US" sz="2000" dirty="0">
                <a:solidFill>
                  <a:schemeClr val="bg1"/>
                </a:solidFill>
              </a:rPr>
              <a:t> + </a:t>
            </a:r>
            <a:pPr algn="ctr" indent="0" marL="0">
              <a:buNone/>
            </a:pPr>
            <a:r>
              <a:rPr lang="en-US" sz="2000" b="1" dirty="0">
                <a:solidFill>
                  <a:schemeClr val="accent5"/>
                </a:solidFill>
              </a:rPr>
              <a:t>0,40</a:t>
            </a:r>
            <a:pPr algn="ctr" indent="0" marL="0">
              <a:buNone/>
            </a:pPr>
            <a:r>
              <a:rPr lang="en-US" sz="2000" dirty="0">
                <a:solidFill>
                  <a:schemeClr val="bg1"/>
                </a:solidFill>
              </a:rPr>
              <a:t> · horas</a:t>
            </a:r>
            <a:endParaRPr lang="en-US" sz="2000" dirty="0"/>
          </a:p>
        </p:txBody>
      </p:sp>
      <p:sp>
        <p:nvSpPr>
          <p:cNvPr id="7" name="Text 4"/>
          <p:cNvSpPr txBox="1"/>
          <p:nvPr/>
        </p:nvSpPr>
        <p:spPr>
          <a:xfrm>
            <a:off x="5669280" y="2057400"/>
            <a:ext cx="2926080" cy="411480"/>
          </a:xfrm>
          <a:prstGeom prst="rect">
            <a:avLst/>
          </a:prstGeom>
          <a:noFill/>
          <a:ln/>
        </p:spPr>
        <p:txBody>
          <a:bodyPr wrap="square" lIns="0" tIns="0" rIns="0" bIns="0" rtlCol="0" anchor="ctr"/>
          <a:lstStyle/>
          <a:p>
            <a:pPr algn="ctr" indent="0" marL="0">
              <a:buNone/>
            </a:pPr>
            <a:r>
              <a:rPr lang="en-US" sz="1200" dirty="0">
                <a:solidFill>
                  <a:schemeClr val="bg2"/>
                </a:solidFill>
                <a:latin typeface="Courier New" pitchFamily="34" charset="0"/>
                <a:ea typeface="Courier New" pitchFamily="34" charset="-122"/>
                <a:cs typeface="Courier New" pitchFamily="34" charset="-120"/>
              </a:rPr>
              <a:t>y = b0 + b1 · x</a:t>
            </a:r>
            <a:endParaRPr lang="en-US" sz="1200" dirty="0"/>
          </a:p>
        </p:txBody>
      </p:sp>
      <p:sp>
        <p:nvSpPr>
          <p:cNvPr id="8" name="Tarjeta"/>
          <p:cNvSpPr/>
          <p:nvPr/>
        </p:nvSpPr>
        <p:spPr>
          <a:xfrm>
            <a:off x="5577840" y="2743200"/>
            <a:ext cx="3108960" cy="822960"/>
          </a:xfrm>
          <a:prstGeom prst="roundRect">
            <a:avLst>
              <a:gd name="adj" fmla="val 8889"/>
            </a:avLst>
          </a:prstGeom>
          <a:solidFill>
            <a:schemeClr val="bg2"/>
          </a:solidFill>
          <a:ln w="12700">
            <a:solidFill>
              <a:schemeClr val="bg2"/>
            </a:solidFill>
            <a:prstDash val="solid"/>
          </a:ln>
        </p:spPr>
      </p:sp>
      <p:sp>
        <p:nvSpPr>
          <p:cNvPr id="9" name="Text 6"/>
          <p:cNvSpPr txBox="1"/>
          <p:nvPr/>
        </p:nvSpPr>
        <p:spPr>
          <a:xfrm>
            <a:off x="5669280" y="2743200"/>
            <a:ext cx="822960" cy="822960"/>
          </a:xfrm>
          <a:prstGeom prst="rect">
            <a:avLst/>
          </a:prstGeom>
          <a:noFill/>
          <a:ln/>
        </p:spPr>
        <p:txBody>
          <a:bodyPr wrap="square" lIns="0" tIns="0" rIns="0" bIns="0" rtlCol="0" anchor="ctr"/>
          <a:lstStyle/>
          <a:p>
            <a:pPr algn="ctr" indent="0" marL="0">
              <a:buNone/>
            </a:pPr>
            <a:r>
              <a:rPr lang="en-US" sz="2200" b="1" dirty="0">
                <a:solidFill>
                  <a:schemeClr val="accent2"/>
                </a:solidFill>
              </a:rPr>
              <a:t>2,72</a:t>
            </a:r>
            <a:endParaRPr lang="en-US" sz="2200" dirty="0"/>
          </a:p>
        </p:txBody>
      </p:sp>
      <p:sp>
        <p:nvSpPr>
          <p:cNvPr id="10" name="Text 7"/>
          <p:cNvSpPr txBox="1"/>
          <p:nvPr/>
        </p:nvSpPr>
        <p:spPr>
          <a:xfrm>
            <a:off x="6537960" y="2743200"/>
            <a:ext cx="2103120" cy="822960"/>
          </a:xfrm>
          <a:prstGeom prst="rect">
            <a:avLst/>
          </a:prstGeom>
          <a:noFill/>
          <a:ln/>
        </p:spPr>
        <p:txBody>
          <a:bodyPr wrap="square" lIns="0" tIns="0" rIns="0" bIns="0" rtlCol="0" anchor="ctr"/>
          <a:lstStyle/>
          <a:p>
            <a:pPr indent="0" marL="0">
              <a:buNone/>
            </a:pPr>
            <a:r>
              <a:rPr lang="en-US" sz="1100" b="1" dirty="0">
                <a:solidFill>
                  <a:schemeClr val="tx2"/>
                </a:solidFill>
              </a:rPr>
              <a:t>b0 · intercepto</a:t>
            </a:r>
            <a:endParaRPr lang="en-US" sz="1100" dirty="0"/>
          </a:p>
          <a:p>
            <a:pPr indent="0" marL="0">
              <a:buNone/>
            </a:pPr>
            <a:r>
              <a:rPr lang="en-US" sz="1100" dirty="0">
                <a:solidFill>
                  <a:schemeClr val="tx1"/>
                </a:solidFill>
              </a:rPr>
              <a:t>nota esperada con 0 horas (extrapolación)</a:t>
            </a:r>
            <a:endParaRPr lang="en-US" sz="1100" dirty="0"/>
          </a:p>
        </p:txBody>
      </p:sp>
      <p:sp>
        <p:nvSpPr>
          <p:cNvPr id="11" name="Tarjeta"/>
          <p:cNvSpPr/>
          <p:nvPr/>
        </p:nvSpPr>
        <p:spPr>
          <a:xfrm>
            <a:off x="5577840" y="3685032"/>
            <a:ext cx="3108960" cy="822960"/>
          </a:xfrm>
          <a:prstGeom prst="roundRect">
            <a:avLst>
              <a:gd name="adj" fmla="val 8889"/>
            </a:avLst>
          </a:prstGeom>
          <a:solidFill>
            <a:schemeClr val="bg2"/>
          </a:solidFill>
          <a:ln w="12700">
            <a:solidFill>
              <a:schemeClr val="bg2"/>
            </a:solidFill>
            <a:prstDash val="solid"/>
          </a:ln>
        </p:spPr>
      </p:sp>
      <p:sp>
        <p:nvSpPr>
          <p:cNvPr id="12" name="Text 9"/>
          <p:cNvSpPr txBox="1"/>
          <p:nvPr/>
        </p:nvSpPr>
        <p:spPr>
          <a:xfrm>
            <a:off x="5669280" y="3685032"/>
            <a:ext cx="822960" cy="822960"/>
          </a:xfrm>
          <a:prstGeom prst="rect">
            <a:avLst/>
          </a:prstGeom>
          <a:noFill/>
          <a:ln/>
        </p:spPr>
        <p:txBody>
          <a:bodyPr wrap="square" lIns="0" tIns="0" rIns="0" bIns="0" rtlCol="0" anchor="ctr"/>
          <a:lstStyle/>
          <a:p>
            <a:pPr algn="ctr" indent="0" marL="0">
              <a:buNone/>
            </a:pPr>
            <a:r>
              <a:rPr lang="en-US" sz="2200" b="1" dirty="0">
                <a:solidFill>
                  <a:schemeClr val="accent3"/>
                </a:solidFill>
              </a:rPr>
              <a:t>0,40</a:t>
            </a:r>
            <a:endParaRPr lang="en-US" sz="2200" dirty="0"/>
          </a:p>
        </p:txBody>
      </p:sp>
      <p:sp>
        <p:nvSpPr>
          <p:cNvPr id="13" name="Text 10"/>
          <p:cNvSpPr txBox="1"/>
          <p:nvPr/>
        </p:nvSpPr>
        <p:spPr>
          <a:xfrm>
            <a:off x="6537960" y="3685032"/>
            <a:ext cx="2103120" cy="822960"/>
          </a:xfrm>
          <a:prstGeom prst="rect">
            <a:avLst/>
          </a:prstGeom>
          <a:noFill/>
          <a:ln/>
        </p:spPr>
        <p:txBody>
          <a:bodyPr wrap="square" lIns="0" tIns="0" rIns="0" bIns="0" rtlCol="0" anchor="ctr"/>
          <a:lstStyle/>
          <a:p>
            <a:pPr indent="0" marL="0">
              <a:buNone/>
            </a:pPr>
            <a:r>
              <a:rPr lang="en-US" sz="1100" b="1" dirty="0">
                <a:solidFill>
                  <a:schemeClr val="tx2"/>
                </a:solidFill>
              </a:rPr>
              <a:t>b1 · pendiente</a:t>
            </a:r>
            <a:endParaRPr lang="en-US" sz="1100" dirty="0"/>
          </a:p>
          <a:p>
            <a:pPr indent="0" marL="0">
              <a:buNone/>
            </a:pPr>
            <a:r>
              <a:rPr lang="en-US" sz="1100" dirty="0">
                <a:solidFill>
                  <a:schemeClr val="tx1"/>
                </a:solidFill>
              </a:rPr>
              <a:t>puntos extra por cada hora de estudio</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56032"/>
          </a:xfrm>
          <a:prstGeom prst="rect">
            <a:avLst/>
          </a:prstGeom>
          <a:noFill/>
          <a:ln/>
        </p:spPr>
        <p:txBody>
          <a:bodyPr wrap="square" lIns="0" tIns="0" rIns="0" bIns="0" rtlCol="0"/>
          <a:lstStyle/>
          <a:p>
            <a:pPr indent="0" marL="0">
              <a:buNone/>
            </a:pPr>
            <a:r>
              <a:rPr lang="en-US" sz="1100" b="1" spc="100" kern="0" dirty="0">
                <a:solidFill>
                  <a:schemeClr val="accent3"/>
                </a:solidFill>
              </a:rPr>
              <a:t>PASO 2 · STATSMODELS</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Una fórmula, un ajuste y una tabla de resultados</a:t>
            </a:r>
            <a:endParaRPr lang="en-US" sz="2800" dirty="0"/>
          </a:p>
        </p:txBody>
      </p:sp>
      <p:sp>
        <p:nvSpPr>
          <p:cNvPr id="4" name="Bloque de código"/>
          <p:cNvSpPr/>
          <p:nvPr/>
        </p:nvSpPr>
        <p:spPr>
          <a:xfrm>
            <a:off x="457200" y="1234440"/>
            <a:ext cx="4206240" cy="2011680"/>
          </a:xfrm>
          <a:prstGeom prst="roundRect">
            <a:avLst>
              <a:gd name="adj" fmla="val 3636"/>
            </a:avLst>
          </a:prstGeom>
          <a:solidFill>
            <a:schemeClr val="tx2"/>
          </a:solidFill>
          <a:ln w="12700">
            <a:solidFill>
              <a:schemeClr val="tx2"/>
            </a:solidFill>
            <a:prstDash val="solid"/>
          </a:ln>
        </p:spPr>
      </p:sp>
      <p:sp>
        <p:nvSpPr>
          <p:cNvPr id="5" name="Text 3"/>
          <p:cNvSpPr txBox="1"/>
          <p:nvPr/>
        </p:nvSpPr>
        <p:spPr>
          <a:xfrm>
            <a:off x="594360" y="1325880"/>
            <a:ext cx="3931920" cy="1828800"/>
          </a:xfrm>
          <a:prstGeom prst="rect">
            <a:avLst/>
          </a:prstGeom>
          <a:noFill/>
          <a:ln/>
        </p:spPr>
        <p:txBody>
          <a:bodyPr wrap="square" lIns="0" tIns="0" rIns="0" bIns="0" rtlCol="0" anchor="t"/>
          <a:lstStyle/>
          <a:p>
            <a:pPr indent="0" marL="0">
              <a:spcAft>
                <a:spcPts val="200"/>
              </a:spcAft>
              <a:buNone/>
            </a:pPr>
            <a:r>
              <a:rPr lang="en-US" sz="1000" dirty="0">
                <a:solidFill>
                  <a:schemeClr val="bg1"/>
                </a:solidFill>
                <a:latin typeface="Courier New" pitchFamily="34" charset="0"/>
                <a:ea typeface="Courier New" pitchFamily="34" charset="-122"/>
                <a:cs typeface="Courier New" pitchFamily="34" charset="-120"/>
              </a:rPr>
              <a:t>import statsmodels.formula.api as smf</a:t>
            </a:r>
            <a:endParaRPr lang="en-US" sz="1000" dirty="0"/>
          </a:p>
          <a:p>
            <a:pPr indent="0" marL="0">
              <a:spcAft>
                <a:spcPts val="200"/>
              </a:spcAft>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indent="0" marL="0">
              <a:spcAft>
                <a:spcPts val="200"/>
              </a:spcAft>
              <a:buNone/>
            </a:pPr>
            <a:r>
              <a:rPr lang="en-US" sz="1000" dirty="0">
                <a:solidFill>
                  <a:schemeClr val="bg1"/>
                </a:solidFill>
                <a:latin typeface="Courier New" pitchFamily="34" charset="0"/>
                <a:ea typeface="Courier New" pitchFamily="34" charset="-122"/>
                <a:cs typeface="Courier New" pitchFamily="34" charset="-120"/>
              </a:rPr>
              <a:t>modelo = smf.ols("nota_final ~ horas_estudio",</a:t>
            </a:r>
            <a:endParaRPr lang="en-US" sz="1000" dirty="0"/>
          </a:p>
          <a:p>
            <a:pPr indent="0" marL="0">
              <a:spcAft>
                <a:spcPts val="200"/>
              </a:spcAft>
              <a:buNone/>
            </a:pPr>
            <a:r>
              <a:rPr lang="en-US" sz="1000" dirty="0">
                <a:solidFill>
                  <a:schemeClr val="bg1"/>
                </a:solidFill>
                <a:latin typeface="Courier New" pitchFamily="34" charset="0"/>
                <a:ea typeface="Courier New" pitchFamily="34" charset="-122"/>
                <a:cs typeface="Courier New" pitchFamily="34" charset="-120"/>
              </a:rPr>
              <a:t>                 data=df).fit()</a:t>
            </a:r>
            <a:endParaRPr lang="en-US" sz="1000" dirty="0"/>
          </a:p>
          <a:p>
            <a:pPr indent="0" marL="0">
              <a:spcAft>
                <a:spcPts val="200"/>
              </a:spcAft>
              <a:buNone/>
            </a:pPr>
            <a:r>
              <a:rPr lang="en-US" sz="1000" dirty="0">
                <a:solidFill>
                  <a:schemeClr val="bg1"/>
                </a:solidFill>
                <a:latin typeface="Courier New" pitchFamily="34" charset="0"/>
                <a:ea typeface="Courier New" pitchFamily="34" charset="-122"/>
                <a:cs typeface="Courier New" pitchFamily="34" charset="-120"/>
              </a:rPr>
              <a:t>modelo.params      # b0 y b1</a:t>
            </a:r>
            <a:endParaRPr lang="en-US" sz="1000" dirty="0"/>
          </a:p>
          <a:p>
            <a:pPr indent="0" marL="0">
              <a:spcAft>
                <a:spcPts val="200"/>
              </a:spcAft>
              <a:buNone/>
            </a:pPr>
            <a:r>
              <a:rPr lang="en-US" sz="1000" dirty="0">
                <a:solidFill>
                  <a:schemeClr val="bg1"/>
                </a:solidFill>
                <a:latin typeface="Courier New" pitchFamily="34" charset="0"/>
                <a:ea typeface="Courier New" pitchFamily="34" charset="-122"/>
                <a:cs typeface="Courier New" pitchFamily="34" charset="-120"/>
              </a:rPr>
              <a:t>modelo.rsquared    # R²</a:t>
            </a:r>
            <a:endParaRPr lang="en-US" sz="1000" dirty="0"/>
          </a:p>
          <a:p>
            <a:pPr indent="0" marL="0">
              <a:spcAft>
                <a:spcPts val="200"/>
              </a:spcAft>
              <a:buNone/>
            </a:pPr>
            <a:r>
              <a:rPr lang="en-US" sz="1000" dirty="0">
                <a:solidFill>
                  <a:schemeClr val="bg1"/>
                </a:solidFill>
                <a:latin typeface="Courier New" pitchFamily="34" charset="0"/>
                <a:ea typeface="Courier New" pitchFamily="34" charset="-122"/>
                <a:cs typeface="Courier New" pitchFamily="34" charset="-120"/>
              </a:rPr>
              <a:t>modelo.summary()   # tabla completa</a:t>
            </a:r>
            <a:endParaRPr lang="en-US" sz="1000" dirty="0"/>
          </a:p>
        </p:txBody>
      </p:sp>
      <p:sp>
        <p:nvSpPr>
          <p:cNvPr id="6" name="Text 4"/>
          <p:cNvSpPr txBox="1"/>
          <p:nvPr/>
        </p:nvSpPr>
        <p:spPr>
          <a:xfrm>
            <a:off x="457200" y="3383280"/>
            <a:ext cx="4206240" cy="1097280"/>
          </a:xfrm>
          <a:prstGeom prst="rect">
            <a:avLst/>
          </a:prstGeom>
          <a:noFill/>
          <a:ln/>
        </p:spPr>
        <p:txBody>
          <a:bodyPr wrap="square" lIns="0" tIns="0" rIns="0" bIns="0" rtlCol="0" anchor="t"/>
          <a:lstStyle/>
          <a:p>
            <a:pPr indent="0" marL="0">
              <a:buNone/>
            </a:pPr>
            <a:r>
              <a:rPr lang="en-US" sz="1300" b="1" dirty="0">
                <a:solidFill>
                  <a:schemeClr val="accent2"/>
                </a:solidFill>
                <a:latin typeface="Courier New" pitchFamily="34" charset="0"/>
                <a:ea typeface="Courier New" pitchFamily="34" charset="-122"/>
                <a:cs typeface="Courier New" pitchFamily="34" charset="-120"/>
              </a:rPr>
              <a:t>y ~ x  </a:t>
            </a:r>
            <a:pPr indent="0" marL="0">
              <a:buNone/>
            </a:pPr>
            <a:r>
              <a:rPr lang="en-US" sz="1300" dirty="0">
                <a:solidFill>
                  <a:schemeClr val="tx1"/>
                </a:solidFill>
              </a:rPr>
              <a:t>se lee “y explicada por x”. A la izquierda va la variable a explicar; a la derecha, las explicativas.</a:t>
            </a:r>
            <a:endParaRPr lang="en-US" sz="1300" dirty="0"/>
          </a:p>
        </p:txBody>
      </p:sp>
      <p:sp>
        <p:nvSpPr>
          <p:cNvPr id="7" name="Tarjeta"/>
          <p:cNvSpPr/>
          <p:nvPr/>
        </p:nvSpPr>
        <p:spPr>
          <a:xfrm>
            <a:off x="4937760" y="1234440"/>
            <a:ext cx="1783080" cy="1508760"/>
          </a:xfrm>
          <a:prstGeom prst="roundRect">
            <a:avLst>
              <a:gd name="adj" fmla="val 4848"/>
            </a:avLst>
          </a:prstGeom>
          <a:solidFill>
            <a:schemeClr val="bg2"/>
          </a:solidFill>
          <a:ln w="12700">
            <a:solidFill>
              <a:schemeClr val="bg2"/>
            </a:solidFill>
            <a:prstDash val="solid"/>
          </a:ln>
        </p:spPr>
      </p:sp>
      <p:sp>
        <p:nvSpPr>
          <p:cNvPr id="8" name="Text 6"/>
          <p:cNvSpPr txBox="1"/>
          <p:nvPr/>
        </p:nvSpPr>
        <p:spPr>
          <a:xfrm>
            <a:off x="4937760" y="1307592"/>
            <a:ext cx="1783080" cy="875081"/>
          </a:xfrm>
          <a:prstGeom prst="rect">
            <a:avLst/>
          </a:prstGeom>
          <a:noFill/>
          <a:ln/>
        </p:spPr>
        <p:txBody>
          <a:bodyPr wrap="square" lIns="0" tIns="0" rIns="0" bIns="0" rtlCol="0" anchor="ctr"/>
          <a:lstStyle/>
          <a:p>
            <a:pPr algn="ctr" indent="0" marL="0">
              <a:buNone/>
            </a:pPr>
            <a:r>
              <a:rPr lang="en-US" sz="3200" b="1" dirty="0">
                <a:solidFill>
                  <a:schemeClr val="accent3"/>
                </a:solidFill>
              </a:rPr>
              <a:t>0,40</a:t>
            </a:r>
            <a:endParaRPr lang="en-US" sz="3200" dirty="0"/>
          </a:p>
        </p:txBody>
      </p:sp>
      <p:sp>
        <p:nvSpPr>
          <p:cNvPr id="9" name="Text 7"/>
          <p:cNvSpPr txBox="1"/>
          <p:nvPr/>
        </p:nvSpPr>
        <p:spPr>
          <a:xfrm>
            <a:off x="5029200" y="2169871"/>
            <a:ext cx="1600200" cy="482803"/>
          </a:xfrm>
          <a:prstGeom prst="rect">
            <a:avLst/>
          </a:prstGeom>
          <a:noFill/>
          <a:ln/>
        </p:spPr>
        <p:txBody>
          <a:bodyPr wrap="square" lIns="0" tIns="0" rIns="0" bIns="0" rtlCol="0" anchor="t"/>
          <a:lstStyle/>
          <a:p>
            <a:pPr algn="ctr" indent="0" marL="0">
              <a:buNone/>
            </a:pPr>
            <a:r>
              <a:rPr lang="en-US" sz="1200" dirty="0">
                <a:solidFill>
                  <a:schemeClr val="tx1"/>
                </a:solidFill>
              </a:rPr>
              <a:t>pendiente (b1)</a:t>
            </a:r>
            <a:endParaRPr lang="en-US" sz="1200" dirty="0"/>
          </a:p>
        </p:txBody>
      </p:sp>
      <p:sp>
        <p:nvSpPr>
          <p:cNvPr id="10" name="Tarjeta"/>
          <p:cNvSpPr/>
          <p:nvPr/>
        </p:nvSpPr>
        <p:spPr>
          <a:xfrm>
            <a:off x="6903720" y="1234440"/>
            <a:ext cx="1783080" cy="1508760"/>
          </a:xfrm>
          <a:prstGeom prst="roundRect">
            <a:avLst>
              <a:gd name="adj" fmla="val 4848"/>
            </a:avLst>
          </a:prstGeom>
          <a:solidFill>
            <a:schemeClr val="bg2"/>
          </a:solidFill>
          <a:ln w="12700">
            <a:solidFill>
              <a:schemeClr val="bg2"/>
            </a:solidFill>
            <a:prstDash val="solid"/>
          </a:ln>
        </p:spPr>
      </p:sp>
      <p:sp>
        <p:nvSpPr>
          <p:cNvPr id="11" name="Text 9"/>
          <p:cNvSpPr txBox="1"/>
          <p:nvPr/>
        </p:nvSpPr>
        <p:spPr>
          <a:xfrm>
            <a:off x="6903720" y="1307592"/>
            <a:ext cx="1783080" cy="875081"/>
          </a:xfrm>
          <a:prstGeom prst="rect">
            <a:avLst/>
          </a:prstGeom>
          <a:noFill/>
          <a:ln/>
        </p:spPr>
        <p:txBody>
          <a:bodyPr wrap="square" lIns="0" tIns="0" rIns="0" bIns="0" rtlCol="0" anchor="ctr"/>
          <a:lstStyle/>
          <a:p>
            <a:pPr algn="ctr" indent="0" marL="0">
              <a:buNone/>
            </a:pPr>
            <a:r>
              <a:rPr lang="en-US" sz="3200" b="1" dirty="0">
                <a:solidFill>
                  <a:schemeClr val="accent2"/>
                </a:solidFill>
              </a:rPr>
              <a:t>64 %</a:t>
            </a:r>
            <a:endParaRPr lang="en-US" sz="3200" dirty="0"/>
          </a:p>
        </p:txBody>
      </p:sp>
      <p:sp>
        <p:nvSpPr>
          <p:cNvPr id="12" name="Text 10"/>
          <p:cNvSpPr txBox="1"/>
          <p:nvPr/>
        </p:nvSpPr>
        <p:spPr>
          <a:xfrm>
            <a:off x="6995160" y="2169871"/>
            <a:ext cx="1600200" cy="482803"/>
          </a:xfrm>
          <a:prstGeom prst="rect">
            <a:avLst/>
          </a:prstGeom>
          <a:noFill/>
          <a:ln/>
        </p:spPr>
        <p:txBody>
          <a:bodyPr wrap="square" lIns="0" tIns="0" rIns="0" bIns="0" rtlCol="0" anchor="t"/>
          <a:lstStyle/>
          <a:p>
            <a:pPr algn="ctr" indent="0" marL="0">
              <a:buNone/>
            </a:pPr>
            <a:r>
              <a:rPr lang="en-US" sz="1200" dirty="0">
                <a:solidFill>
                  <a:schemeClr val="tx1"/>
                </a:solidFill>
              </a:rPr>
              <a:t>R²: variación explicada</a:t>
            </a:r>
            <a:endParaRPr lang="en-US" sz="1200" dirty="0"/>
          </a:p>
        </p:txBody>
      </p:sp>
      <p:sp>
        <p:nvSpPr>
          <p:cNvPr id="13" name="Tarjeta"/>
          <p:cNvSpPr/>
          <p:nvPr/>
        </p:nvSpPr>
        <p:spPr>
          <a:xfrm>
            <a:off x="4937760" y="2926080"/>
            <a:ext cx="1783080" cy="1508760"/>
          </a:xfrm>
          <a:prstGeom prst="roundRect">
            <a:avLst>
              <a:gd name="adj" fmla="val 4848"/>
            </a:avLst>
          </a:prstGeom>
          <a:solidFill>
            <a:schemeClr val="bg2"/>
          </a:solidFill>
          <a:ln w="12700">
            <a:solidFill>
              <a:schemeClr val="bg2"/>
            </a:solidFill>
            <a:prstDash val="solid"/>
          </a:ln>
        </p:spPr>
      </p:sp>
      <p:sp>
        <p:nvSpPr>
          <p:cNvPr id="14" name="Text 12"/>
          <p:cNvSpPr txBox="1"/>
          <p:nvPr/>
        </p:nvSpPr>
        <p:spPr>
          <a:xfrm>
            <a:off x="4937760" y="2999232"/>
            <a:ext cx="1783080" cy="875081"/>
          </a:xfrm>
          <a:prstGeom prst="rect">
            <a:avLst/>
          </a:prstGeom>
          <a:noFill/>
          <a:ln/>
        </p:spPr>
        <p:txBody>
          <a:bodyPr wrap="square" lIns="0" tIns="0" rIns="0" bIns="0" rtlCol="0" anchor="ctr"/>
          <a:lstStyle/>
          <a:p>
            <a:pPr algn="ctr" indent="0" marL="0">
              <a:buNone/>
            </a:pPr>
            <a:r>
              <a:rPr lang="en-US" sz="2600" b="1" dirty="0">
                <a:solidFill>
                  <a:schemeClr val="accent2"/>
                </a:solidFill>
              </a:rPr>
              <a:t>&lt; 0,001</a:t>
            </a:r>
            <a:endParaRPr lang="en-US" sz="2600" dirty="0"/>
          </a:p>
        </p:txBody>
      </p:sp>
      <p:sp>
        <p:nvSpPr>
          <p:cNvPr id="15" name="Text 13"/>
          <p:cNvSpPr txBox="1"/>
          <p:nvPr/>
        </p:nvSpPr>
        <p:spPr>
          <a:xfrm>
            <a:off x="5029200" y="3861511"/>
            <a:ext cx="1600200" cy="482803"/>
          </a:xfrm>
          <a:prstGeom prst="rect">
            <a:avLst/>
          </a:prstGeom>
          <a:noFill/>
          <a:ln/>
        </p:spPr>
        <p:txBody>
          <a:bodyPr wrap="square" lIns="0" tIns="0" rIns="0" bIns="0" rtlCol="0" anchor="t"/>
          <a:lstStyle/>
          <a:p>
            <a:pPr algn="ctr" indent="0" marL="0">
              <a:buNone/>
            </a:pPr>
            <a:r>
              <a:rPr lang="en-US" sz="1200" dirty="0">
                <a:solidFill>
                  <a:schemeClr val="tx1"/>
                </a:solidFill>
              </a:rPr>
              <a:t>p-valor de b1</a:t>
            </a:r>
            <a:endParaRPr lang="en-US" sz="1200" dirty="0"/>
          </a:p>
        </p:txBody>
      </p:sp>
      <p:sp>
        <p:nvSpPr>
          <p:cNvPr id="16" name="Tarjeta"/>
          <p:cNvSpPr/>
          <p:nvPr/>
        </p:nvSpPr>
        <p:spPr>
          <a:xfrm>
            <a:off x="6903720" y="2926080"/>
            <a:ext cx="1783080" cy="1508760"/>
          </a:xfrm>
          <a:prstGeom prst="roundRect">
            <a:avLst>
              <a:gd name="adj" fmla="val 4848"/>
            </a:avLst>
          </a:prstGeom>
          <a:solidFill>
            <a:schemeClr val="bg2"/>
          </a:solidFill>
          <a:ln w="12700">
            <a:solidFill>
              <a:schemeClr val="bg2"/>
            </a:solidFill>
            <a:prstDash val="solid"/>
          </a:ln>
        </p:spPr>
      </p:sp>
      <p:sp>
        <p:nvSpPr>
          <p:cNvPr id="17" name="Text 15"/>
          <p:cNvSpPr txBox="1"/>
          <p:nvPr/>
        </p:nvSpPr>
        <p:spPr>
          <a:xfrm>
            <a:off x="6903720" y="2999232"/>
            <a:ext cx="1783080" cy="875081"/>
          </a:xfrm>
          <a:prstGeom prst="rect">
            <a:avLst/>
          </a:prstGeom>
          <a:noFill/>
          <a:ln/>
        </p:spPr>
        <p:txBody>
          <a:bodyPr wrap="square" lIns="0" tIns="0" rIns="0" bIns="0" rtlCol="0" anchor="ctr"/>
          <a:lstStyle/>
          <a:p>
            <a:pPr algn="ctr" indent="0" marL="0">
              <a:buNone/>
            </a:pPr>
            <a:r>
              <a:rPr lang="en-US" sz="3200" b="1" dirty="0">
                <a:solidFill>
                  <a:schemeClr val="accent6"/>
                </a:solidFill>
              </a:rPr>
              <a:t>150</a:t>
            </a:r>
            <a:endParaRPr lang="en-US" sz="3200" dirty="0"/>
          </a:p>
        </p:txBody>
      </p:sp>
      <p:sp>
        <p:nvSpPr>
          <p:cNvPr id="18" name="Text 16"/>
          <p:cNvSpPr txBox="1"/>
          <p:nvPr/>
        </p:nvSpPr>
        <p:spPr>
          <a:xfrm>
            <a:off x="6995160" y="3861511"/>
            <a:ext cx="1600200" cy="482803"/>
          </a:xfrm>
          <a:prstGeom prst="rect">
            <a:avLst/>
          </a:prstGeom>
          <a:noFill/>
          <a:ln/>
        </p:spPr>
        <p:txBody>
          <a:bodyPr wrap="square" lIns="0" tIns="0" rIns="0" bIns="0" rtlCol="0" anchor="t"/>
          <a:lstStyle/>
          <a:p>
            <a:pPr algn="ctr" indent="0" marL="0">
              <a:buNone/>
            </a:pPr>
            <a:r>
              <a:rPr lang="en-US" sz="1200" dirty="0">
                <a:solidFill>
                  <a:schemeClr val="tx1"/>
                </a:solidFill>
              </a:rPr>
              <a:t>observaciones</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56032"/>
          </a:xfrm>
          <a:prstGeom prst="rect">
            <a:avLst/>
          </a:prstGeom>
          <a:noFill/>
          <a:ln/>
        </p:spPr>
        <p:txBody>
          <a:bodyPr wrap="square" lIns="0" tIns="0" rIns="0" bIns="0" rtlCol="0"/>
          <a:lstStyle/>
          <a:p>
            <a:pPr indent="0" marL="0">
              <a:buNone/>
            </a:pPr>
            <a:r>
              <a:rPr lang="en-US" sz="1100" b="1" spc="100" kern="0" dirty="0">
                <a:solidFill>
                  <a:schemeClr val="accent3"/>
                </a:solidFill>
              </a:rPr>
              <a:t>PASO 2 · INTERPRETAR Y PREDECIR</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Del coeficiente a una frase que cualquiera entienda</a:t>
            </a:r>
            <a:endParaRPr lang="en-US" sz="2800" dirty="0"/>
          </a:p>
        </p:txBody>
      </p:sp>
      <p:sp>
        <p:nvSpPr>
          <p:cNvPr id="4" name="Tarjeta"/>
          <p:cNvSpPr/>
          <p:nvPr/>
        </p:nvSpPr>
        <p:spPr>
          <a:xfrm>
            <a:off x="457200" y="1234440"/>
            <a:ext cx="4023360" cy="1463040"/>
          </a:xfrm>
          <a:prstGeom prst="roundRect">
            <a:avLst>
              <a:gd name="adj" fmla="val 5000"/>
            </a:avLst>
          </a:prstGeom>
          <a:solidFill>
            <a:schemeClr val="tx2"/>
          </a:solidFill>
          <a:ln w="12700">
            <a:solidFill>
              <a:schemeClr val="tx2"/>
            </a:solidFill>
            <a:prstDash val="solid"/>
          </a:ln>
        </p:spPr>
      </p:sp>
      <p:sp>
        <p:nvSpPr>
          <p:cNvPr id="5" name="Text 3"/>
          <p:cNvSpPr txBox="1"/>
          <p:nvPr/>
        </p:nvSpPr>
        <p:spPr>
          <a:xfrm>
            <a:off x="640080" y="1325880"/>
            <a:ext cx="3657600" cy="1280160"/>
          </a:xfrm>
          <a:prstGeom prst="rect">
            <a:avLst/>
          </a:prstGeom>
          <a:noFill/>
          <a:ln/>
        </p:spPr>
        <p:txBody>
          <a:bodyPr wrap="square" lIns="0" tIns="0" rIns="0" bIns="0" rtlCol="0" anchor="ctr"/>
          <a:lstStyle/>
          <a:p>
            <a:pPr indent="0" marL="0">
              <a:buNone/>
            </a:pPr>
            <a:r>
              <a:rPr lang="en-US" sz="1500" i="1" dirty="0">
                <a:solidFill>
                  <a:schemeClr val="bg1"/>
                </a:solidFill>
              </a:rPr>
              <a:t>“Cada hora adicional de estudio semanal se asocia, en promedio, con 0,40 puntos más de nota final.”</a:t>
            </a:r>
            <a:endParaRPr lang="en-US" sz="1500" dirty="0"/>
          </a:p>
        </p:txBody>
      </p:sp>
      <p:sp>
        <p:nvSpPr>
          <p:cNvPr id="6" name="Text 4"/>
          <p:cNvSpPr txBox="1"/>
          <p:nvPr/>
        </p:nvSpPr>
        <p:spPr>
          <a:xfrm>
            <a:off x="457200" y="2788920"/>
            <a:ext cx="4023360" cy="685800"/>
          </a:xfrm>
          <a:prstGeom prst="rect">
            <a:avLst/>
          </a:prstGeom>
          <a:noFill/>
          <a:ln/>
        </p:spPr>
        <p:txBody>
          <a:bodyPr wrap="square" lIns="0" tIns="0" rIns="0" bIns="0" rtlCol="0" anchor="t"/>
          <a:lstStyle/>
          <a:p>
            <a:pPr indent="0" marL="0">
              <a:buNone/>
            </a:pPr>
            <a:r>
              <a:rPr lang="en-US" sz="1200" b="1" dirty="0">
                <a:solidFill>
                  <a:schemeClr val="accent4"/>
                </a:solidFill>
              </a:rPr>
              <a:t>Se asocia, no causa: </a:t>
            </a:r>
            <a:pPr indent="0" marL="0">
              <a:buNone/>
            </a:pPr>
            <a:r>
              <a:rPr lang="en-US" sz="1200" dirty="0">
                <a:solidFill>
                  <a:schemeClr val="tx1"/>
                </a:solidFill>
              </a:rPr>
              <a:t>es un estudio observacional. Y no extrapolar fuera del rango de los datos (0,5 a 15 horas).</a:t>
            </a:r>
            <a:endParaRPr lang="en-US" sz="1200" dirty="0"/>
          </a:p>
        </p:txBody>
      </p:sp>
      <p:sp>
        <p:nvSpPr>
          <p:cNvPr id="7" name="Bloque de código"/>
          <p:cNvSpPr/>
          <p:nvPr/>
        </p:nvSpPr>
        <p:spPr>
          <a:xfrm>
            <a:off x="457200" y="3520440"/>
            <a:ext cx="4023360" cy="1051560"/>
          </a:xfrm>
          <a:prstGeom prst="roundRect">
            <a:avLst>
              <a:gd name="adj" fmla="val 6957"/>
            </a:avLst>
          </a:prstGeom>
          <a:solidFill>
            <a:schemeClr val="tx2"/>
          </a:solidFill>
          <a:ln w="12700">
            <a:solidFill>
              <a:schemeClr val="tx2"/>
            </a:solidFill>
            <a:prstDash val="solid"/>
          </a:ln>
        </p:spPr>
      </p:sp>
      <p:sp>
        <p:nvSpPr>
          <p:cNvPr id="8" name="Text 6"/>
          <p:cNvSpPr txBox="1"/>
          <p:nvPr/>
        </p:nvSpPr>
        <p:spPr>
          <a:xfrm>
            <a:off x="594360" y="3611880"/>
            <a:ext cx="3749040" cy="868680"/>
          </a:xfrm>
          <a:prstGeom prst="rect">
            <a:avLst/>
          </a:prstGeom>
          <a:noFill/>
          <a:ln/>
        </p:spPr>
        <p:txBody>
          <a:bodyPr wrap="square" lIns="0" tIns="0" rIns="0" bIns="0" rtlCol="0" anchor="t"/>
          <a:lstStyle/>
          <a:p>
            <a:pPr indent="0" marL="0">
              <a:spcAft>
                <a:spcPts val="200"/>
              </a:spcAft>
              <a:buNone/>
            </a:pPr>
            <a:r>
              <a:rPr lang="en-US" sz="1000" dirty="0">
                <a:solidFill>
                  <a:schemeClr val="bg1"/>
                </a:solidFill>
                <a:latin typeface="Courier New" pitchFamily="34" charset="0"/>
                <a:ea typeface="Courier New" pitchFamily="34" charset="-122"/>
                <a:cs typeface="Courier New" pitchFamily="34" charset="-120"/>
              </a:rPr>
              <a:t>nuevos = pd.DataFrame(</a:t>
            </a:r>
            <a:endParaRPr lang="en-US" sz="1000" dirty="0"/>
          </a:p>
          <a:p>
            <a:pPr indent="0" marL="0">
              <a:spcAft>
                <a:spcPts val="200"/>
              </a:spcAft>
              <a:buNone/>
            </a:pPr>
            <a:r>
              <a:rPr lang="en-US" sz="1000" dirty="0">
                <a:solidFill>
                  <a:schemeClr val="bg1"/>
                </a:solidFill>
                <a:latin typeface="Courier New" pitchFamily="34" charset="0"/>
                <a:ea typeface="Courier New" pitchFamily="34" charset="-122"/>
                <a:cs typeface="Courier New" pitchFamily="34" charset="-120"/>
              </a:rPr>
              <a:t>    {"horas_estudio": [3, 7, 12]})</a:t>
            </a:r>
            <a:endParaRPr lang="en-US" sz="1000" dirty="0"/>
          </a:p>
          <a:p>
            <a:pPr indent="0" marL="0">
              <a:spcAft>
                <a:spcPts val="200"/>
              </a:spcAft>
              <a:buNone/>
            </a:pPr>
            <a:r>
              <a:rPr lang="en-US" sz="1000" dirty="0">
                <a:solidFill>
                  <a:schemeClr val="bg1"/>
                </a:solidFill>
                <a:latin typeface="Courier New" pitchFamily="34" charset="0"/>
                <a:ea typeface="Courier New" pitchFamily="34" charset="-122"/>
                <a:cs typeface="Courier New" pitchFamily="34" charset="-120"/>
              </a:rPr>
              <a:t>modelo.predict(nuevos)</a:t>
            </a:r>
            <a:endParaRPr lang="en-US" sz="1000" dirty="0"/>
          </a:p>
        </p:txBody>
      </p:sp>
      <p:sp>
        <p:nvSpPr>
          <p:cNvPr id="9" name="Text 7"/>
          <p:cNvSpPr txBox="1"/>
          <p:nvPr/>
        </p:nvSpPr>
        <p:spPr>
          <a:xfrm>
            <a:off x="4754880" y="1234440"/>
            <a:ext cx="3931920" cy="320040"/>
          </a:xfrm>
          <a:prstGeom prst="rect">
            <a:avLst/>
          </a:prstGeom>
          <a:noFill/>
          <a:ln/>
        </p:spPr>
        <p:txBody>
          <a:bodyPr wrap="square" lIns="0" tIns="0" rIns="0" bIns="0" rtlCol="0" anchor="ctr"/>
          <a:lstStyle/>
          <a:p>
            <a:pPr indent="0" marL="0">
              <a:buNone/>
            </a:pPr>
            <a:r>
              <a:rPr lang="en-US" sz="1400" b="1" dirty="0">
                <a:solidFill>
                  <a:schemeClr val="tx2"/>
                </a:solidFill>
              </a:rPr>
              <a:t>Predicciones del modelo</a:t>
            </a:r>
            <a:endParaRPr lang="en-US" sz="1400" dirty="0"/>
          </a:p>
        </p:txBody>
      </p:sp>
      <p:sp>
        <p:nvSpPr>
          <p:cNvPr id="10" name="Tarjeta"/>
          <p:cNvSpPr/>
          <p:nvPr/>
        </p:nvSpPr>
        <p:spPr>
          <a:xfrm>
            <a:off x="4754880" y="1691640"/>
            <a:ext cx="3931920" cy="822960"/>
          </a:xfrm>
          <a:prstGeom prst="roundRect">
            <a:avLst>
              <a:gd name="adj" fmla="val 8889"/>
            </a:avLst>
          </a:prstGeom>
          <a:solidFill>
            <a:schemeClr val="bg2"/>
          </a:solidFill>
          <a:ln w="12700">
            <a:solidFill>
              <a:schemeClr val="bg2"/>
            </a:solidFill>
            <a:prstDash val="solid"/>
          </a:ln>
        </p:spPr>
      </p:sp>
      <p:sp>
        <p:nvSpPr>
          <p:cNvPr id="11" name="Text 9"/>
          <p:cNvSpPr txBox="1"/>
          <p:nvPr/>
        </p:nvSpPr>
        <p:spPr>
          <a:xfrm>
            <a:off x="4892040" y="1691640"/>
            <a:ext cx="1371600" cy="822960"/>
          </a:xfrm>
          <a:prstGeom prst="rect">
            <a:avLst/>
          </a:prstGeom>
          <a:noFill/>
          <a:ln/>
        </p:spPr>
        <p:txBody>
          <a:bodyPr wrap="square" lIns="0" tIns="0" rIns="0" bIns="0" rtlCol="0" anchor="ctr"/>
          <a:lstStyle/>
          <a:p>
            <a:pPr indent="0" marL="0">
              <a:buNone/>
            </a:pPr>
            <a:r>
              <a:rPr lang="en-US" sz="2000" b="1" dirty="0">
                <a:solidFill>
                  <a:schemeClr val="accent6"/>
                </a:solidFill>
              </a:rPr>
              <a:t>3 h</a:t>
            </a:r>
            <a:endParaRPr lang="en-US" sz="2000" dirty="0"/>
          </a:p>
        </p:txBody>
      </p:sp>
      <p:sp>
        <p:nvSpPr>
          <p:cNvPr id="12" name="Flecha"/>
          <p:cNvSpPr/>
          <p:nvPr/>
        </p:nvSpPr>
        <p:spPr>
          <a:xfrm>
            <a:off x="6309360" y="1993392"/>
            <a:ext cx="365760" cy="219456"/>
          </a:xfrm>
          <a:prstGeom prst="rightArrow">
            <a:avLst/>
          </a:prstGeom>
          <a:solidFill>
            <a:schemeClr val="accent6"/>
          </a:solidFill>
          <a:ln w="12700">
            <a:solidFill>
              <a:schemeClr val="accent6"/>
            </a:solidFill>
            <a:prstDash val="solid"/>
          </a:ln>
        </p:spPr>
      </p:sp>
      <p:sp>
        <p:nvSpPr>
          <p:cNvPr id="13" name="Text 11"/>
          <p:cNvSpPr txBox="1"/>
          <p:nvPr/>
        </p:nvSpPr>
        <p:spPr>
          <a:xfrm>
            <a:off x="6858000" y="1691640"/>
            <a:ext cx="1737360" cy="822960"/>
          </a:xfrm>
          <a:prstGeom prst="rect">
            <a:avLst/>
          </a:prstGeom>
          <a:noFill/>
          <a:ln/>
        </p:spPr>
        <p:txBody>
          <a:bodyPr wrap="square" lIns="0" tIns="0" rIns="0" bIns="0" rtlCol="0" anchor="ctr"/>
          <a:lstStyle/>
          <a:p>
            <a:pPr indent="0" marL="0">
              <a:buNone/>
            </a:pPr>
            <a:r>
              <a:rPr lang="en-US" sz="2600" b="1" dirty="0">
                <a:solidFill>
                  <a:schemeClr val="accent3"/>
                </a:solidFill>
              </a:rPr>
              <a:t>3,91</a:t>
            </a:r>
            <a:endParaRPr lang="en-US" sz="2600" dirty="0"/>
          </a:p>
        </p:txBody>
      </p:sp>
      <p:sp>
        <p:nvSpPr>
          <p:cNvPr id="14" name="Tarjeta"/>
          <p:cNvSpPr/>
          <p:nvPr/>
        </p:nvSpPr>
        <p:spPr>
          <a:xfrm>
            <a:off x="4754880" y="2651760"/>
            <a:ext cx="3931920" cy="822960"/>
          </a:xfrm>
          <a:prstGeom prst="roundRect">
            <a:avLst>
              <a:gd name="adj" fmla="val 8889"/>
            </a:avLst>
          </a:prstGeom>
          <a:solidFill>
            <a:schemeClr val="bg2"/>
          </a:solidFill>
          <a:ln w="12700">
            <a:solidFill>
              <a:schemeClr val="bg2"/>
            </a:solidFill>
            <a:prstDash val="solid"/>
          </a:ln>
        </p:spPr>
      </p:sp>
      <p:sp>
        <p:nvSpPr>
          <p:cNvPr id="15" name="Text 13"/>
          <p:cNvSpPr txBox="1"/>
          <p:nvPr/>
        </p:nvSpPr>
        <p:spPr>
          <a:xfrm>
            <a:off x="4892040" y="2651760"/>
            <a:ext cx="1371600" cy="822960"/>
          </a:xfrm>
          <a:prstGeom prst="rect">
            <a:avLst/>
          </a:prstGeom>
          <a:noFill/>
          <a:ln/>
        </p:spPr>
        <p:txBody>
          <a:bodyPr wrap="square" lIns="0" tIns="0" rIns="0" bIns="0" rtlCol="0" anchor="ctr"/>
          <a:lstStyle/>
          <a:p>
            <a:pPr indent="0" marL="0">
              <a:buNone/>
            </a:pPr>
            <a:r>
              <a:rPr lang="en-US" sz="2000" b="1" dirty="0">
                <a:solidFill>
                  <a:schemeClr val="accent6"/>
                </a:solidFill>
              </a:rPr>
              <a:t>7 h</a:t>
            </a:r>
            <a:endParaRPr lang="en-US" sz="2000" dirty="0"/>
          </a:p>
        </p:txBody>
      </p:sp>
      <p:sp>
        <p:nvSpPr>
          <p:cNvPr id="16" name="Flecha"/>
          <p:cNvSpPr/>
          <p:nvPr/>
        </p:nvSpPr>
        <p:spPr>
          <a:xfrm>
            <a:off x="6309360" y="2953512"/>
            <a:ext cx="365760" cy="219456"/>
          </a:xfrm>
          <a:prstGeom prst="rightArrow">
            <a:avLst/>
          </a:prstGeom>
          <a:solidFill>
            <a:schemeClr val="accent6"/>
          </a:solidFill>
          <a:ln w="12700">
            <a:solidFill>
              <a:schemeClr val="accent6"/>
            </a:solidFill>
            <a:prstDash val="solid"/>
          </a:ln>
        </p:spPr>
      </p:sp>
      <p:sp>
        <p:nvSpPr>
          <p:cNvPr id="17" name="Text 15"/>
          <p:cNvSpPr txBox="1"/>
          <p:nvPr/>
        </p:nvSpPr>
        <p:spPr>
          <a:xfrm>
            <a:off x="6858000" y="2651760"/>
            <a:ext cx="1737360" cy="822960"/>
          </a:xfrm>
          <a:prstGeom prst="rect">
            <a:avLst/>
          </a:prstGeom>
          <a:noFill/>
          <a:ln/>
        </p:spPr>
        <p:txBody>
          <a:bodyPr wrap="square" lIns="0" tIns="0" rIns="0" bIns="0" rtlCol="0" anchor="ctr"/>
          <a:lstStyle/>
          <a:p>
            <a:pPr indent="0" marL="0">
              <a:buNone/>
            </a:pPr>
            <a:r>
              <a:rPr lang="en-US" sz="2600" b="1" dirty="0">
                <a:solidFill>
                  <a:schemeClr val="accent3"/>
                </a:solidFill>
              </a:rPr>
              <a:t>5,50</a:t>
            </a:r>
            <a:endParaRPr lang="en-US" sz="2600" dirty="0"/>
          </a:p>
        </p:txBody>
      </p:sp>
      <p:sp>
        <p:nvSpPr>
          <p:cNvPr id="18" name="Tarjeta"/>
          <p:cNvSpPr/>
          <p:nvPr/>
        </p:nvSpPr>
        <p:spPr>
          <a:xfrm>
            <a:off x="4754880" y="3611880"/>
            <a:ext cx="3931920" cy="822960"/>
          </a:xfrm>
          <a:prstGeom prst="roundRect">
            <a:avLst>
              <a:gd name="adj" fmla="val 8889"/>
            </a:avLst>
          </a:prstGeom>
          <a:solidFill>
            <a:schemeClr val="bg2"/>
          </a:solidFill>
          <a:ln w="12700">
            <a:solidFill>
              <a:schemeClr val="bg2"/>
            </a:solidFill>
            <a:prstDash val="solid"/>
          </a:ln>
        </p:spPr>
      </p:sp>
      <p:sp>
        <p:nvSpPr>
          <p:cNvPr id="19" name="Text 17"/>
          <p:cNvSpPr txBox="1"/>
          <p:nvPr/>
        </p:nvSpPr>
        <p:spPr>
          <a:xfrm>
            <a:off x="4892040" y="3611880"/>
            <a:ext cx="1371600" cy="822960"/>
          </a:xfrm>
          <a:prstGeom prst="rect">
            <a:avLst/>
          </a:prstGeom>
          <a:noFill/>
          <a:ln/>
        </p:spPr>
        <p:txBody>
          <a:bodyPr wrap="square" lIns="0" tIns="0" rIns="0" bIns="0" rtlCol="0" anchor="ctr"/>
          <a:lstStyle/>
          <a:p>
            <a:pPr indent="0" marL="0">
              <a:buNone/>
            </a:pPr>
            <a:r>
              <a:rPr lang="en-US" sz="2000" b="1" dirty="0">
                <a:solidFill>
                  <a:schemeClr val="accent6"/>
                </a:solidFill>
              </a:rPr>
              <a:t>12 h</a:t>
            </a:r>
            <a:endParaRPr lang="en-US" sz="2000" dirty="0"/>
          </a:p>
        </p:txBody>
      </p:sp>
      <p:sp>
        <p:nvSpPr>
          <p:cNvPr id="20" name="Flecha"/>
          <p:cNvSpPr/>
          <p:nvPr/>
        </p:nvSpPr>
        <p:spPr>
          <a:xfrm>
            <a:off x="6309360" y="3913632"/>
            <a:ext cx="365760" cy="219456"/>
          </a:xfrm>
          <a:prstGeom prst="rightArrow">
            <a:avLst/>
          </a:prstGeom>
          <a:solidFill>
            <a:schemeClr val="accent6"/>
          </a:solidFill>
          <a:ln w="12700">
            <a:solidFill>
              <a:schemeClr val="accent6"/>
            </a:solidFill>
            <a:prstDash val="solid"/>
          </a:ln>
        </p:spPr>
      </p:sp>
      <p:sp>
        <p:nvSpPr>
          <p:cNvPr id="21" name="Text 19"/>
          <p:cNvSpPr txBox="1"/>
          <p:nvPr/>
        </p:nvSpPr>
        <p:spPr>
          <a:xfrm>
            <a:off x="6858000" y="3611880"/>
            <a:ext cx="1737360" cy="822960"/>
          </a:xfrm>
          <a:prstGeom prst="rect">
            <a:avLst/>
          </a:prstGeom>
          <a:noFill/>
          <a:ln/>
        </p:spPr>
        <p:txBody>
          <a:bodyPr wrap="square" lIns="0" tIns="0" rIns="0" bIns="0" rtlCol="0" anchor="ctr"/>
          <a:lstStyle/>
          <a:p>
            <a:pPr indent="0" marL="0">
              <a:buNone/>
            </a:pPr>
            <a:r>
              <a:rPr lang="en-US" sz="2600" b="1" dirty="0">
                <a:solidFill>
                  <a:schemeClr val="accent3"/>
                </a:solidFill>
              </a:rPr>
              <a:t>7,49</a:t>
            </a:r>
            <a:endParaRPr lang="en-US" sz="26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56032"/>
          </a:xfrm>
          <a:prstGeom prst="rect">
            <a:avLst/>
          </a:prstGeom>
          <a:noFill/>
          <a:ln/>
        </p:spPr>
        <p:txBody>
          <a:bodyPr wrap="square" lIns="0" tIns="0" rIns="0" bIns="0" rtlCol="0"/>
          <a:lstStyle/>
          <a:p>
            <a:pPr indent="0" marL="0">
              <a:buNone/>
            </a:pPr>
            <a:r>
              <a:rPr lang="en-US" sz="1100" b="1" spc="100" kern="0" dirty="0">
                <a:solidFill>
                  <a:schemeClr val="accent3"/>
                </a:solidFill>
              </a:rPr>
              <a:t>PASO 2 · DIAGNÓSTICO</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Los residuos muestran lo que el modelo no explica</a:t>
            </a:r>
            <a:endParaRPr lang="en-US" sz="2800" dirty="0"/>
          </a:p>
        </p:txBody>
      </p:sp>
      <p:graphicFrame>
        <p:nvGraphicFramePr>
          <p:cNvPr id="4" name="Chart 0" descr=""/>
          <p:cNvGraphicFramePr/>
          <p:nvPr/>
        </p:nvGraphicFramePr>
        <p:xfrm>
          <a:off x="457200" y="1188720"/>
          <a:ext cx="4572000" cy="33832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303520" y="1234440"/>
            <a:ext cx="3383280" cy="320040"/>
          </a:xfrm>
          <a:prstGeom prst="rect">
            <a:avLst/>
          </a:prstGeom>
          <a:noFill/>
          <a:ln/>
        </p:spPr>
        <p:txBody>
          <a:bodyPr wrap="square" lIns="0" tIns="0" rIns="0" bIns="0" rtlCol="0" anchor="ctr"/>
          <a:lstStyle/>
          <a:p>
            <a:pPr indent="0" marL="0">
              <a:buNone/>
            </a:pPr>
            <a:r>
              <a:rPr lang="en-US" sz="1400" b="1" dirty="0">
                <a:solidFill>
                  <a:schemeClr val="tx2"/>
                </a:solidFill>
              </a:rPr>
              <a:t>Qué revisar</a:t>
            </a:r>
            <a:endParaRPr lang="en-US" sz="1400" dirty="0"/>
          </a:p>
        </p:txBody>
      </p:sp>
      <p:sp>
        <p:nvSpPr>
          <p:cNvPr id="6" name="Círculo número"/>
          <p:cNvSpPr/>
          <p:nvPr/>
        </p:nvSpPr>
        <p:spPr>
          <a:xfrm>
            <a:off x="5303520" y="1709928"/>
            <a:ext cx="365760" cy="365760"/>
          </a:xfrm>
          <a:prstGeom prst="ellipse">
            <a:avLst/>
          </a:prstGeom>
          <a:solidFill>
            <a:schemeClr val="accent3"/>
          </a:solidFill>
          <a:ln w="12700">
            <a:solidFill>
              <a:schemeClr val="accent3"/>
            </a:solidFill>
            <a:prstDash val="solid"/>
          </a:ln>
        </p:spPr>
      </p:sp>
      <p:sp>
        <p:nvSpPr>
          <p:cNvPr id="7" name="Text 4"/>
          <p:cNvSpPr txBox="1"/>
          <p:nvPr/>
        </p:nvSpPr>
        <p:spPr>
          <a:xfrm>
            <a:off x="5303520" y="1709928"/>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8" name="Text 5"/>
          <p:cNvSpPr txBox="1"/>
          <p:nvPr/>
        </p:nvSpPr>
        <p:spPr>
          <a:xfrm>
            <a:off x="5806440" y="1645920"/>
            <a:ext cx="2880360" cy="640080"/>
          </a:xfrm>
          <a:prstGeom prst="rect">
            <a:avLst/>
          </a:prstGeom>
          <a:noFill/>
          <a:ln/>
        </p:spPr>
        <p:txBody>
          <a:bodyPr wrap="square" lIns="0" tIns="0" rIns="0" bIns="0" rtlCol="0" anchor="ctr"/>
          <a:lstStyle/>
          <a:p>
            <a:pPr indent="0" marL="0">
              <a:buNone/>
            </a:pPr>
            <a:r>
              <a:rPr lang="en-US" sz="1100" b="1" dirty="0">
                <a:solidFill>
                  <a:schemeClr val="tx2"/>
                </a:solidFill>
              </a:rPr>
              <a:t>Sin patrón</a:t>
            </a:r>
            <a:endParaRPr lang="en-US" sz="1100" dirty="0"/>
          </a:p>
          <a:p>
            <a:pPr indent="0" marL="0">
              <a:buNone/>
            </a:pPr>
            <a:r>
              <a:rPr lang="en-US" sz="1100" dirty="0">
                <a:solidFill>
                  <a:schemeClr val="tx1"/>
                </a:solidFill>
              </a:rPr>
              <a:t>Nube pareja en torno a 0: la relación es lineal</a:t>
            </a:r>
            <a:endParaRPr lang="en-US" sz="1100" dirty="0"/>
          </a:p>
        </p:txBody>
      </p:sp>
      <p:sp>
        <p:nvSpPr>
          <p:cNvPr id="9" name="Círculo número"/>
          <p:cNvSpPr/>
          <p:nvPr/>
        </p:nvSpPr>
        <p:spPr>
          <a:xfrm>
            <a:off x="5303520" y="2441448"/>
            <a:ext cx="365760" cy="365760"/>
          </a:xfrm>
          <a:prstGeom prst="ellipse">
            <a:avLst/>
          </a:prstGeom>
          <a:solidFill>
            <a:schemeClr val="accent3"/>
          </a:solidFill>
          <a:ln w="12700">
            <a:solidFill>
              <a:schemeClr val="accent3"/>
            </a:solidFill>
            <a:prstDash val="solid"/>
          </a:ln>
        </p:spPr>
      </p:sp>
      <p:sp>
        <p:nvSpPr>
          <p:cNvPr id="10" name="Text 7"/>
          <p:cNvSpPr txBox="1"/>
          <p:nvPr/>
        </p:nvSpPr>
        <p:spPr>
          <a:xfrm>
            <a:off x="5303520" y="2441448"/>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1" name="Text 8"/>
          <p:cNvSpPr txBox="1"/>
          <p:nvPr/>
        </p:nvSpPr>
        <p:spPr>
          <a:xfrm>
            <a:off x="5806440" y="2377440"/>
            <a:ext cx="2880360" cy="640080"/>
          </a:xfrm>
          <a:prstGeom prst="rect">
            <a:avLst/>
          </a:prstGeom>
          <a:noFill/>
          <a:ln/>
        </p:spPr>
        <p:txBody>
          <a:bodyPr wrap="square" lIns="0" tIns="0" rIns="0" bIns="0" rtlCol="0" anchor="ctr"/>
          <a:lstStyle/>
          <a:p>
            <a:pPr indent="0" marL="0">
              <a:buNone/>
            </a:pPr>
            <a:r>
              <a:rPr lang="en-US" sz="1100" b="1" dirty="0">
                <a:solidFill>
                  <a:schemeClr val="tx2"/>
                </a:solidFill>
              </a:rPr>
              <a:t>Ancho constante</a:t>
            </a:r>
            <a:endParaRPr lang="en-US" sz="1100" dirty="0"/>
          </a:p>
          <a:p>
            <a:pPr indent="0" marL="0">
              <a:buNone/>
            </a:pPr>
            <a:r>
              <a:rPr lang="en-US" sz="1100" dirty="0">
                <a:solidFill>
                  <a:schemeClr val="tx1"/>
                </a:solidFill>
              </a:rPr>
              <a:t>El error no crece con la predicción</a:t>
            </a:r>
            <a:endParaRPr lang="en-US" sz="1100" dirty="0"/>
          </a:p>
        </p:txBody>
      </p:sp>
      <p:sp>
        <p:nvSpPr>
          <p:cNvPr id="12" name="Círculo número"/>
          <p:cNvSpPr/>
          <p:nvPr/>
        </p:nvSpPr>
        <p:spPr>
          <a:xfrm>
            <a:off x="5303520" y="3172968"/>
            <a:ext cx="365760" cy="365760"/>
          </a:xfrm>
          <a:prstGeom prst="ellipse">
            <a:avLst/>
          </a:prstGeom>
          <a:solidFill>
            <a:schemeClr val="accent3"/>
          </a:solidFill>
          <a:ln w="12700">
            <a:solidFill>
              <a:schemeClr val="accent3"/>
            </a:solidFill>
            <a:prstDash val="solid"/>
          </a:ln>
        </p:spPr>
      </p:sp>
      <p:sp>
        <p:nvSpPr>
          <p:cNvPr id="13" name="Text 10"/>
          <p:cNvSpPr txBox="1"/>
          <p:nvPr/>
        </p:nvSpPr>
        <p:spPr>
          <a:xfrm>
            <a:off x="5303520" y="3172968"/>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4" name="Text 11"/>
          <p:cNvSpPr txBox="1"/>
          <p:nvPr/>
        </p:nvSpPr>
        <p:spPr>
          <a:xfrm>
            <a:off x="5806440" y="3108960"/>
            <a:ext cx="2880360" cy="640080"/>
          </a:xfrm>
          <a:prstGeom prst="rect">
            <a:avLst/>
          </a:prstGeom>
          <a:noFill/>
          <a:ln/>
        </p:spPr>
        <p:txBody>
          <a:bodyPr wrap="square" lIns="0" tIns="0" rIns="0" bIns="0" rtlCol="0" anchor="ctr"/>
          <a:lstStyle/>
          <a:p>
            <a:pPr indent="0" marL="0">
              <a:buNone/>
            </a:pPr>
            <a:r>
              <a:rPr lang="en-US" sz="1100" b="1" dirty="0">
                <a:solidFill>
                  <a:schemeClr val="tx2"/>
                </a:solidFill>
              </a:rPr>
              <a:t>Sin valores extremos</a:t>
            </a:r>
            <a:endParaRPr lang="en-US" sz="1100" dirty="0"/>
          </a:p>
          <a:p>
            <a:pPr indent="0" marL="0">
              <a:buNone/>
            </a:pPr>
            <a:r>
              <a:rPr lang="en-US" sz="1100" dirty="0">
                <a:solidFill>
                  <a:schemeClr val="tx1"/>
                </a:solidFill>
              </a:rPr>
              <a:t>Ningún punto domina el ajuste</a:t>
            </a:r>
            <a:endParaRPr lang="en-US" sz="1100" dirty="0"/>
          </a:p>
        </p:txBody>
      </p:sp>
      <p:sp>
        <p:nvSpPr>
          <p:cNvPr id="15" name="Círculo número"/>
          <p:cNvSpPr/>
          <p:nvPr/>
        </p:nvSpPr>
        <p:spPr>
          <a:xfrm>
            <a:off x="5303520" y="3904488"/>
            <a:ext cx="365760" cy="365760"/>
          </a:xfrm>
          <a:prstGeom prst="ellipse">
            <a:avLst/>
          </a:prstGeom>
          <a:solidFill>
            <a:schemeClr val="accent3"/>
          </a:solidFill>
          <a:ln w="12700">
            <a:solidFill>
              <a:schemeClr val="accent3"/>
            </a:solidFill>
            <a:prstDash val="solid"/>
          </a:ln>
        </p:spPr>
      </p:sp>
      <p:sp>
        <p:nvSpPr>
          <p:cNvPr id="16" name="Text 13"/>
          <p:cNvSpPr txBox="1"/>
          <p:nvPr/>
        </p:nvSpPr>
        <p:spPr>
          <a:xfrm>
            <a:off x="5303520" y="3904488"/>
            <a:ext cx="365760" cy="36576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7" name="Text 14"/>
          <p:cNvSpPr txBox="1"/>
          <p:nvPr/>
        </p:nvSpPr>
        <p:spPr>
          <a:xfrm>
            <a:off x="5806440" y="3840480"/>
            <a:ext cx="2880360" cy="640080"/>
          </a:xfrm>
          <a:prstGeom prst="rect">
            <a:avLst/>
          </a:prstGeom>
          <a:noFill/>
          <a:ln/>
        </p:spPr>
        <p:txBody>
          <a:bodyPr wrap="square" lIns="0" tIns="0" rIns="0" bIns="0" rtlCol="0" anchor="ctr"/>
          <a:lstStyle/>
          <a:p>
            <a:pPr indent="0" marL="0">
              <a:buNone/>
            </a:pPr>
            <a:r>
              <a:rPr lang="en-US" sz="1100" b="1" dirty="0">
                <a:solidFill>
                  <a:schemeClr val="tx2"/>
                </a:solidFill>
              </a:rPr>
              <a:t>Promedio cero</a:t>
            </a:r>
            <a:endParaRPr lang="en-US" sz="1100" dirty="0"/>
          </a:p>
          <a:p>
            <a:pPr indent="0" marL="0">
              <a:buNone/>
            </a:pPr>
            <a:r>
              <a:rPr lang="en-US" sz="1100" dirty="0">
                <a:solidFill>
                  <a:schemeClr val="tx1"/>
                </a:solidFill>
              </a:rPr>
              <a:t>Se cumple siempre por construcción</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56032"/>
          </a:xfrm>
          <a:prstGeom prst="rect">
            <a:avLst/>
          </a:prstGeom>
          <a:noFill/>
          <a:ln/>
        </p:spPr>
        <p:txBody>
          <a:bodyPr wrap="square" lIns="0" tIns="0" rIns="0" bIns="0" rtlCol="0"/>
          <a:lstStyle/>
          <a:p>
            <a:pPr indent="0" marL="0">
              <a:buNone/>
            </a:pPr>
            <a:r>
              <a:rPr lang="en-US" sz="1100" b="1" spc="100" kern="0" dirty="0">
                <a:solidFill>
                  <a:schemeClr val="accent3"/>
                </a:solidFill>
              </a:rPr>
              <a:t>PASO 3 · REGRESIÓN MÚLTIPLE</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Al controlar otras variables, el efecto del estudio baja</a:t>
            </a:r>
            <a:endParaRPr lang="en-US" sz="2800" dirty="0"/>
          </a:p>
        </p:txBody>
      </p:sp>
      <p:sp>
        <p:nvSpPr>
          <p:cNvPr id="4" name="Bloque de código"/>
          <p:cNvSpPr/>
          <p:nvPr/>
        </p:nvSpPr>
        <p:spPr>
          <a:xfrm>
            <a:off x="457200" y="1234440"/>
            <a:ext cx="4206240" cy="1828800"/>
          </a:xfrm>
          <a:prstGeom prst="roundRect">
            <a:avLst>
              <a:gd name="adj" fmla="val 4000"/>
            </a:avLst>
          </a:prstGeom>
          <a:solidFill>
            <a:schemeClr val="tx2"/>
          </a:solidFill>
          <a:ln w="12700">
            <a:solidFill>
              <a:schemeClr val="tx2"/>
            </a:solidFill>
            <a:prstDash val="solid"/>
          </a:ln>
        </p:spPr>
      </p:sp>
      <p:sp>
        <p:nvSpPr>
          <p:cNvPr id="5" name="Text 3"/>
          <p:cNvSpPr txBox="1"/>
          <p:nvPr/>
        </p:nvSpPr>
        <p:spPr>
          <a:xfrm>
            <a:off x="594360" y="1325880"/>
            <a:ext cx="3931920" cy="1645920"/>
          </a:xfrm>
          <a:prstGeom prst="rect">
            <a:avLst/>
          </a:prstGeom>
          <a:noFill/>
          <a:ln/>
        </p:spPr>
        <p:txBody>
          <a:bodyPr wrap="square" lIns="0" tIns="0" rIns="0" bIns="0" rtlCol="0" anchor="t"/>
          <a:lstStyle/>
          <a:p>
            <a:pPr indent="0" marL="0">
              <a:spcAft>
                <a:spcPts val="200"/>
              </a:spcAft>
              <a:buNone/>
            </a:pPr>
            <a:r>
              <a:rPr lang="en-US" sz="1000" dirty="0">
                <a:solidFill>
                  <a:schemeClr val="bg1"/>
                </a:solidFill>
                <a:latin typeface="Courier New" pitchFamily="34" charset="0"/>
                <a:ea typeface="Courier New" pitchFamily="34" charset="-122"/>
                <a:cs typeface="Courier New" pitchFamily="34" charset="-120"/>
              </a:rPr>
              <a:t>datos = df.dropna(subset=["horas_sueno"])</a:t>
            </a:r>
            <a:endParaRPr lang="en-US" sz="1000" dirty="0"/>
          </a:p>
          <a:p>
            <a:pPr indent="0" marL="0">
              <a:spcAft>
                <a:spcPts val="200"/>
              </a:spcAft>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indent="0" marL="0">
              <a:spcAft>
                <a:spcPts val="200"/>
              </a:spcAft>
              <a:buNone/>
            </a:pPr>
            <a:r>
              <a:rPr lang="en-US" sz="1000" dirty="0">
                <a:solidFill>
                  <a:schemeClr val="bg1"/>
                </a:solidFill>
                <a:latin typeface="Courier New" pitchFamily="34" charset="0"/>
                <a:ea typeface="Courier New" pitchFamily="34" charset="-122"/>
                <a:cs typeface="Courier New" pitchFamily="34" charset="-120"/>
              </a:rPr>
              <a:t>smf.ols("nota_final ~ horas_estudio"</a:t>
            </a:r>
            <a:endParaRPr lang="en-US" sz="1000" dirty="0"/>
          </a:p>
          <a:p>
            <a:pPr indent="0" marL="0">
              <a:spcAft>
                <a:spcPts val="200"/>
              </a:spcAft>
              <a:buNone/>
            </a:pPr>
            <a:r>
              <a:rPr lang="en-US" sz="1000" dirty="0">
                <a:solidFill>
                  <a:schemeClr val="bg1"/>
                </a:solidFill>
                <a:latin typeface="Courier New" pitchFamily="34" charset="0"/>
                <a:ea typeface="Courier New" pitchFamily="34" charset="-122"/>
                <a:cs typeface="Courier New" pitchFamily="34" charset="-120"/>
              </a:rPr>
              <a:t>        " + asistencia + horas_sueno"</a:t>
            </a:r>
            <a:endParaRPr lang="en-US" sz="1000" dirty="0"/>
          </a:p>
          <a:p>
            <a:pPr indent="0" marL="0">
              <a:spcAft>
                <a:spcPts val="200"/>
              </a:spcAft>
              <a:buNone/>
            </a:pPr>
            <a:r>
              <a:rPr lang="en-US" sz="1000" dirty="0">
                <a:solidFill>
                  <a:schemeClr val="bg1"/>
                </a:solidFill>
                <a:latin typeface="Courier New" pitchFamily="34" charset="0"/>
                <a:ea typeface="Courier New" pitchFamily="34" charset="-122"/>
                <a:cs typeface="Courier New" pitchFamily="34" charset="-120"/>
              </a:rPr>
              <a:t>        " + C(trabaja) + C(curso)",</a:t>
            </a:r>
            <a:endParaRPr lang="en-US" sz="1000" dirty="0"/>
          </a:p>
          <a:p>
            <a:pPr indent="0" marL="0">
              <a:spcAft>
                <a:spcPts val="200"/>
              </a:spcAft>
              <a:buNone/>
            </a:pPr>
            <a:r>
              <a:rPr lang="en-US" sz="1000" dirty="0">
                <a:solidFill>
                  <a:schemeClr val="bg1"/>
                </a:solidFill>
                <a:latin typeface="Courier New" pitchFamily="34" charset="0"/>
                <a:ea typeface="Courier New" pitchFamily="34" charset="-122"/>
                <a:cs typeface="Courier New" pitchFamily="34" charset="-120"/>
              </a:rPr>
              <a:t>        data=datos).fit()</a:t>
            </a:r>
            <a:endParaRPr lang="en-US" sz="1000" dirty="0"/>
          </a:p>
        </p:txBody>
      </p:sp>
      <p:sp>
        <p:nvSpPr>
          <p:cNvPr id="6" name="Text 4"/>
          <p:cNvSpPr txBox="1"/>
          <p:nvPr/>
        </p:nvSpPr>
        <p:spPr>
          <a:xfrm>
            <a:off x="457200" y="3200400"/>
            <a:ext cx="4206240" cy="1371600"/>
          </a:xfrm>
          <a:prstGeom prst="rect">
            <a:avLst/>
          </a:prstGeom>
          <a:noFill/>
          <a:ln/>
        </p:spPr>
        <p:txBody>
          <a:bodyPr wrap="square" lIns="0" tIns="0" rIns="0" bIns="0" rtlCol="0" anchor="t"/>
          <a:lstStyle/>
          <a:p>
            <a:pPr indent="0" marL="0">
              <a:buNone/>
            </a:pPr>
            <a:r>
              <a:rPr lang="en-US" sz="1200" b="1" dirty="0">
                <a:solidFill>
                  <a:schemeClr val="accent4"/>
                </a:solidFill>
              </a:rPr>
              <a:t>¿Por qué baja? </a:t>
            </a:r>
            <a:pPr indent="0" marL="0">
              <a:buNone/>
            </a:pPr>
            <a:r>
              <a:rPr lang="en-US" sz="1200" dirty="0">
                <a:solidFill>
                  <a:schemeClr val="tx1"/>
                </a:solidFill>
              </a:rPr>
              <a:t>Quien estudia más también suele asistir más y trabajar menos. El modelo simple atribuía todo eso a las horas de estudio; el múltiple separa cada efecto.</a:t>
            </a:r>
            <a:endParaRPr lang="en-US" sz="1200" dirty="0"/>
          </a:p>
        </p:txBody>
      </p:sp>
      <p:graphicFrame>
        <p:nvGraphicFramePr>
          <p:cNvPr id="7" name="Chart 0" descr=""/>
          <p:cNvGraphicFramePr/>
          <p:nvPr/>
        </p:nvGraphicFramePr>
        <p:xfrm>
          <a:off x="4937760" y="1188720"/>
          <a:ext cx="3749040" cy="301752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4937760" y="4251960"/>
            <a:ext cx="3749040" cy="365760"/>
          </a:xfrm>
          <a:prstGeom prst="rect">
            <a:avLst/>
          </a:prstGeom>
          <a:noFill/>
          <a:ln/>
        </p:spPr>
        <p:txBody>
          <a:bodyPr wrap="square" lIns="0" tIns="0" rIns="0" bIns="0" rtlCol="0" anchor="ctr"/>
          <a:lstStyle/>
          <a:p>
            <a:pPr indent="0" marL="0">
              <a:buNone/>
            </a:pPr>
            <a:r>
              <a:rPr lang="en-US" sz="1000" i="1" dirty="0">
                <a:solidFill>
                  <a:schemeClr val="accent6"/>
                </a:solidFill>
              </a:rPr>
              <a:t>146 filas: se excluyen 4 con faltantes en horas_sueno (decisión documentada).</a:t>
            </a:r>
            <a:endParaRPr lang="en-US" sz="1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56032"/>
          </a:xfrm>
          <a:prstGeom prst="rect">
            <a:avLst/>
          </a:prstGeom>
          <a:noFill/>
          <a:ln/>
        </p:spPr>
        <p:txBody>
          <a:bodyPr wrap="square" lIns="0" tIns="0" rIns="0" bIns="0" rtlCol="0"/>
          <a:lstStyle/>
          <a:p>
            <a:pPr indent="0" marL="0">
              <a:buNone/>
            </a:pPr>
            <a:r>
              <a:rPr lang="en-US" sz="1100" b="1" spc="100" kern="0" dirty="0">
                <a:solidFill>
                  <a:schemeClr val="accent3"/>
                </a:solidFill>
              </a:rPr>
              <a:t>PASO 3 · COEFICIENTES</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Cada coeficiente se lee “con el resto constante”</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2240280"/>
                <a:gridCol w="822960"/>
                <a:gridCol w="914400"/>
                <a:gridCol w="960120"/>
                <a:gridCol w="3291840"/>
              </a:tblGrid>
              <a:tr h="384048">
                <a:tc>
                  <a:txBody>
                    <a:bodyPr/>
                    <a:lstStyle/>
                    <a:p>
                      <a:pPr indent="0" marL="0">
                        <a:buNone/>
                      </a:pPr>
                      <a:r>
                        <a:rPr lang="en-US" sz="1100" b="1" dirty="0">
                          <a:solidFill>
                            <a:srgbClr val="FFFFFF"/>
                          </a:solidFill>
                        </a:rPr>
                        <a:t>Variable</a:t>
                      </a:r>
                      <a:endParaRPr lang="en-US" sz="1100" dirty="0"/>
                    </a:p>
                  </a:txBody>
                  <a:tcPr marL="54864" marR="54864" marT="54864" marB="54864"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0F2A3D"/>
                    </a:solidFill>
                  </a:tcPr>
                </a:tc>
                <a:tc>
                  <a:txBody>
                    <a:bodyPr/>
                    <a:lstStyle/>
                    <a:p>
                      <a:pPr indent="0" marL="0">
                        <a:buNone/>
                      </a:pPr>
                      <a:r>
                        <a:rPr lang="en-US" sz="1100" b="1" dirty="0">
                          <a:solidFill>
                            <a:srgbClr val="FFFFFF"/>
                          </a:solidFill>
                        </a:rPr>
                        <a:t>Coef.</a:t>
                      </a:r>
                      <a:endParaRPr lang="en-US" sz="1100" dirty="0"/>
                    </a:p>
                  </a:txBody>
                  <a:tcPr marL="54864" marR="54864" marT="54864" marB="54864"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0F2A3D"/>
                    </a:solidFill>
                  </a:tcPr>
                </a:tc>
                <a:tc>
                  <a:txBody>
                    <a:bodyPr/>
                    <a:lstStyle/>
                    <a:p>
                      <a:pPr indent="0" marL="0">
                        <a:buNone/>
                      </a:pPr>
                      <a:r>
                        <a:rPr lang="en-US" sz="1100" b="1" dirty="0">
                          <a:solidFill>
                            <a:srgbClr val="FFFFFF"/>
                          </a:solidFill>
                        </a:rPr>
                        <a:t>p-valor</a:t>
                      </a:r>
                      <a:endParaRPr lang="en-US" sz="1100" dirty="0"/>
                    </a:p>
                  </a:txBody>
                  <a:tcPr marL="54864" marR="54864" marT="54864" marB="54864"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0F2A3D"/>
                    </a:solidFill>
                  </a:tcPr>
                </a:tc>
                <a:tc>
                  <a:txBody>
                    <a:bodyPr/>
                    <a:lstStyle/>
                    <a:p>
                      <a:pPr indent="0" marL="0">
                        <a:buNone/>
                      </a:pPr>
                      <a:r>
                        <a:rPr lang="en-US" sz="1100" b="1" dirty="0">
                          <a:solidFill>
                            <a:srgbClr val="FFFFFF"/>
                          </a:solidFill>
                        </a:rPr>
                        <a:t>¿Signif.?</a:t>
                      </a:r>
                      <a:endParaRPr lang="en-US" sz="1100" dirty="0"/>
                    </a:p>
                  </a:txBody>
                  <a:tcPr marL="54864" marR="54864" marT="54864" marB="54864"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0F2A3D"/>
                    </a:solidFill>
                  </a:tcPr>
                </a:tc>
                <a:tc>
                  <a:txBody>
                    <a:bodyPr/>
                    <a:lstStyle/>
                    <a:p>
                      <a:pPr indent="0" marL="0">
                        <a:buNone/>
                      </a:pPr>
                      <a:r>
                        <a:rPr lang="en-US" sz="1100" b="1" dirty="0">
                          <a:solidFill>
                            <a:srgbClr val="FFFFFF"/>
                          </a:solidFill>
                        </a:rPr>
                        <a:t>Lectura</a:t>
                      </a:r>
                      <a:endParaRPr lang="en-US" sz="1100" dirty="0"/>
                    </a:p>
                  </a:txBody>
                  <a:tcPr marL="54864" marR="54864" marT="54864" marB="54864"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0F2A3D"/>
                    </a:solidFill>
                  </a:tcPr>
                </a:tc>
              </a:tr>
              <a:tr h="384048">
                <a:tc>
                  <a:txBody>
                    <a:bodyPr/>
                    <a:lstStyle/>
                    <a:p>
                      <a:pPr indent="0" marL="0">
                        <a:buNone/>
                      </a:pPr>
                      <a:r>
                        <a:rPr lang="en-US" sz="1000" dirty="0">
                          <a:solidFill>
                            <a:srgbClr val="1B2430"/>
                          </a:solidFill>
                          <a:latin typeface="Courier New" pitchFamily="34" charset="0"/>
                          <a:ea typeface="Courier New" pitchFamily="34" charset="-122"/>
                          <a:cs typeface="Courier New" pitchFamily="34" charset="-120"/>
                        </a:rPr>
                        <a:t>horas_estudio</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c>
                  <a:txBody>
                    <a:bodyPr/>
                    <a:lstStyle/>
                    <a:p>
                      <a:pPr indent="0" marL="0">
                        <a:buNone/>
                      </a:pPr>
                      <a:r>
                        <a:rPr lang="en-US" sz="1100" dirty="0">
                          <a:solidFill>
                            <a:srgbClr val="1B2430"/>
                          </a:solidFill>
                        </a:rPr>
                        <a:t>+0,31</a:t>
                      </a:r>
                      <a:endParaRPr lang="en-US" sz="1100" dirty="0"/>
                    </a:p>
                  </a:txBody>
                  <a:tcPr marL="54864" marR="54864" marT="54864" marB="54864"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c>
                  <a:txBody>
                    <a:bodyPr/>
                    <a:lstStyle/>
                    <a:p>
                      <a:pPr indent="0" marL="0">
                        <a:buNone/>
                      </a:pPr>
                      <a:r>
                        <a:rPr lang="en-US" sz="1100" dirty="0">
                          <a:solidFill>
                            <a:srgbClr val="1B2430"/>
                          </a:solidFill>
                        </a:rPr>
                        <a:t>&lt; 0,001</a:t>
                      </a:r>
                      <a:endParaRPr lang="en-US" sz="1100" dirty="0"/>
                    </a:p>
                  </a:txBody>
                  <a:tcPr marL="54864" marR="54864" marT="54864" marB="54864"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c>
                  <a:txBody>
                    <a:bodyPr/>
                    <a:lstStyle/>
                    <a:p>
                      <a:pPr indent="0" marL="0">
                        <a:buNone/>
                      </a:pPr>
                      <a:r>
                        <a:rPr lang="en-US" sz="1100" dirty="0">
                          <a:solidFill>
                            <a:srgbClr val="1B2430"/>
                          </a:solidFill>
                        </a:rPr>
                        <a:t>Sí</a:t>
                      </a:r>
                      <a:endParaRPr lang="en-US" sz="1100" dirty="0"/>
                    </a:p>
                  </a:txBody>
                  <a:tcPr marL="54864" marR="54864" marT="54864" marB="54864"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c>
                  <a:txBody>
                    <a:bodyPr/>
                    <a:lstStyle/>
                    <a:p>
                      <a:pPr indent="0" marL="0">
                        <a:buNone/>
                      </a:pPr>
                      <a:r>
                        <a:rPr lang="en-US" sz="1100" dirty="0">
                          <a:solidFill>
                            <a:srgbClr val="1B2430"/>
                          </a:solidFill>
                        </a:rPr>
                        <a:t>+1 hora → +0,31 puntos</a:t>
                      </a:r>
                      <a:endParaRPr lang="en-US" sz="1100" dirty="0"/>
                    </a:p>
                  </a:txBody>
                  <a:tcPr marL="54864" marR="54864" marT="54864" marB="54864"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r>
              <a:tr h="384048">
                <a:tc>
                  <a:txBody>
                    <a:bodyPr/>
                    <a:lstStyle/>
                    <a:p>
                      <a:pPr indent="0" marL="0">
                        <a:buNone/>
                      </a:pPr>
                      <a:r>
                        <a:rPr lang="en-US" sz="1000" dirty="0">
                          <a:solidFill>
                            <a:srgbClr val="1B2430"/>
                          </a:solidFill>
                          <a:latin typeface="Courier New" pitchFamily="34" charset="0"/>
                          <a:ea typeface="Courier New" pitchFamily="34" charset="-122"/>
                          <a:cs typeface="Courier New" pitchFamily="34" charset="-120"/>
                        </a:rPr>
                        <a:t>asistencia</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c>
                  <a:txBody>
                    <a:bodyPr/>
                    <a:lstStyle/>
                    <a:p>
                      <a:pPr indent="0" marL="0">
                        <a:buNone/>
                      </a:pPr>
                      <a:r>
                        <a:rPr lang="en-US" sz="1100" dirty="0">
                          <a:solidFill>
                            <a:srgbClr val="1B2430"/>
                          </a:solidFill>
                        </a:rPr>
                        <a:t>+0,039</a:t>
                      </a:r>
                      <a:endParaRPr lang="en-US" sz="1100" dirty="0"/>
                    </a:p>
                  </a:txBody>
                  <a:tcPr marL="54864" marR="54864" marT="54864" marB="54864"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c>
                  <a:txBody>
                    <a:bodyPr/>
                    <a:lstStyle/>
                    <a:p>
                      <a:pPr indent="0" marL="0">
                        <a:buNone/>
                      </a:pPr>
                      <a:r>
                        <a:rPr lang="en-US" sz="1100" dirty="0">
                          <a:solidFill>
                            <a:srgbClr val="1B2430"/>
                          </a:solidFill>
                        </a:rPr>
                        <a:t>&lt; 0,001</a:t>
                      </a:r>
                      <a:endParaRPr lang="en-US" sz="1100" dirty="0"/>
                    </a:p>
                  </a:txBody>
                  <a:tcPr marL="54864" marR="54864" marT="54864" marB="54864"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c>
                  <a:txBody>
                    <a:bodyPr/>
                    <a:lstStyle/>
                    <a:p>
                      <a:pPr indent="0" marL="0">
                        <a:buNone/>
                      </a:pPr>
                      <a:r>
                        <a:rPr lang="en-US" sz="1100" dirty="0">
                          <a:solidFill>
                            <a:srgbClr val="1B2430"/>
                          </a:solidFill>
                        </a:rPr>
                        <a:t>Sí</a:t>
                      </a:r>
                      <a:endParaRPr lang="en-US" sz="1100" dirty="0"/>
                    </a:p>
                  </a:txBody>
                  <a:tcPr marL="54864" marR="54864" marT="54864" marB="54864"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c>
                  <a:txBody>
                    <a:bodyPr/>
                    <a:lstStyle/>
                    <a:p>
                      <a:pPr indent="0" marL="0">
                        <a:buNone/>
                      </a:pPr>
                      <a:r>
                        <a:rPr lang="en-US" sz="1100" dirty="0">
                          <a:solidFill>
                            <a:srgbClr val="1B2430"/>
                          </a:solidFill>
                        </a:rPr>
                        <a:t>+10 % → +0,39 puntos</a:t>
                      </a:r>
                      <a:endParaRPr lang="en-US" sz="1100" dirty="0"/>
                    </a:p>
                  </a:txBody>
                  <a:tcPr marL="54864" marR="54864" marT="54864" marB="54864"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r>
              <a:tr h="384048">
                <a:tc>
                  <a:txBody>
                    <a:bodyPr/>
                    <a:lstStyle/>
                    <a:p>
                      <a:pPr indent="0" marL="0">
                        <a:buNone/>
                      </a:pPr>
                      <a:r>
                        <a:rPr lang="en-US" sz="1000" dirty="0">
                          <a:solidFill>
                            <a:srgbClr val="1B2430"/>
                          </a:solidFill>
                          <a:latin typeface="Courier New" pitchFamily="34" charset="0"/>
                          <a:ea typeface="Courier New" pitchFamily="34" charset="-122"/>
                          <a:cs typeface="Courier New" pitchFamily="34" charset="-120"/>
                        </a:rPr>
                        <a:t>C(trabaja)[T.Si]</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c>
                  <a:txBody>
                    <a:bodyPr/>
                    <a:lstStyle/>
                    <a:p>
                      <a:pPr indent="0" marL="0">
                        <a:buNone/>
                      </a:pPr>
                      <a:r>
                        <a:rPr lang="en-US" sz="1100" dirty="0">
                          <a:solidFill>
                            <a:srgbClr val="1B2430"/>
                          </a:solidFill>
                        </a:rPr>
                        <a:t>−0,86</a:t>
                      </a:r>
                      <a:endParaRPr lang="en-US" sz="1100" dirty="0"/>
                    </a:p>
                  </a:txBody>
                  <a:tcPr marL="54864" marR="54864" marT="54864" marB="54864"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c>
                  <a:txBody>
                    <a:bodyPr/>
                    <a:lstStyle/>
                    <a:p>
                      <a:pPr indent="0" marL="0">
                        <a:buNone/>
                      </a:pPr>
                      <a:r>
                        <a:rPr lang="en-US" sz="1100" dirty="0">
                          <a:solidFill>
                            <a:srgbClr val="1B2430"/>
                          </a:solidFill>
                        </a:rPr>
                        <a:t>&lt; 0,001</a:t>
                      </a:r>
                      <a:endParaRPr lang="en-US" sz="1100" dirty="0"/>
                    </a:p>
                  </a:txBody>
                  <a:tcPr marL="54864" marR="54864" marT="54864" marB="54864"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c>
                  <a:txBody>
                    <a:bodyPr/>
                    <a:lstStyle/>
                    <a:p>
                      <a:pPr indent="0" marL="0">
                        <a:buNone/>
                      </a:pPr>
                      <a:r>
                        <a:rPr lang="en-US" sz="1100" dirty="0">
                          <a:solidFill>
                            <a:srgbClr val="1B2430"/>
                          </a:solidFill>
                        </a:rPr>
                        <a:t>Sí</a:t>
                      </a:r>
                      <a:endParaRPr lang="en-US" sz="1100" dirty="0"/>
                    </a:p>
                  </a:txBody>
                  <a:tcPr marL="54864" marR="54864" marT="54864" marB="54864"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c>
                  <a:txBody>
                    <a:bodyPr/>
                    <a:lstStyle/>
                    <a:p>
                      <a:pPr indent="0" marL="0">
                        <a:buNone/>
                      </a:pPr>
                      <a:r>
                        <a:rPr lang="en-US" sz="1100" dirty="0">
                          <a:solidFill>
                            <a:srgbClr val="1B2430"/>
                          </a:solidFill>
                        </a:rPr>
                        <a:t>Trabajar → −0,86 puntos</a:t>
                      </a:r>
                      <a:endParaRPr lang="en-US" sz="1100" dirty="0"/>
                    </a:p>
                  </a:txBody>
                  <a:tcPr marL="54864" marR="54864" marT="54864" marB="54864"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r>
              <a:tr h="384048">
                <a:tc>
                  <a:txBody>
                    <a:bodyPr/>
                    <a:lstStyle/>
                    <a:p>
                      <a:pPr indent="0" marL="0">
                        <a:buNone/>
                      </a:pPr>
                      <a:r>
                        <a:rPr lang="en-US" sz="1000" dirty="0">
                          <a:solidFill>
                            <a:srgbClr val="1B2430"/>
                          </a:solidFill>
                          <a:latin typeface="Courier New" pitchFamily="34" charset="0"/>
                          <a:ea typeface="Courier New" pitchFamily="34" charset="-122"/>
                          <a:cs typeface="Courier New" pitchFamily="34" charset="-120"/>
                        </a:rPr>
                        <a:t>C(curso)[T.Quimica]</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c>
                  <a:txBody>
                    <a:bodyPr/>
                    <a:lstStyle/>
                    <a:p>
                      <a:pPr indent="0" marL="0">
                        <a:buNone/>
                      </a:pPr>
                      <a:r>
                        <a:rPr lang="en-US" sz="1100" dirty="0">
                          <a:solidFill>
                            <a:srgbClr val="1B2430"/>
                          </a:solidFill>
                        </a:rPr>
                        <a:t>−0,44</a:t>
                      </a:r>
                      <a:endParaRPr lang="en-US" sz="1100" dirty="0"/>
                    </a:p>
                  </a:txBody>
                  <a:tcPr marL="54864" marR="54864" marT="54864" marB="54864"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c>
                  <a:txBody>
                    <a:bodyPr/>
                    <a:lstStyle/>
                    <a:p>
                      <a:pPr indent="0" marL="0">
                        <a:buNone/>
                      </a:pPr>
                      <a:r>
                        <a:rPr lang="en-US" sz="1100" dirty="0">
                          <a:solidFill>
                            <a:srgbClr val="1B2430"/>
                          </a:solidFill>
                        </a:rPr>
                        <a:t>0,009</a:t>
                      </a:r>
                      <a:endParaRPr lang="en-US" sz="1100" dirty="0"/>
                    </a:p>
                  </a:txBody>
                  <a:tcPr marL="54864" marR="54864" marT="54864" marB="54864"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c>
                  <a:txBody>
                    <a:bodyPr/>
                    <a:lstStyle/>
                    <a:p>
                      <a:pPr indent="0" marL="0">
                        <a:buNone/>
                      </a:pPr>
                      <a:r>
                        <a:rPr lang="en-US" sz="1100" dirty="0">
                          <a:solidFill>
                            <a:srgbClr val="1B2430"/>
                          </a:solidFill>
                        </a:rPr>
                        <a:t>Sí</a:t>
                      </a:r>
                      <a:endParaRPr lang="en-US" sz="1100" dirty="0"/>
                    </a:p>
                  </a:txBody>
                  <a:tcPr marL="54864" marR="54864" marT="54864" marB="54864"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c>
                  <a:txBody>
                    <a:bodyPr/>
                    <a:lstStyle/>
                    <a:p>
                      <a:pPr indent="0" marL="0">
                        <a:buNone/>
                      </a:pPr>
                      <a:r>
                        <a:rPr lang="en-US" sz="1100" dirty="0">
                          <a:solidFill>
                            <a:srgbClr val="1B2430"/>
                          </a:solidFill>
                        </a:rPr>
                        <a:t>vs. Física (referencia)</a:t>
                      </a:r>
                      <a:endParaRPr lang="en-US" sz="1100" dirty="0"/>
                    </a:p>
                  </a:txBody>
                  <a:tcPr marL="54864" marR="54864" marT="54864" marB="54864"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r>
              <a:tr h="384048">
                <a:tc>
                  <a:txBody>
                    <a:bodyPr/>
                    <a:lstStyle/>
                    <a:p>
                      <a:pPr indent="0" marL="0">
                        <a:buNone/>
                      </a:pPr>
                      <a:r>
                        <a:rPr lang="en-US" sz="1000" dirty="0">
                          <a:solidFill>
                            <a:srgbClr val="1B2430"/>
                          </a:solidFill>
                          <a:latin typeface="Courier New" pitchFamily="34" charset="0"/>
                          <a:ea typeface="Courier New" pitchFamily="34" charset="-122"/>
                          <a:cs typeface="Courier New" pitchFamily="34" charset="-120"/>
                        </a:rPr>
                        <a:t>C(curso)[T.Matematicas]</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c>
                  <a:txBody>
                    <a:bodyPr/>
                    <a:lstStyle/>
                    <a:p>
                      <a:pPr indent="0" marL="0">
                        <a:buNone/>
                      </a:pPr>
                      <a:r>
                        <a:rPr lang="en-US" sz="1100" dirty="0">
                          <a:solidFill>
                            <a:srgbClr val="1B2430"/>
                          </a:solidFill>
                        </a:rPr>
                        <a:t>+0,29</a:t>
                      </a:r>
                      <a:endParaRPr lang="en-US" sz="1100" dirty="0"/>
                    </a:p>
                  </a:txBody>
                  <a:tcPr marL="54864" marR="54864" marT="54864" marB="54864"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c>
                  <a:txBody>
                    <a:bodyPr/>
                    <a:lstStyle/>
                    <a:p>
                      <a:pPr indent="0" marL="0">
                        <a:buNone/>
                      </a:pPr>
                      <a:r>
                        <a:rPr lang="en-US" sz="1100" dirty="0">
                          <a:solidFill>
                            <a:srgbClr val="1B2430"/>
                          </a:solidFill>
                        </a:rPr>
                        <a:t>0,055</a:t>
                      </a:r>
                      <a:endParaRPr lang="en-US" sz="1100" dirty="0"/>
                    </a:p>
                  </a:txBody>
                  <a:tcPr marL="54864" marR="54864" marT="54864" marB="54864"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c>
                  <a:txBody>
                    <a:bodyPr/>
                    <a:lstStyle/>
                    <a:p>
                      <a:pPr indent="0" marL="0">
                        <a:buNone/>
                      </a:pPr>
                      <a:r>
                        <a:rPr lang="en-US" sz="1100" dirty="0">
                          <a:solidFill>
                            <a:srgbClr val="1B2430"/>
                          </a:solidFill>
                        </a:rPr>
                        <a:t>Al límite</a:t>
                      </a:r>
                      <a:endParaRPr lang="en-US" sz="1100" dirty="0"/>
                    </a:p>
                  </a:txBody>
                  <a:tcPr marL="54864" marR="54864" marT="54864" marB="54864"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c>
                  <a:txBody>
                    <a:bodyPr/>
                    <a:lstStyle/>
                    <a:p>
                      <a:pPr indent="0" marL="0">
                        <a:buNone/>
                      </a:pPr>
                      <a:r>
                        <a:rPr lang="en-US" sz="1100" dirty="0">
                          <a:solidFill>
                            <a:srgbClr val="1B2430"/>
                          </a:solidFill>
                        </a:rPr>
                        <a:t>vs. Física (referencia)</a:t>
                      </a:r>
                      <a:endParaRPr lang="en-US" sz="1100" dirty="0"/>
                    </a:p>
                  </a:txBody>
                  <a:tcPr marL="54864" marR="54864" marT="54864" marB="54864"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EEF3F6"/>
                    </a:solidFill>
                  </a:tcPr>
                </a:tc>
              </a:tr>
              <a:tr h="384048">
                <a:tc>
                  <a:txBody>
                    <a:bodyPr/>
                    <a:lstStyle/>
                    <a:p>
                      <a:pPr indent="0" marL="0">
                        <a:buNone/>
                      </a:pPr>
                      <a:r>
                        <a:rPr lang="en-US" sz="1000" b="1" dirty="0">
                          <a:solidFill>
                            <a:srgbClr val="E07A5F"/>
                          </a:solidFill>
                          <a:latin typeface="Courier New" pitchFamily="34" charset="0"/>
                          <a:ea typeface="Courier New" pitchFamily="34" charset="-122"/>
                          <a:cs typeface="Courier New" pitchFamily="34" charset="-120"/>
                        </a:rPr>
                        <a:t>horas_sueno</a:t>
                      </a:r>
                      <a:endParaRPr lang="en-US" sz="1000" dirty="0">
                        <a:latin typeface="Courier New" charset="0"/>
                        <a:ea typeface="Courier New" charset="0"/>
                        <a:cs typeface="Courier New" charset="0"/>
                      </a:endParaRPr>
                    </a:p>
                  </a:txBody>
                  <a:tcPr marL="54864" marR="54864" marT="54864" marB="54864"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BE9E4"/>
                    </a:solidFill>
                  </a:tcPr>
                </a:tc>
                <a:tc>
                  <a:txBody>
                    <a:bodyPr/>
                    <a:lstStyle/>
                    <a:p>
                      <a:pPr indent="0" marL="0">
                        <a:buNone/>
                      </a:pPr>
                      <a:r>
                        <a:rPr lang="en-US" sz="1100" b="1" dirty="0">
                          <a:solidFill>
                            <a:srgbClr val="E07A5F"/>
                          </a:solidFill>
                        </a:rPr>
                        <a:t>+0,03</a:t>
                      </a:r>
                      <a:endParaRPr lang="en-US" sz="1100" dirty="0"/>
                    </a:p>
                  </a:txBody>
                  <a:tcPr marL="54864" marR="54864" marT="54864" marB="54864"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BE9E4"/>
                    </a:solidFill>
                  </a:tcPr>
                </a:tc>
                <a:tc>
                  <a:txBody>
                    <a:bodyPr/>
                    <a:lstStyle/>
                    <a:p>
                      <a:pPr indent="0" marL="0">
                        <a:buNone/>
                      </a:pPr>
                      <a:r>
                        <a:rPr lang="en-US" sz="1100" b="1" dirty="0">
                          <a:solidFill>
                            <a:srgbClr val="E07A5F"/>
                          </a:solidFill>
                        </a:rPr>
                        <a:t>0,65</a:t>
                      </a:r>
                      <a:endParaRPr lang="en-US" sz="1100" dirty="0"/>
                    </a:p>
                  </a:txBody>
                  <a:tcPr marL="54864" marR="54864" marT="54864" marB="54864"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BE9E4"/>
                    </a:solidFill>
                  </a:tcPr>
                </a:tc>
                <a:tc>
                  <a:txBody>
                    <a:bodyPr/>
                    <a:lstStyle/>
                    <a:p>
                      <a:pPr indent="0" marL="0">
                        <a:buNone/>
                      </a:pPr>
                      <a:r>
                        <a:rPr lang="en-US" sz="1100" b="1" dirty="0">
                          <a:solidFill>
                            <a:srgbClr val="E07A5F"/>
                          </a:solidFill>
                        </a:rPr>
                        <a:t>No</a:t>
                      </a:r>
                      <a:endParaRPr lang="en-US" sz="1100" dirty="0"/>
                    </a:p>
                  </a:txBody>
                  <a:tcPr marL="54864" marR="54864" marT="54864" marB="54864"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BE9E4"/>
                    </a:solidFill>
                  </a:tcPr>
                </a:tc>
                <a:tc>
                  <a:txBody>
                    <a:bodyPr/>
                    <a:lstStyle/>
                    <a:p>
                      <a:pPr indent="0" marL="0">
                        <a:buNone/>
                      </a:pPr>
                      <a:r>
                        <a:rPr lang="en-US" sz="1100" b="1" dirty="0">
                          <a:solidFill>
                            <a:srgbClr val="E07A5F"/>
                          </a:solidFill>
                        </a:rPr>
                        <a:t>Sin evidencia de efecto</a:t>
                      </a:r>
                      <a:endParaRPr lang="en-US" sz="1100" dirty="0"/>
                    </a:p>
                  </a:txBody>
                  <a:tcPr marL="54864" marR="54864" marT="54864" marB="54864" anchor="ctr">
                    <a:lnL w="6350" cap="flat" cmpd="sng" algn="ctr">
                      <a:solidFill>
                        <a:srgbClr val="DDE3E8"/>
                      </a:solidFill>
                      <a:prstDash val="solid"/>
                      <a:round/>
                      <a:headEnd type="none" w="med" len="med"/>
                      <a:tailEnd type="none" w="med" len="med"/>
                    </a:lnL>
                    <a:lnR w="6350" cap="flat" cmpd="sng" algn="ctr">
                      <a:solidFill>
                        <a:srgbClr val="DDE3E8"/>
                      </a:solidFill>
                      <a:prstDash val="solid"/>
                      <a:round/>
                      <a:headEnd type="none" w="med" len="med"/>
                      <a:tailEnd type="none" w="med" len="med"/>
                    </a:lnR>
                    <a:lnT w="6350" cap="flat" cmpd="sng" algn="ctr">
                      <a:solidFill>
                        <a:srgbClr val="DDE3E8"/>
                      </a:solidFill>
                      <a:prstDash val="solid"/>
                      <a:round/>
                      <a:headEnd type="none" w="med" len="med"/>
                      <a:tailEnd type="none" w="med" len="med"/>
                    </a:lnT>
                    <a:lnB w="6350" cap="flat" cmpd="sng" algn="ctr">
                      <a:solidFill>
                        <a:srgbClr val="DDE3E8"/>
                      </a:solidFill>
                      <a:prstDash val="solid"/>
                      <a:round/>
                      <a:headEnd type="none" w="med" len="med"/>
                      <a:tailEnd type="none" w="med" len="med"/>
                    </a:lnB>
                    <a:solidFill>
                      <a:srgbClr val="FBE9E4"/>
                    </a:solidFill>
                  </a:tcPr>
                </a:tc>
              </a:tr>
            </a:tbl>
          </a:graphicData>
        </a:graphic>
      </p:graphicFrame>
      <p:sp>
        <p:nvSpPr>
          <p:cNvPr id="5" name="Text 2"/>
          <p:cNvSpPr txBox="1"/>
          <p:nvPr/>
        </p:nvSpPr>
        <p:spPr>
          <a:xfrm>
            <a:off x="457200" y="4069080"/>
            <a:ext cx="8229600" cy="502920"/>
          </a:xfrm>
          <a:prstGeom prst="rect">
            <a:avLst/>
          </a:prstGeom>
          <a:noFill/>
          <a:ln/>
        </p:spPr>
        <p:txBody>
          <a:bodyPr wrap="square" lIns="0" tIns="0" rIns="0" bIns="0" rtlCol="0" anchor="t"/>
          <a:lstStyle/>
          <a:p>
            <a:pPr indent="0" marL="0">
              <a:buNone/>
            </a:pPr>
            <a:r>
              <a:rPr lang="en-US" sz="1200" b="1" dirty="0">
                <a:solidFill>
                  <a:schemeClr val="accent3"/>
                </a:solidFill>
              </a:rPr>
              <a:t>R² ajustado = 0,75. </a:t>
            </a:r>
            <a:pPr indent="0" marL="0">
              <a:buNone/>
            </a:pPr>
            <a:r>
              <a:rPr lang="en-US" sz="1200" dirty="0">
                <a:solidFill>
                  <a:schemeClr val="tx1"/>
                </a:solidFill>
              </a:rPr>
              <a:t>Las categóricas se comparan con una categoría de referencia (Física, primera en orden alfabético; trabaja = No).</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56032"/>
          </a:xfrm>
          <a:prstGeom prst="rect">
            <a:avLst/>
          </a:prstGeom>
          <a:noFill/>
          <a:ln/>
        </p:spPr>
        <p:txBody>
          <a:bodyPr wrap="square" lIns="0" tIns="0" rIns="0" bIns="0" rtlCol="0"/>
          <a:lstStyle/>
          <a:p>
            <a:pPr indent="0" marL="0">
              <a:buNone/>
            </a:pPr>
            <a:r>
              <a:rPr lang="en-US" sz="1100" b="1" spc="100" kern="0" dirty="0">
                <a:solidFill>
                  <a:schemeClr val="accent3"/>
                </a:solidFill>
              </a:rPr>
              <a:t>PASO 3 · COMPARAR MODELOS</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Comparar modelos con R² ajustado y revisar el VIF</a:t>
            </a:r>
            <a:endParaRPr lang="en-US" sz="2800" dirty="0"/>
          </a:p>
        </p:txBody>
      </p:sp>
      <p:graphicFrame>
        <p:nvGraphicFramePr>
          <p:cNvPr id="4" name="Chart 0" descr=""/>
          <p:cNvGraphicFramePr/>
          <p:nvPr/>
        </p:nvGraphicFramePr>
        <p:xfrm>
          <a:off x="457200" y="1188720"/>
          <a:ext cx="4572000" cy="30175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457200" y="4251960"/>
            <a:ext cx="4572000" cy="365760"/>
          </a:xfrm>
          <a:prstGeom prst="rect">
            <a:avLst/>
          </a:prstGeom>
          <a:noFill/>
          <a:ln/>
        </p:spPr>
        <p:txBody>
          <a:bodyPr wrap="square" lIns="0" tIns="0" rIns="0" bIns="0" rtlCol="0" anchor="ctr"/>
          <a:lstStyle/>
          <a:p>
            <a:pPr indent="0" marL="0">
              <a:buNone/>
            </a:pPr>
            <a:r>
              <a:rPr lang="en-US" sz="1100" i="1" dirty="0">
                <a:solidFill>
                  <a:schemeClr val="tx1"/>
                </a:solidFill>
              </a:rPr>
              <a:t>R² siempre sube al agregar variables; el ajustado solo sube si la variable aporta.</a:t>
            </a:r>
            <a:endParaRPr lang="en-US" sz="1100" dirty="0"/>
          </a:p>
        </p:txBody>
      </p:sp>
      <p:sp>
        <p:nvSpPr>
          <p:cNvPr id="6" name="Tarjeta"/>
          <p:cNvSpPr/>
          <p:nvPr/>
        </p:nvSpPr>
        <p:spPr>
          <a:xfrm>
            <a:off x="5303520" y="1234440"/>
            <a:ext cx="3383280" cy="3337560"/>
          </a:xfrm>
          <a:prstGeom prst="roundRect">
            <a:avLst>
              <a:gd name="adj" fmla="val 2192"/>
            </a:avLst>
          </a:prstGeom>
          <a:solidFill>
            <a:schemeClr val="bg2"/>
          </a:solidFill>
          <a:ln w="12700">
            <a:solidFill>
              <a:schemeClr val="bg2"/>
            </a:solidFill>
            <a:prstDash val="solid"/>
          </a:ln>
        </p:spPr>
      </p:sp>
      <p:sp>
        <p:nvSpPr>
          <p:cNvPr id="7" name="Text 4"/>
          <p:cNvSpPr txBox="1"/>
          <p:nvPr/>
        </p:nvSpPr>
        <p:spPr>
          <a:xfrm>
            <a:off x="5486400" y="1325880"/>
            <a:ext cx="3017520" cy="365760"/>
          </a:xfrm>
          <a:prstGeom prst="rect">
            <a:avLst/>
          </a:prstGeom>
          <a:noFill/>
          <a:ln/>
        </p:spPr>
        <p:txBody>
          <a:bodyPr wrap="square" lIns="0" tIns="0" rIns="0" bIns="0" rtlCol="0" anchor="ctr"/>
          <a:lstStyle/>
          <a:p>
            <a:pPr indent="0" marL="0">
              <a:buNone/>
            </a:pPr>
            <a:r>
              <a:rPr lang="en-US" sz="1400" b="1" dirty="0">
                <a:solidFill>
                  <a:schemeClr val="tx2"/>
                </a:solidFill>
              </a:rPr>
              <a:t>Multicolinealidad (VIF)</a:t>
            </a:r>
            <a:endParaRPr lang="en-US" sz="1400" dirty="0"/>
          </a:p>
        </p:txBody>
      </p:sp>
      <p:sp>
        <p:nvSpPr>
          <p:cNvPr id="8" name="Text 5"/>
          <p:cNvSpPr txBox="1"/>
          <p:nvPr/>
        </p:nvSpPr>
        <p:spPr>
          <a:xfrm>
            <a:off x="5486400" y="1737360"/>
            <a:ext cx="3017520" cy="685800"/>
          </a:xfrm>
          <a:prstGeom prst="rect">
            <a:avLst/>
          </a:prstGeom>
          <a:noFill/>
          <a:ln/>
        </p:spPr>
        <p:txBody>
          <a:bodyPr wrap="square" lIns="0" tIns="0" rIns="0" bIns="0" rtlCol="0" anchor="t"/>
          <a:lstStyle/>
          <a:p>
            <a:pPr indent="0" marL="0">
              <a:buNone/>
            </a:pPr>
            <a:r>
              <a:rPr lang="en-US" sz="1100" dirty="0">
                <a:solidFill>
                  <a:schemeClr val="tx1"/>
                </a:solidFill>
              </a:rPr>
              <a:t>Si dos explicativas están muy correlacionadas, sus coeficientes se vuelven inestables.</a:t>
            </a:r>
            <a:endParaRPr lang="en-US" sz="1100" dirty="0"/>
          </a:p>
        </p:txBody>
      </p:sp>
      <p:sp>
        <p:nvSpPr>
          <p:cNvPr id="9" name="Text 6"/>
          <p:cNvSpPr txBox="1"/>
          <p:nvPr/>
        </p:nvSpPr>
        <p:spPr>
          <a:xfrm>
            <a:off x="5486400" y="2468880"/>
            <a:ext cx="1828800" cy="365760"/>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horas_estudio</a:t>
            </a:r>
            <a:endParaRPr lang="en-US" sz="1100" dirty="0"/>
          </a:p>
        </p:txBody>
      </p:sp>
      <p:sp>
        <p:nvSpPr>
          <p:cNvPr id="10" name="Text 7"/>
          <p:cNvSpPr txBox="1"/>
          <p:nvPr/>
        </p:nvSpPr>
        <p:spPr>
          <a:xfrm>
            <a:off x="7315200" y="2468880"/>
            <a:ext cx="1188720" cy="365760"/>
          </a:xfrm>
          <a:prstGeom prst="rect">
            <a:avLst/>
          </a:prstGeom>
          <a:noFill/>
          <a:ln/>
        </p:spPr>
        <p:txBody>
          <a:bodyPr wrap="square" lIns="0" tIns="0" rIns="0" bIns="0" rtlCol="0" anchor="ctr"/>
          <a:lstStyle/>
          <a:p>
            <a:pPr indent="0" marL="0">
              <a:buNone/>
            </a:pPr>
            <a:r>
              <a:rPr lang="en-US" sz="1500" b="1" dirty="0">
                <a:solidFill>
                  <a:schemeClr val="accent3"/>
                </a:solidFill>
              </a:rPr>
              <a:t>1,89</a:t>
            </a:r>
            <a:endParaRPr lang="en-US" sz="1500" dirty="0"/>
          </a:p>
        </p:txBody>
      </p:sp>
      <p:sp>
        <p:nvSpPr>
          <p:cNvPr id="11" name="Text 8"/>
          <p:cNvSpPr txBox="1"/>
          <p:nvPr/>
        </p:nvSpPr>
        <p:spPr>
          <a:xfrm>
            <a:off x="5486400" y="2880360"/>
            <a:ext cx="1828800" cy="365760"/>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asistencia</a:t>
            </a:r>
            <a:endParaRPr lang="en-US" sz="1100" dirty="0"/>
          </a:p>
        </p:txBody>
      </p:sp>
      <p:sp>
        <p:nvSpPr>
          <p:cNvPr id="12" name="Text 9"/>
          <p:cNvSpPr txBox="1"/>
          <p:nvPr/>
        </p:nvSpPr>
        <p:spPr>
          <a:xfrm>
            <a:off x="7315200" y="2880360"/>
            <a:ext cx="1188720" cy="365760"/>
          </a:xfrm>
          <a:prstGeom prst="rect">
            <a:avLst/>
          </a:prstGeom>
          <a:noFill/>
          <a:ln/>
        </p:spPr>
        <p:txBody>
          <a:bodyPr wrap="square" lIns="0" tIns="0" rIns="0" bIns="0" rtlCol="0" anchor="ctr"/>
          <a:lstStyle/>
          <a:p>
            <a:pPr indent="0" marL="0">
              <a:buNone/>
            </a:pPr>
            <a:r>
              <a:rPr lang="en-US" sz="1500" b="1" dirty="0">
                <a:solidFill>
                  <a:schemeClr val="accent3"/>
                </a:solidFill>
              </a:rPr>
              <a:t>1,80</a:t>
            </a:r>
            <a:endParaRPr lang="en-US" sz="1500" dirty="0"/>
          </a:p>
        </p:txBody>
      </p:sp>
      <p:sp>
        <p:nvSpPr>
          <p:cNvPr id="13" name="Text 10"/>
          <p:cNvSpPr txBox="1"/>
          <p:nvPr/>
        </p:nvSpPr>
        <p:spPr>
          <a:xfrm>
            <a:off x="5486400" y="3291840"/>
            <a:ext cx="1828800" cy="365760"/>
          </a:xfrm>
          <a:prstGeom prst="rect">
            <a:avLst/>
          </a:prstGeom>
          <a:noFill/>
          <a:ln/>
        </p:spPr>
        <p:txBody>
          <a:bodyPr wrap="square" lIns="0" tIns="0" rIns="0" bIns="0" rtlCol="0" anchor="ctr"/>
          <a:lstStyle/>
          <a:p>
            <a:pPr indent="0" marL="0">
              <a:buNone/>
            </a:pPr>
            <a:r>
              <a:rPr lang="en-US" sz="1100" dirty="0">
                <a:solidFill>
                  <a:schemeClr val="tx1"/>
                </a:solidFill>
                <a:latin typeface="Courier New" pitchFamily="34" charset="0"/>
                <a:ea typeface="Courier New" pitchFamily="34" charset="-122"/>
                <a:cs typeface="Courier New" pitchFamily="34" charset="-120"/>
              </a:rPr>
              <a:t>otras</a:t>
            </a:r>
            <a:endParaRPr lang="en-US" sz="1100" dirty="0"/>
          </a:p>
        </p:txBody>
      </p:sp>
      <p:sp>
        <p:nvSpPr>
          <p:cNvPr id="14" name="Text 11"/>
          <p:cNvSpPr txBox="1"/>
          <p:nvPr/>
        </p:nvSpPr>
        <p:spPr>
          <a:xfrm>
            <a:off x="7315200" y="3291840"/>
            <a:ext cx="1188720" cy="365760"/>
          </a:xfrm>
          <a:prstGeom prst="rect">
            <a:avLst/>
          </a:prstGeom>
          <a:noFill/>
          <a:ln/>
        </p:spPr>
        <p:txBody>
          <a:bodyPr wrap="square" lIns="0" tIns="0" rIns="0" bIns="0" rtlCol="0" anchor="ctr"/>
          <a:lstStyle/>
          <a:p>
            <a:pPr indent="0" marL="0">
              <a:buNone/>
            </a:pPr>
            <a:r>
              <a:rPr lang="en-US" sz="1500" b="1" dirty="0">
                <a:solidFill>
                  <a:schemeClr val="accent3"/>
                </a:solidFill>
              </a:rPr>
              <a:t>&lt; 1,3</a:t>
            </a:r>
            <a:endParaRPr lang="en-US" sz="1500" dirty="0"/>
          </a:p>
        </p:txBody>
      </p:sp>
      <p:sp>
        <p:nvSpPr>
          <p:cNvPr id="15" name="Text 12"/>
          <p:cNvSpPr txBox="1"/>
          <p:nvPr/>
        </p:nvSpPr>
        <p:spPr>
          <a:xfrm>
            <a:off x="5486400" y="3749040"/>
            <a:ext cx="3017520" cy="731520"/>
          </a:xfrm>
          <a:prstGeom prst="rect">
            <a:avLst/>
          </a:prstGeom>
          <a:noFill/>
          <a:ln/>
        </p:spPr>
        <p:txBody>
          <a:bodyPr wrap="square" lIns="0" tIns="0" rIns="0" bIns="0" rtlCol="0" anchor="t"/>
          <a:lstStyle/>
          <a:p>
            <a:pPr indent="0" marL="0">
              <a:buNone/>
            </a:pPr>
            <a:r>
              <a:rPr lang="en-US" sz="1100" i="1" dirty="0">
                <a:solidFill>
                  <a:schemeClr val="tx1"/>
                </a:solidFill>
              </a:rPr>
              <a:t>Todos bajo 5: sin problema. Regla: &gt; 5 revisar, &gt; 10 grave.</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56032"/>
          </a:xfrm>
          <a:prstGeom prst="rect">
            <a:avLst/>
          </a:prstGeom>
          <a:noFill/>
          <a:ln/>
        </p:spPr>
        <p:txBody>
          <a:bodyPr wrap="square" lIns="0" tIns="0" rIns="0" bIns="0" rtlCol="0"/>
          <a:lstStyle/>
          <a:p>
            <a:pPr indent="0" marL="0">
              <a:buNone/>
            </a:pPr>
            <a:r>
              <a:rPr lang="en-US" sz="1100" b="1" spc="100" kern="0" dirty="0">
                <a:solidFill>
                  <a:schemeClr val="accent3"/>
                </a:solidFill>
              </a:rPr>
              <a:t>PASO 4 · EVALUAR</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Un buen modelo acierta con estudiantes que no vio</a:t>
            </a:r>
            <a:endParaRPr lang="en-US" sz="2800" dirty="0"/>
          </a:p>
        </p:txBody>
      </p:sp>
      <p:sp>
        <p:nvSpPr>
          <p:cNvPr id="4" name="Entrenamiento"/>
          <p:cNvSpPr/>
          <p:nvPr/>
        </p:nvSpPr>
        <p:spPr>
          <a:xfrm>
            <a:off x="457200" y="1325880"/>
            <a:ext cx="3291840" cy="502920"/>
          </a:xfrm>
          <a:prstGeom prst="rect">
            <a:avLst/>
          </a:prstGeom>
          <a:solidFill>
            <a:schemeClr val="accent2"/>
          </a:solidFill>
          <a:ln w="12700">
            <a:solidFill>
              <a:schemeClr val="accent2"/>
            </a:solidFill>
            <a:prstDash val="solid"/>
          </a:ln>
        </p:spPr>
      </p:sp>
      <p:sp>
        <p:nvSpPr>
          <p:cNvPr id="5" name="Text 3"/>
          <p:cNvSpPr txBox="1"/>
          <p:nvPr/>
        </p:nvSpPr>
        <p:spPr>
          <a:xfrm>
            <a:off x="457200" y="1325880"/>
            <a:ext cx="3291840" cy="502920"/>
          </a:xfrm>
          <a:prstGeom prst="rect">
            <a:avLst/>
          </a:prstGeom>
          <a:noFill/>
          <a:ln/>
        </p:spPr>
        <p:txBody>
          <a:bodyPr wrap="square" lIns="0" tIns="0" rIns="0" bIns="0" rtlCol="0" anchor="ctr"/>
          <a:lstStyle/>
          <a:p>
            <a:pPr algn="ctr" indent="0" marL="0">
              <a:buNone/>
            </a:pPr>
            <a:r>
              <a:rPr lang="en-US" sz="1200" b="1" dirty="0">
                <a:solidFill>
                  <a:schemeClr val="bg1"/>
                </a:solidFill>
              </a:rPr>
              <a:t>Entrenamiento · 120</a:t>
            </a:r>
            <a:endParaRPr lang="en-US" sz="1200" dirty="0"/>
          </a:p>
        </p:txBody>
      </p:sp>
      <p:sp>
        <p:nvSpPr>
          <p:cNvPr id="6" name="Prueba"/>
          <p:cNvSpPr/>
          <p:nvPr/>
        </p:nvSpPr>
        <p:spPr>
          <a:xfrm>
            <a:off x="3749040" y="1325880"/>
            <a:ext cx="822960" cy="502920"/>
          </a:xfrm>
          <a:prstGeom prst="rect">
            <a:avLst/>
          </a:prstGeom>
          <a:solidFill>
            <a:schemeClr val="accent1"/>
          </a:solidFill>
          <a:ln w="12700">
            <a:solidFill>
              <a:schemeClr val="accent1"/>
            </a:solidFill>
            <a:prstDash val="solid"/>
          </a:ln>
        </p:spPr>
      </p:sp>
      <p:sp>
        <p:nvSpPr>
          <p:cNvPr id="7" name="Text 5"/>
          <p:cNvSpPr txBox="1"/>
          <p:nvPr/>
        </p:nvSpPr>
        <p:spPr>
          <a:xfrm>
            <a:off x="3749040" y="1325880"/>
            <a:ext cx="822960" cy="502920"/>
          </a:xfrm>
          <a:prstGeom prst="rect">
            <a:avLst/>
          </a:prstGeom>
          <a:noFill/>
          <a:ln/>
        </p:spPr>
        <p:txBody>
          <a:bodyPr wrap="square" lIns="0" tIns="0" rIns="0" bIns="0" rtlCol="0" anchor="ctr"/>
          <a:lstStyle/>
          <a:p>
            <a:pPr algn="ctr" indent="0" marL="0">
              <a:buNone/>
            </a:pPr>
            <a:r>
              <a:rPr lang="en-US" sz="1000" b="1" dirty="0">
                <a:solidFill>
                  <a:schemeClr val="tx2"/>
                </a:solidFill>
              </a:rPr>
              <a:t>Prueba · 30</a:t>
            </a:r>
            <a:endParaRPr lang="en-US" sz="1000" dirty="0"/>
          </a:p>
        </p:txBody>
      </p:sp>
      <p:sp>
        <p:nvSpPr>
          <p:cNvPr id="8" name="Bloque de código"/>
          <p:cNvSpPr/>
          <p:nvPr/>
        </p:nvSpPr>
        <p:spPr>
          <a:xfrm>
            <a:off x="457200" y="1965960"/>
            <a:ext cx="4114800" cy="2606040"/>
          </a:xfrm>
          <a:prstGeom prst="roundRect">
            <a:avLst>
              <a:gd name="adj" fmla="val 2807"/>
            </a:avLst>
          </a:prstGeom>
          <a:solidFill>
            <a:schemeClr val="tx2"/>
          </a:solidFill>
          <a:ln w="12700">
            <a:solidFill>
              <a:schemeClr val="tx2"/>
            </a:solidFill>
            <a:prstDash val="solid"/>
          </a:ln>
        </p:spPr>
      </p:sp>
      <p:sp>
        <p:nvSpPr>
          <p:cNvPr id="9" name="Text 7"/>
          <p:cNvSpPr txBox="1"/>
          <p:nvPr/>
        </p:nvSpPr>
        <p:spPr>
          <a:xfrm>
            <a:off x="594360" y="2057400"/>
            <a:ext cx="3840480" cy="2423160"/>
          </a:xfrm>
          <a:prstGeom prst="rect">
            <a:avLst/>
          </a:prstGeom>
          <a:noFill/>
          <a:ln/>
        </p:spPr>
        <p:txBody>
          <a:bodyPr wrap="square" lIns="0" tIns="0" rIns="0" bIns="0" rtlCol="0" anchor="t"/>
          <a:lstStyle/>
          <a:p>
            <a:pPr indent="0" marL="0">
              <a:spcAft>
                <a:spcPts val="200"/>
              </a:spcAft>
              <a:buNone/>
            </a:pPr>
            <a:r>
              <a:rPr lang="en-US" sz="900" dirty="0">
                <a:solidFill>
                  <a:schemeClr val="bg1"/>
                </a:solidFill>
                <a:latin typeface="Courier New" pitchFamily="34" charset="0"/>
                <a:ea typeface="Courier New" pitchFamily="34" charset="-122"/>
                <a:cs typeface="Courier New" pitchFamily="34" charset="-120"/>
              </a:rPr>
              <a:t>from sklearn.linear_model import LinearRegression</a:t>
            </a:r>
            <a:endParaRPr lang="en-US" sz="900" dirty="0"/>
          </a:p>
          <a:p>
            <a:pPr indent="0" marL="0">
              <a:spcAft>
                <a:spcPts val="200"/>
              </a:spcAft>
              <a:buNone/>
            </a:pPr>
            <a:r>
              <a:rPr lang="en-US" sz="900" dirty="0">
                <a:solidFill>
                  <a:schemeClr val="bg1"/>
                </a:solidFill>
                <a:latin typeface="Courier New" pitchFamily="34" charset="0"/>
                <a:ea typeface="Courier New" pitchFamily="34" charset="-122"/>
                <a:cs typeface="Courier New" pitchFamily="34" charset="-120"/>
              </a:rPr>
              <a:t>from sklearn.model_selection import train_test_split</a:t>
            </a:r>
            <a:endParaRPr lang="en-US" sz="900" dirty="0"/>
          </a:p>
          <a:p>
            <a:pPr indent="0" marL="0">
              <a:spcAft>
                <a:spcPts val="200"/>
              </a:spcAft>
              <a:buNone/>
            </a:pPr>
            <a:r>
              <a:rPr lang="en-US" sz="900" dirty="0">
                <a:solidFill>
                  <a:schemeClr val="bg1"/>
                </a:solidFill>
                <a:latin typeface="Courier New" pitchFamily="34" charset="0"/>
                <a:ea typeface="Courier New" pitchFamily="34" charset="-122"/>
                <a:cs typeface="Courier New" pitchFamily="34" charset="-120"/>
              </a:rPr>
              <a:t> </a:t>
            </a:r>
            <a:endParaRPr lang="en-US" sz="900" dirty="0"/>
          </a:p>
          <a:p>
            <a:pPr indent="0" marL="0">
              <a:spcAft>
                <a:spcPts val="200"/>
              </a:spcAft>
              <a:buNone/>
            </a:pPr>
            <a:r>
              <a:rPr lang="en-US" sz="900" dirty="0">
                <a:solidFill>
                  <a:schemeClr val="bg1"/>
                </a:solidFill>
                <a:latin typeface="Courier New" pitchFamily="34" charset="0"/>
                <a:ea typeface="Courier New" pitchFamily="34" charset="-122"/>
                <a:cs typeface="Courier New" pitchFamily="34" charset="-120"/>
              </a:rPr>
              <a:t>X = pd.get_dummies(df[[...]], drop_first=True)</a:t>
            </a:r>
            <a:endParaRPr lang="en-US" sz="900" dirty="0"/>
          </a:p>
          <a:p>
            <a:pPr indent="0" marL="0">
              <a:spcAft>
                <a:spcPts val="200"/>
              </a:spcAft>
              <a:buNone/>
            </a:pPr>
            <a:r>
              <a:rPr lang="en-US" sz="900" dirty="0">
                <a:solidFill>
                  <a:schemeClr val="bg1"/>
                </a:solidFill>
                <a:latin typeface="Courier New" pitchFamily="34" charset="0"/>
                <a:ea typeface="Courier New" pitchFamily="34" charset="-122"/>
                <a:cs typeface="Courier New" pitchFamily="34" charset="-120"/>
              </a:rPr>
              <a:t>X_tr, X_te, y_tr, y_te = train_test_split(</a:t>
            </a:r>
            <a:endParaRPr lang="en-US" sz="900" dirty="0"/>
          </a:p>
          <a:p>
            <a:pPr indent="0" marL="0">
              <a:spcAft>
                <a:spcPts val="200"/>
              </a:spcAft>
              <a:buNone/>
            </a:pPr>
            <a:r>
              <a:rPr lang="en-US" sz="900" dirty="0">
                <a:solidFill>
                  <a:schemeClr val="bg1"/>
                </a:solidFill>
                <a:latin typeface="Courier New" pitchFamily="34" charset="0"/>
                <a:ea typeface="Courier New" pitchFamily="34" charset="-122"/>
                <a:cs typeface="Courier New" pitchFamily="34" charset="-120"/>
              </a:rPr>
              <a:t>    X, y, test_size=0.2, random_state=42)</a:t>
            </a:r>
            <a:endParaRPr lang="en-US" sz="900" dirty="0"/>
          </a:p>
          <a:p>
            <a:pPr indent="0" marL="0">
              <a:spcAft>
                <a:spcPts val="200"/>
              </a:spcAft>
              <a:buNone/>
            </a:pPr>
            <a:r>
              <a:rPr lang="en-US" sz="900" dirty="0">
                <a:solidFill>
                  <a:schemeClr val="bg1"/>
                </a:solidFill>
                <a:latin typeface="Courier New" pitchFamily="34" charset="0"/>
                <a:ea typeface="Courier New" pitchFamily="34" charset="-122"/>
                <a:cs typeface="Courier New" pitchFamily="34" charset="-120"/>
              </a:rPr>
              <a:t> </a:t>
            </a:r>
            <a:endParaRPr lang="en-US" sz="900" dirty="0"/>
          </a:p>
          <a:p>
            <a:pPr indent="0" marL="0">
              <a:spcAft>
                <a:spcPts val="200"/>
              </a:spcAft>
              <a:buNone/>
            </a:pPr>
            <a:r>
              <a:rPr lang="en-US" sz="900" dirty="0">
                <a:solidFill>
                  <a:schemeClr val="bg1"/>
                </a:solidFill>
                <a:latin typeface="Courier New" pitchFamily="34" charset="0"/>
                <a:ea typeface="Courier New" pitchFamily="34" charset="-122"/>
                <a:cs typeface="Courier New" pitchFamily="34" charset="-120"/>
              </a:rPr>
              <a:t>reg = LinearRegression().fit(X_tr, y_tr)</a:t>
            </a:r>
            <a:endParaRPr lang="en-US" sz="900" dirty="0"/>
          </a:p>
          <a:p>
            <a:pPr indent="0" marL="0">
              <a:spcAft>
                <a:spcPts val="200"/>
              </a:spcAft>
              <a:buNone/>
            </a:pPr>
            <a:r>
              <a:rPr lang="en-US" sz="900" dirty="0">
                <a:solidFill>
                  <a:schemeClr val="bg1"/>
                </a:solidFill>
                <a:latin typeface="Courier New" pitchFamily="34" charset="0"/>
                <a:ea typeface="Courier New" pitchFamily="34" charset="-122"/>
                <a:cs typeface="Courier New" pitchFamily="34" charset="-120"/>
              </a:rPr>
              <a:t>pred = reg.predict(X_te)</a:t>
            </a:r>
            <a:endParaRPr lang="en-US" sz="900" dirty="0"/>
          </a:p>
        </p:txBody>
      </p:sp>
      <p:sp>
        <p:nvSpPr>
          <p:cNvPr id="10" name="Tarjeta"/>
          <p:cNvSpPr/>
          <p:nvPr/>
        </p:nvSpPr>
        <p:spPr>
          <a:xfrm>
            <a:off x="4846320" y="1234440"/>
            <a:ext cx="1828800" cy="1417320"/>
          </a:xfrm>
          <a:prstGeom prst="roundRect">
            <a:avLst>
              <a:gd name="adj" fmla="val 5161"/>
            </a:avLst>
          </a:prstGeom>
          <a:solidFill>
            <a:schemeClr val="bg2"/>
          </a:solidFill>
          <a:ln w="12700">
            <a:solidFill>
              <a:schemeClr val="bg2"/>
            </a:solidFill>
            <a:prstDash val="solid"/>
          </a:ln>
        </p:spPr>
      </p:sp>
      <p:sp>
        <p:nvSpPr>
          <p:cNvPr id="11" name="Text 9"/>
          <p:cNvSpPr txBox="1"/>
          <p:nvPr/>
        </p:nvSpPr>
        <p:spPr>
          <a:xfrm>
            <a:off x="4846320" y="1307592"/>
            <a:ext cx="1828800" cy="822046"/>
          </a:xfrm>
          <a:prstGeom prst="rect">
            <a:avLst/>
          </a:prstGeom>
          <a:noFill/>
          <a:ln/>
        </p:spPr>
        <p:txBody>
          <a:bodyPr wrap="square" lIns="0" tIns="0" rIns="0" bIns="0" rtlCol="0" anchor="ctr"/>
          <a:lstStyle/>
          <a:p>
            <a:pPr algn="ctr" indent="0" marL="0">
              <a:buNone/>
            </a:pPr>
            <a:r>
              <a:rPr lang="en-US" sz="3200" b="1" dirty="0">
                <a:solidFill>
                  <a:schemeClr val="accent3"/>
                </a:solidFill>
              </a:rPr>
              <a:t>0,70</a:t>
            </a:r>
            <a:endParaRPr lang="en-US" sz="3200" dirty="0"/>
          </a:p>
        </p:txBody>
      </p:sp>
      <p:sp>
        <p:nvSpPr>
          <p:cNvPr id="12" name="Text 10"/>
          <p:cNvSpPr txBox="1"/>
          <p:nvPr/>
        </p:nvSpPr>
        <p:spPr>
          <a:xfrm>
            <a:off x="4937760" y="2113178"/>
            <a:ext cx="1645920" cy="453542"/>
          </a:xfrm>
          <a:prstGeom prst="rect">
            <a:avLst/>
          </a:prstGeom>
          <a:noFill/>
          <a:ln/>
        </p:spPr>
        <p:txBody>
          <a:bodyPr wrap="square" lIns="0" tIns="0" rIns="0" bIns="0" rtlCol="0" anchor="t"/>
          <a:lstStyle/>
          <a:p>
            <a:pPr algn="ctr" indent="0" marL="0">
              <a:buNone/>
            </a:pPr>
            <a:r>
              <a:rPr lang="en-US" sz="1200" dirty="0">
                <a:solidFill>
                  <a:schemeClr val="tx1"/>
                </a:solidFill>
              </a:rPr>
              <a:t>MAE: error medio en puntos</a:t>
            </a:r>
            <a:endParaRPr lang="en-US" sz="1200" dirty="0"/>
          </a:p>
        </p:txBody>
      </p:sp>
      <p:sp>
        <p:nvSpPr>
          <p:cNvPr id="13" name="Tarjeta"/>
          <p:cNvSpPr/>
          <p:nvPr/>
        </p:nvSpPr>
        <p:spPr>
          <a:xfrm>
            <a:off x="6858000" y="1234440"/>
            <a:ext cx="1828800" cy="1417320"/>
          </a:xfrm>
          <a:prstGeom prst="roundRect">
            <a:avLst>
              <a:gd name="adj" fmla="val 5161"/>
            </a:avLst>
          </a:prstGeom>
          <a:solidFill>
            <a:schemeClr val="bg2"/>
          </a:solidFill>
          <a:ln w="12700">
            <a:solidFill>
              <a:schemeClr val="bg2"/>
            </a:solidFill>
            <a:prstDash val="solid"/>
          </a:ln>
        </p:spPr>
      </p:sp>
      <p:sp>
        <p:nvSpPr>
          <p:cNvPr id="14" name="Text 12"/>
          <p:cNvSpPr txBox="1"/>
          <p:nvPr/>
        </p:nvSpPr>
        <p:spPr>
          <a:xfrm>
            <a:off x="6858000" y="1307592"/>
            <a:ext cx="1828800" cy="822046"/>
          </a:xfrm>
          <a:prstGeom prst="rect">
            <a:avLst/>
          </a:prstGeom>
          <a:noFill/>
          <a:ln/>
        </p:spPr>
        <p:txBody>
          <a:bodyPr wrap="square" lIns="0" tIns="0" rIns="0" bIns="0" rtlCol="0" anchor="ctr"/>
          <a:lstStyle/>
          <a:p>
            <a:pPr algn="ctr" indent="0" marL="0">
              <a:buNone/>
            </a:pPr>
            <a:r>
              <a:rPr lang="en-US" sz="3200" b="1" dirty="0">
                <a:solidFill>
                  <a:schemeClr val="accent4"/>
                </a:solidFill>
              </a:rPr>
              <a:t>1,36</a:t>
            </a:r>
            <a:endParaRPr lang="en-US" sz="3200" dirty="0"/>
          </a:p>
        </p:txBody>
      </p:sp>
      <p:sp>
        <p:nvSpPr>
          <p:cNvPr id="15" name="Text 13"/>
          <p:cNvSpPr txBox="1"/>
          <p:nvPr/>
        </p:nvSpPr>
        <p:spPr>
          <a:xfrm>
            <a:off x="6949440" y="2113178"/>
            <a:ext cx="1645920" cy="453542"/>
          </a:xfrm>
          <a:prstGeom prst="rect">
            <a:avLst/>
          </a:prstGeom>
          <a:noFill/>
          <a:ln/>
        </p:spPr>
        <p:txBody>
          <a:bodyPr wrap="square" lIns="0" tIns="0" rIns="0" bIns="0" rtlCol="0" anchor="t"/>
          <a:lstStyle/>
          <a:p>
            <a:pPr algn="ctr" indent="0" marL="0">
              <a:buNone/>
            </a:pPr>
            <a:r>
              <a:rPr lang="en-US" sz="1200" dirty="0">
                <a:solidFill>
                  <a:schemeClr val="tx1"/>
                </a:solidFill>
              </a:rPr>
              <a:t>MAE si se predice siempre el promedio</a:t>
            </a:r>
            <a:endParaRPr lang="en-US" sz="1200" dirty="0"/>
          </a:p>
        </p:txBody>
      </p:sp>
      <p:sp>
        <p:nvSpPr>
          <p:cNvPr id="16" name="Tarjeta"/>
          <p:cNvSpPr/>
          <p:nvPr/>
        </p:nvSpPr>
        <p:spPr>
          <a:xfrm>
            <a:off x="4846320" y="2788920"/>
            <a:ext cx="1828800" cy="1417320"/>
          </a:xfrm>
          <a:prstGeom prst="roundRect">
            <a:avLst>
              <a:gd name="adj" fmla="val 5161"/>
            </a:avLst>
          </a:prstGeom>
          <a:solidFill>
            <a:schemeClr val="bg2"/>
          </a:solidFill>
          <a:ln w="12700">
            <a:solidFill>
              <a:schemeClr val="bg2"/>
            </a:solidFill>
            <a:prstDash val="solid"/>
          </a:ln>
        </p:spPr>
      </p:sp>
      <p:sp>
        <p:nvSpPr>
          <p:cNvPr id="17" name="Text 15"/>
          <p:cNvSpPr txBox="1"/>
          <p:nvPr/>
        </p:nvSpPr>
        <p:spPr>
          <a:xfrm>
            <a:off x="4846320" y="2862072"/>
            <a:ext cx="1828800" cy="822046"/>
          </a:xfrm>
          <a:prstGeom prst="rect">
            <a:avLst/>
          </a:prstGeom>
          <a:noFill/>
          <a:ln/>
        </p:spPr>
        <p:txBody>
          <a:bodyPr wrap="square" lIns="0" tIns="0" rIns="0" bIns="0" rtlCol="0" anchor="ctr"/>
          <a:lstStyle/>
          <a:p>
            <a:pPr algn="ctr" indent="0" marL="0">
              <a:buNone/>
            </a:pPr>
            <a:r>
              <a:rPr lang="en-US" sz="3200" b="1" dirty="0">
                <a:solidFill>
                  <a:schemeClr val="accent2"/>
                </a:solidFill>
              </a:rPr>
              <a:t>0,88</a:t>
            </a:r>
            <a:endParaRPr lang="en-US" sz="3200" dirty="0"/>
          </a:p>
        </p:txBody>
      </p:sp>
      <p:sp>
        <p:nvSpPr>
          <p:cNvPr id="18" name="Text 16"/>
          <p:cNvSpPr txBox="1"/>
          <p:nvPr/>
        </p:nvSpPr>
        <p:spPr>
          <a:xfrm>
            <a:off x="4937760" y="3667658"/>
            <a:ext cx="1645920" cy="453542"/>
          </a:xfrm>
          <a:prstGeom prst="rect">
            <a:avLst/>
          </a:prstGeom>
          <a:noFill/>
          <a:ln/>
        </p:spPr>
        <p:txBody>
          <a:bodyPr wrap="square" lIns="0" tIns="0" rIns="0" bIns="0" rtlCol="0" anchor="t"/>
          <a:lstStyle/>
          <a:p>
            <a:pPr algn="ctr" indent="0" marL="0">
              <a:buNone/>
            </a:pPr>
            <a:r>
              <a:rPr lang="en-US" sz="1200" dirty="0">
                <a:solidFill>
                  <a:schemeClr val="tx1"/>
                </a:solidFill>
              </a:rPr>
              <a:t>RMSE: castiga errores grandes</a:t>
            </a:r>
            <a:endParaRPr lang="en-US" sz="1200" dirty="0"/>
          </a:p>
        </p:txBody>
      </p:sp>
      <p:sp>
        <p:nvSpPr>
          <p:cNvPr id="19" name="Tarjeta"/>
          <p:cNvSpPr/>
          <p:nvPr/>
        </p:nvSpPr>
        <p:spPr>
          <a:xfrm>
            <a:off x="6858000" y="2788920"/>
            <a:ext cx="1828800" cy="1417320"/>
          </a:xfrm>
          <a:prstGeom prst="roundRect">
            <a:avLst>
              <a:gd name="adj" fmla="val 5161"/>
            </a:avLst>
          </a:prstGeom>
          <a:solidFill>
            <a:schemeClr val="bg2"/>
          </a:solidFill>
          <a:ln w="12700">
            <a:solidFill>
              <a:schemeClr val="bg2"/>
            </a:solidFill>
            <a:prstDash val="solid"/>
          </a:ln>
        </p:spPr>
      </p:sp>
      <p:sp>
        <p:nvSpPr>
          <p:cNvPr id="20" name="Text 18"/>
          <p:cNvSpPr txBox="1"/>
          <p:nvPr/>
        </p:nvSpPr>
        <p:spPr>
          <a:xfrm>
            <a:off x="6858000" y="2862072"/>
            <a:ext cx="1828800" cy="822046"/>
          </a:xfrm>
          <a:prstGeom prst="rect">
            <a:avLst/>
          </a:prstGeom>
          <a:noFill/>
          <a:ln/>
        </p:spPr>
        <p:txBody>
          <a:bodyPr wrap="square" lIns="0" tIns="0" rIns="0" bIns="0" rtlCol="0" anchor="ctr"/>
          <a:lstStyle/>
          <a:p>
            <a:pPr algn="ctr" indent="0" marL="0">
              <a:buNone/>
            </a:pPr>
            <a:r>
              <a:rPr lang="en-US" sz="3200" b="1" dirty="0">
                <a:solidFill>
                  <a:schemeClr val="accent2"/>
                </a:solidFill>
              </a:rPr>
              <a:t>0,73</a:t>
            </a:r>
            <a:endParaRPr lang="en-US" sz="3200" dirty="0"/>
          </a:p>
        </p:txBody>
      </p:sp>
      <p:sp>
        <p:nvSpPr>
          <p:cNvPr id="21" name="Text 19"/>
          <p:cNvSpPr txBox="1"/>
          <p:nvPr/>
        </p:nvSpPr>
        <p:spPr>
          <a:xfrm>
            <a:off x="6949440" y="3667658"/>
            <a:ext cx="1645920" cy="453542"/>
          </a:xfrm>
          <a:prstGeom prst="rect">
            <a:avLst/>
          </a:prstGeom>
          <a:noFill/>
          <a:ln/>
        </p:spPr>
        <p:txBody>
          <a:bodyPr wrap="square" lIns="0" tIns="0" rIns="0" bIns="0" rtlCol="0" anchor="t"/>
          <a:lstStyle/>
          <a:p>
            <a:pPr algn="ctr" indent="0" marL="0">
              <a:buNone/>
            </a:pPr>
            <a:r>
              <a:rPr lang="en-US" sz="1200" dirty="0">
                <a:solidFill>
                  <a:schemeClr val="tx1"/>
                </a:solidFill>
              </a:rPr>
              <a:t>R² en datos de prueba</a:t>
            </a:r>
            <a:endParaRPr lang="en-US" sz="1200" dirty="0"/>
          </a:p>
        </p:txBody>
      </p:sp>
      <p:sp>
        <p:nvSpPr>
          <p:cNvPr id="22" name="Text 20"/>
          <p:cNvSpPr txBox="1"/>
          <p:nvPr/>
        </p:nvSpPr>
        <p:spPr>
          <a:xfrm>
            <a:off x="4846320" y="4297680"/>
            <a:ext cx="3840480" cy="320040"/>
          </a:xfrm>
          <a:prstGeom prst="rect">
            <a:avLst/>
          </a:prstGeom>
          <a:noFill/>
          <a:ln/>
        </p:spPr>
        <p:txBody>
          <a:bodyPr wrap="square" lIns="0" tIns="0" rIns="0" bIns="0" rtlCol="0" anchor="ctr"/>
          <a:lstStyle/>
          <a:p>
            <a:pPr indent="0" marL="0">
              <a:buNone/>
            </a:pPr>
            <a:r>
              <a:rPr lang="en-US" sz="1100" i="1" dirty="0">
                <a:solidFill>
                  <a:schemeClr val="tx1"/>
                </a:solidFill>
              </a:rPr>
              <a:t>El modelo reduce el error a la mitad respecto de no usar modelo.</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56032"/>
          </a:xfrm>
          <a:prstGeom prst="rect">
            <a:avLst/>
          </a:prstGeom>
          <a:noFill/>
          <a:ln/>
        </p:spPr>
        <p:txBody>
          <a:bodyPr wrap="square" lIns="0" tIns="0" rIns="0" bIns="0" rtlCol="0"/>
          <a:lstStyle/>
          <a:p>
            <a:pPr indent="0" marL="0">
              <a:buNone/>
            </a:pPr>
            <a:r>
              <a:rPr lang="en-US" sz="1100" b="1" spc="100" kern="0" dirty="0">
                <a:solidFill>
                  <a:schemeClr val="accent3"/>
                </a:solidFill>
              </a:rPr>
              <a:t>RESUMEN DEL MÉTODO</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Cinco pasos para cualquier análisis de regresión</a:t>
            </a:r>
            <a:endParaRPr lang="en-US" sz="2800" dirty="0"/>
          </a:p>
        </p:txBody>
      </p:sp>
      <p:sp>
        <p:nvSpPr>
          <p:cNvPr id="4" name="Círculo número"/>
          <p:cNvSpPr/>
          <p:nvPr/>
        </p:nvSpPr>
        <p:spPr>
          <a:xfrm>
            <a:off x="914400" y="1325880"/>
            <a:ext cx="548640" cy="548640"/>
          </a:xfrm>
          <a:prstGeom prst="ellipse">
            <a:avLst/>
          </a:prstGeom>
          <a:solidFill>
            <a:schemeClr val="accent1"/>
          </a:solidFill>
          <a:ln w="12700">
            <a:solidFill>
              <a:schemeClr val="accent1"/>
            </a:solidFill>
            <a:prstDash val="solid"/>
          </a:ln>
        </p:spPr>
      </p:sp>
      <p:sp>
        <p:nvSpPr>
          <p:cNvPr id="5" name="Text 3"/>
          <p:cNvSpPr txBox="1"/>
          <p:nvPr/>
        </p:nvSpPr>
        <p:spPr>
          <a:xfrm>
            <a:off x="914400" y="1325880"/>
            <a:ext cx="548640" cy="548640"/>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6" name="Flecha"/>
          <p:cNvSpPr/>
          <p:nvPr/>
        </p:nvSpPr>
        <p:spPr>
          <a:xfrm>
            <a:off x="1947672" y="1508760"/>
            <a:ext cx="182880" cy="201168"/>
          </a:xfrm>
          <a:prstGeom prst="rightArrow">
            <a:avLst/>
          </a:prstGeom>
          <a:solidFill>
            <a:schemeClr val="accent6"/>
          </a:solidFill>
          <a:ln w="12700">
            <a:solidFill>
              <a:schemeClr val="accent6"/>
            </a:solidFill>
            <a:prstDash val="solid"/>
          </a:ln>
        </p:spPr>
      </p:sp>
      <p:sp>
        <p:nvSpPr>
          <p:cNvPr id="7" name="Tarjeta"/>
          <p:cNvSpPr/>
          <p:nvPr/>
        </p:nvSpPr>
        <p:spPr>
          <a:xfrm>
            <a:off x="457200" y="2057400"/>
            <a:ext cx="1463040" cy="1325880"/>
          </a:xfrm>
          <a:prstGeom prst="roundRect">
            <a:avLst>
              <a:gd name="adj" fmla="val 5517"/>
            </a:avLst>
          </a:prstGeom>
          <a:solidFill>
            <a:schemeClr val="bg2"/>
          </a:solidFill>
          <a:ln w="12700">
            <a:solidFill>
              <a:schemeClr val="bg2"/>
            </a:solidFill>
            <a:prstDash val="solid"/>
          </a:ln>
        </p:spPr>
      </p:sp>
      <p:sp>
        <p:nvSpPr>
          <p:cNvPr id="8" name="Text 6"/>
          <p:cNvSpPr txBox="1"/>
          <p:nvPr/>
        </p:nvSpPr>
        <p:spPr>
          <a:xfrm>
            <a:off x="530352" y="2148840"/>
            <a:ext cx="1316736" cy="365760"/>
          </a:xfrm>
          <a:prstGeom prst="rect">
            <a:avLst/>
          </a:prstGeom>
          <a:noFill/>
          <a:ln/>
        </p:spPr>
        <p:txBody>
          <a:bodyPr wrap="square" lIns="0" tIns="0" rIns="0" bIns="0" rtlCol="0" anchor="ctr"/>
          <a:lstStyle/>
          <a:p>
            <a:pPr algn="ctr" indent="0" marL="0">
              <a:buNone/>
            </a:pPr>
            <a:r>
              <a:rPr lang="en-US" sz="1500" b="1" dirty="0">
                <a:solidFill>
                  <a:schemeClr val="tx2"/>
                </a:solidFill>
              </a:rPr>
              <a:t>Explorar</a:t>
            </a:r>
            <a:endParaRPr lang="en-US" sz="1500" dirty="0"/>
          </a:p>
        </p:txBody>
      </p:sp>
      <p:sp>
        <p:nvSpPr>
          <p:cNvPr id="9" name="Text 7"/>
          <p:cNvSpPr txBox="1"/>
          <p:nvPr/>
        </p:nvSpPr>
        <p:spPr>
          <a:xfrm>
            <a:off x="530352" y="2560320"/>
            <a:ext cx="1316736" cy="731520"/>
          </a:xfrm>
          <a:prstGeom prst="rect">
            <a:avLst/>
          </a:prstGeom>
          <a:noFill/>
          <a:ln/>
        </p:spPr>
        <p:txBody>
          <a:bodyPr wrap="square" lIns="0" tIns="0" rIns="0" bIns="0" rtlCol="0" anchor="t"/>
          <a:lstStyle/>
          <a:p>
            <a:pPr algn="ctr" indent="0" marL="0">
              <a:buNone/>
            </a:pPr>
            <a:r>
              <a:rPr lang="en-US" sz="1100" dirty="0">
                <a:solidFill>
                  <a:schemeClr val="accent2"/>
                </a:solidFill>
                <a:latin typeface="Courier New" pitchFamily="34" charset="0"/>
                <a:ea typeface="Courier New" pitchFamily="34" charset="-122"/>
                <a:cs typeface="Courier New" pitchFamily="34" charset="-120"/>
              </a:rPr>
              <a:t>corr() y</a:t>
            </a:r>
            <a:endParaRPr lang="en-US" sz="1100" dirty="0"/>
          </a:p>
          <a:p>
            <a:pPr algn="ctr" indent="0" marL="0">
              <a:buNone/>
            </a:pPr>
            <a:r>
              <a:rPr lang="en-US" sz="1100" dirty="0">
                <a:solidFill>
                  <a:schemeClr val="accent2"/>
                </a:solidFill>
                <a:latin typeface="Courier New" pitchFamily="34" charset="0"/>
                <a:ea typeface="Courier New" pitchFamily="34" charset="-122"/>
                <a:cs typeface="Courier New" pitchFamily="34" charset="-120"/>
              </a:rPr>
              <a:t>dispersión</a:t>
            </a:r>
            <a:endParaRPr lang="en-US" sz="1100" dirty="0"/>
          </a:p>
        </p:txBody>
      </p:sp>
      <p:sp>
        <p:nvSpPr>
          <p:cNvPr id="10" name="Círculo número"/>
          <p:cNvSpPr/>
          <p:nvPr/>
        </p:nvSpPr>
        <p:spPr>
          <a:xfrm>
            <a:off x="2606040" y="1325880"/>
            <a:ext cx="548640" cy="548640"/>
          </a:xfrm>
          <a:prstGeom prst="ellipse">
            <a:avLst/>
          </a:prstGeom>
          <a:solidFill>
            <a:schemeClr val="accent1"/>
          </a:solidFill>
          <a:ln w="12700">
            <a:solidFill>
              <a:schemeClr val="accent1"/>
            </a:solidFill>
            <a:prstDash val="solid"/>
          </a:ln>
        </p:spPr>
      </p:sp>
      <p:sp>
        <p:nvSpPr>
          <p:cNvPr id="11" name="Text 9"/>
          <p:cNvSpPr txBox="1"/>
          <p:nvPr/>
        </p:nvSpPr>
        <p:spPr>
          <a:xfrm>
            <a:off x="2606040" y="1325880"/>
            <a:ext cx="548640" cy="548640"/>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12" name="Flecha"/>
          <p:cNvSpPr/>
          <p:nvPr/>
        </p:nvSpPr>
        <p:spPr>
          <a:xfrm>
            <a:off x="3639312" y="1508760"/>
            <a:ext cx="182880" cy="201168"/>
          </a:xfrm>
          <a:prstGeom prst="rightArrow">
            <a:avLst/>
          </a:prstGeom>
          <a:solidFill>
            <a:schemeClr val="accent6"/>
          </a:solidFill>
          <a:ln w="12700">
            <a:solidFill>
              <a:schemeClr val="accent6"/>
            </a:solidFill>
            <a:prstDash val="solid"/>
          </a:ln>
        </p:spPr>
      </p:sp>
      <p:sp>
        <p:nvSpPr>
          <p:cNvPr id="13" name="Tarjeta"/>
          <p:cNvSpPr/>
          <p:nvPr/>
        </p:nvSpPr>
        <p:spPr>
          <a:xfrm>
            <a:off x="2148840" y="2057400"/>
            <a:ext cx="1463040" cy="1325880"/>
          </a:xfrm>
          <a:prstGeom prst="roundRect">
            <a:avLst>
              <a:gd name="adj" fmla="val 5517"/>
            </a:avLst>
          </a:prstGeom>
          <a:solidFill>
            <a:schemeClr val="bg2"/>
          </a:solidFill>
          <a:ln w="12700">
            <a:solidFill>
              <a:schemeClr val="bg2"/>
            </a:solidFill>
            <a:prstDash val="solid"/>
          </a:ln>
        </p:spPr>
      </p:sp>
      <p:sp>
        <p:nvSpPr>
          <p:cNvPr id="14" name="Text 12"/>
          <p:cNvSpPr txBox="1"/>
          <p:nvPr/>
        </p:nvSpPr>
        <p:spPr>
          <a:xfrm>
            <a:off x="2221992" y="2148840"/>
            <a:ext cx="1316736" cy="365760"/>
          </a:xfrm>
          <a:prstGeom prst="rect">
            <a:avLst/>
          </a:prstGeom>
          <a:noFill/>
          <a:ln/>
        </p:spPr>
        <p:txBody>
          <a:bodyPr wrap="square" lIns="0" tIns="0" rIns="0" bIns="0" rtlCol="0" anchor="ctr"/>
          <a:lstStyle/>
          <a:p>
            <a:pPr algn="ctr" indent="0" marL="0">
              <a:buNone/>
            </a:pPr>
            <a:r>
              <a:rPr lang="en-US" sz="1500" b="1" dirty="0">
                <a:solidFill>
                  <a:schemeClr val="tx2"/>
                </a:solidFill>
              </a:rPr>
              <a:t>Ajustar</a:t>
            </a:r>
            <a:endParaRPr lang="en-US" sz="1500" dirty="0"/>
          </a:p>
        </p:txBody>
      </p:sp>
      <p:sp>
        <p:nvSpPr>
          <p:cNvPr id="15" name="Text 13"/>
          <p:cNvSpPr txBox="1"/>
          <p:nvPr/>
        </p:nvSpPr>
        <p:spPr>
          <a:xfrm>
            <a:off x="2221992" y="2560320"/>
            <a:ext cx="1316736" cy="731520"/>
          </a:xfrm>
          <a:prstGeom prst="rect">
            <a:avLst/>
          </a:prstGeom>
          <a:noFill/>
          <a:ln/>
        </p:spPr>
        <p:txBody>
          <a:bodyPr wrap="square" lIns="0" tIns="0" rIns="0" bIns="0" rtlCol="0" anchor="t"/>
          <a:lstStyle/>
          <a:p>
            <a:pPr algn="ctr" indent="0" marL="0">
              <a:buNone/>
            </a:pPr>
            <a:r>
              <a:rPr lang="en-US" sz="1100" dirty="0">
                <a:solidFill>
                  <a:schemeClr val="accent2"/>
                </a:solidFill>
                <a:latin typeface="Courier New" pitchFamily="34" charset="0"/>
                <a:ea typeface="Courier New" pitchFamily="34" charset="-122"/>
                <a:cs typeface="Courier New" pitchFamily="34" charset="-120"/>
              </a:rPr>
              <a:t>smf.ols(</a:t>
            </a:r>
            <a:endParaRPr lang="en-US" sz="1100" dirty="0"/>
          </a:p>
          <a:p>
            <a:pPr algn="ctr" indent="0" marL="0">
              <a:buNone/>
            </a:pPr>
            <a:r>
              <a:rPr lang="en-US" sz="1100" dirty="0">
                <a:solidFill>
                  <a:schemeClr val="accent2"/>
                </a:solidFill>
                <a:latin typeface="Courier New" pitchFamily="34" charset="0"/>
                <a:ea typeface="Courier New" pitchFamily="34" charset="-122"/>
                <a:cs typeface="Courier New" pitchFamily="34" charset="-120"/>
              </a:rPr>
              <a:t>"y ~ x")</a:t>
            </a:r>
            <a:endParaRPr lang="en-US" sz="1100" dirty="0"/>
          </a:p>
        </p:txBody>
      </p:sp>
      <p:sp>
        <p:nvSpPr>
          <p:cNvPr id="16" name="Círculo número"/>
          <p:cNvSpPr/>
          <p:nvPr/>
        </p:nvSpPr>
        <p:spPr>
          <a:xfrm>
            <a:off x="4297680" y="1325880"/>
            <a:ext cx="548640" cy="548640"/>
          </a:xfrm>
          <a:prstGeom prst="ellipse">
            <a:avLst/>
          </a:prstGeom>
          <a:solidFill>
            <a:schemeClr val="accent1"/>
          </a:solidFill>
          <a:ln w="12700">
            <a:solidFill>
              <a:schemeClr val="accent1"/>
            </a:solidFill>
            <a:prstDash val="solid"/>
          </a:ln>
        </p:spPr>
      </p:sp>
      <p:sp>
        <p:nvSpPr>
          <p:cNvPr id="17" name="Text 15"/>
          <p:cNvSpPr txBox="1"/>
          <p:nvPr/>
        </p:nvSpPr>
        <p:spPr>
          <a:xfrm>
            <a:off x="4297680" y="1325880"/>
            <a:ext cx="548640" cy="548640"/>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8" name="Flecha"/>
          <p:cNvSpPr/>
          <p:nvPr/>
        </p:nvSpPr>
        <p:spPr>
          <a:xfrm>
            <a:off x="5330952" y="1508760"/>
            <a:ext cx="182880" cy="201168"/>
          </a:xfrm>
          <a:prstGeom prst="rightArrow">
            <a:avLst/>
          </a:prstGeom>
          <a:solidFill>
            <a:schemeClr val="accent6"/>
          </a:solidFill>
          <a:ln w="12700">
            <a:solidFill>
              <a:schemeClr val="accent6"/>
            </a:solidFill>
            <a:prstDash val="solid"/>
          </a:ln>
        </p:spPr>
      </p:sp>
      <p:sp>
        <p:nvSpPr>
          <p:cNvPr id="19" name="Tarjeta"/>
          <p:cNvSpPr/>
          <p:nvPr/>
        </p:nvSpPr>
        <p:spPr>
          <a:xfrm>
            <a:off x="3840480" y="2057400"/>
            <a:ext cx="1463040" cy="1325880"/>
          </a:xfrm>
          <a:prstGeom prst="roundRect">
            <a:avLst>
              <a:gd name="adj" fmla="val 5517"/>
            </a:avLst>
          </a:prstGeom>
          <a:solidFill>
            <a:schemeClr val="bg2"/>
          </a:solidFill>
          <a:ln w="12700">
            <a:solidFill>
              <a:schemeClr val="bg2"/>
            </a:solidFill>
            <a:prstDash val="solid"/>
          </a:ln>
        </p:spPr>
      </p:sp>
      <p:sp>
        <p:nvSpPr>
          <p:cNvPr id="20" name="Text 18"/>
          <p:cNvSpPr txBox="1"/>
          <p:nvPr/>
        </p:nvSpPr>
        <p:spPr>
          <a:xfrm>
            <a:off x="3913632" y="2148840"/>
            <a:ext cx="1316736" cy="365760"/>
          </a:xfrm>
          <a:prstGeom prst="rect">
            <a:avLst/>
          </a:prstGeom>
          <a:noFill/>
          <a:ln/>
        </p:spPr>
        <p:txBody>
          <a:bodyPr wrap="square" lIns="0" tIns="0" rIns="0" bIns="0" rtlCol="0" anchor="ctr"/>
          <a:lstStyle/>
          <a:p>
            <a:pPr algn="ctr" indent="0" marL="0">
              <a:buNone/>
            </a:pPr>
            <a:r>
              <a:rPr lang="en-US" sz="1500" b="1" dirty="0">
                <a:solidFill>
                  <a:schemeClr val="tx2"/>
                </a:solidFill>
              </a:rPr>
              <a:t>Interpretar</a:t>
            </a:r>
            <a:endParaRPr lang="en-US" sz="1500" dirty="0"/>
          </a:p>
        </p:txBody>
      </p:sp>
      <p:sp>
        <p:nvSpPr>
          <p:cNvPr id="21" name="Text 19"/>
          <p:cNvSpPr txBox="1"/>
          <p:nvPr/>
        </p:nvSpPr>
        <p:spPr>
          <a:xfrm>
            <a:off x="3913632" y="2560320"/>
            <a:ext cx="1316736" cy="731520"/>
          </a:xfrm>
          <a:prstGeom prst="rect">
            <a:avLst/>
          </a:prstGeom>
          <a:noFill/>
          <a:ln/>
        </p:spPr>
        <p:txBody>
          <a:bodyPr wrap="square" lIns="0" tIns="0" rIns="0" bIns="0" rtlCol="0" anchor="t"/>
          <a:lstStyle/>
          <a:p>
            <a:pPr algn="ctr" indent="0" marL="0">
              <a:buNone/>
            </a:pPr>
            <a:r>
              <a:rPr lang="en-US" sz="1100" dirty="0">
                <a:solidFill>
                  <a:schemeClr val="accent2"/>
                </a:solidFill>
                <a:latin typeface="Courier New" pitchFamily="34" charset="0"/>
                <a:ea typeface="Courier New" pitchFamily="34" charset="-122"/>
                <a:cs typeface="Courier New" pitchFamily="34" charset="-120"/>
              </a:rPr>
              <a:t>coef., p-valor</a:t>
            </a:r>
            <a:endParaRPr lang="en-US" sz="1100" dirty="0"/>
          </a:p>
          <a:p>
            <a:pPr algn="ctr" indent="0" marL="0">
              <a:buNone/>
            </a:pPr>
            <a:r>
              <a:rPr lang="en-US" sz="1100" dirty="0">
                <a:solidFill>
                  <a:schemeClr val="accent2"/>
                </a:solidFill>
                <a:latin typeface="Courier New" pitchFamily="34" charset="0"/>
                <a:ea typeface="Courier New" pitchFamily="34" charset="-122"/>
                <a:cs typeface="Courier New" pitchFamily="34" charset="-120"/>
              </a:rPr>
              <a:t>y R²</a:t>
            </a:r>
            <a:endParaRPr lang="en-US" sz="1100" dirty="0"/>
          </a:p>
        </p:txBody>
      </p:sp>
      <p:sp>
        <p:nvSpPr>
          <p:cNvPr id="22" name="Círculo número"/>
          <p:cNvSpPr/>
          <p:nvPr/>
        </p:nvSpPr>
        <p:spPr>
          <a:xfrm>
            <a:off x="5989320" y="1325880"/>
            <a:ext cx="548640" cy="548640"/>
          </a:xfrm>
          <a:prstGeom prst="ellipse">
            <a:avLst/>
          </a:prstGeom>
          <a:solidFill>
            <a:schemeClr val="accent1"/>
          </a:solidFill>
          <a:ln w="12700">
            <a:solidFill>
              <a:schemeClr val="accent1"/>
            </a:solidFill>
            <a:prstDash val="solid"/>
          </a:ln>
        </p:spPr>
      </p:sp>
      <p:sp>
        <p:nvSpPr>
          <p:cNvPr id="23" name="Text 21"/>
          <p:cNvSpPr txBox="1"/>
          <p:nvPr/>
        </p:nvSpPr>
        <p:spPr>
          <a:xfrm>
            <a:off x="5989320" y="1325880"/>
            <a:ext cx="548640" cy="548640"/>
          </a:xfrm>
          <a:prstGeom prst="rect">
            <a:avLst/>
          </a:prstGeom>
          <a:no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24" name="Flecha"/>
          <p:cNvSpPr/>
          <p:nvPr/>
        </p:nvSpPr>
        <p:spPr>
          <a:xfrm>
            <a:off x="7022592" y="1508760"/>
            <a:ext cx="182880" cy="201168"/>
          </a:xfrm>
          <a:prstGeom prst="rightArrow">
            <a:avLst/>
          </a:prstGeom>
          <a:solidFill>
            <a:schemeClr val="accent6"/>
          </a:solidFill>
          <a:ln w="12700">
            <a:solidFill>
              <a:schemeClr val="accent6"/>
            </a:solidFill>
            <a:prstDash val="solid"/>
          </a:ln>
        </p:spPr>
      </p:sp>
      <p:sp>
        <p:nvSpPr>
          <p:cNvPr id="25" name="Tarjeta"/>
          <p:cNvSpPr/>
          <p:nvPr/>
        </p:nvSpPr>
        <p:spPr>
          <a:xfrm>
            <a:off x="5532120" y="2057400"/>
            <a:ext cx="1463040" cy="1325880"/>
          </a:xfrm>
          <a:prstGeom prst="roundRect">
            <a:avLst>
              <a:gd name="adj" fmla="val 5517"/>
            </a:avLst>
          </a:prstGeom>
          <a:solidFill>
            <a:schemeClr val="bg2"/>
          </a:solidFill>
          <a:ln w="12700">
            <a:solidFill>
              <a:schemeClr val="bg2"/>
            </a:solidFill>
            <a:prstDash val="solid"/>
          </a:ln>
        </p:spPr>
      </p:sp>
      <p:sp>
        <p:nvSpPr>
          <p:cNvPr id="26" name="Text 24"/>
          <p:cNvSpPr txBox="1"/>
          <p:nvPr/>
        </p:nvSpPr>
        <p:spPr>
          <a:xfrm>
            <a:off x="5605272" y="2148840"/>
            <a:ext cx="1316736" cy="365760"/>
          </a:xfrm>
          <a:prstGeom prst="rect">
            <a:avLst/>
          </a:prstGeom>
          <a:noFill/>
          <a:ln/>
        </p:spPr>
        <p:txBody>
          <a:bodyPr wrap="square" lIns="0" tIns="0" rIns="0" bIns="0" rtlCol="0" anchor="ctr"/>
          <a:lstStyle/>
          <a:p>
            <a:pPr algn="ctr" indent="0" marL="0">
              <a:buNone/>
            </a:pPr>
            <a:r>
              <a:rPr lang="en-US" sz="1500" b="1" dirty="0">
                <a:solidFill>
                  <a:schemeClr val="tx2"/>
                </a:solidFill>
              </a:rPr>
              <a:t>Diagnosticar</a:t>
            </a:r>
            <a:endParaRPr lang="en-US" sz="1500" dirty="0"/>
          </a:p>
        </p:txBody>
      </p:sp>
      <p:sp>
        <p:nvSpPr>
          <p:cNvPr id="27" name="Text 25"/>
          <p:cNvSpPr txBox="1"/>
          <p:nvPr/>
        </p:nvSpPr>
        <p:spPr>
          <a:xfrm>
            <a:off x="5605272" y="2560320"/>
            <a:ext cx="1316736" cy="731520"/>
          </a:xfrm>
          <a:prstGeom prst="rect">
            <a:avLst/>
          </a:prstGeom>
          <a:noFill/>
          <a:ln/>
        </p:spPr>
        <p:txBody>
          <a:bodyPr wrap="square" lIns="0" tIns="0" rIns="0" bIns="0" rtlCol="0" anchor="t"/>
          <a:lstStyle/>
          <a:p>
            <a:pPr algn="ctr" indent="0" marL="0">
              <a:buNone/>
            </a:pPr>
            <a:r>
              <a:rPr lang="en-US" sz="1100" dirty="0">
                <a:solidFill>
                  <a:schemeClr val="accent2"/>
                </a:solidFill>
                <a:latin typeface="Courier New" pitchFamily="34" charset="0"/>
                <a:ea typeface="Courier New" pitchFamily="34" charset="-122"/>
                <a:cs typeface="Courier New" pitchFamily="34" charset="-120"/>
              </a:rPr>
              <a:t>residuos</a:t>
            </a:r>
            <a:endParaRPr lang="en-US" sz="1100" dirty="0"/>
          </a:p>
          <a:p>
            <a:pPr algn="ctr" indent="0" marL="0">
              <a:buNone/>
            </a:pPr>
            <a:r>
              <a:rPr lang="en-US" sz="1100" dirty="0">
                <a:solidFill>
                  <a:schemeClr val="accent2"/>
                </a:solidFill>
                <a:latin typeface="Courier New" pitchFamily="34" charset="0"/>
                <a:ea typeface="Courier New" pitchFamily="34" charset="-122"/>
                <a:cs typeface="Courier New" pitchFamily="34" charset="-120"/>
              </a:rPr>
              <a:t>y VIF</a:t>
            </a:r>
            <a:endParaRPr lang="en-US" sz="1100" dirty="0"/>
          </a:p>
        </p:txBody>
      </p:sp>
      <p:sp>
        <p:nvSpPr>
          <p:cNvPr id="28" name="Círculo número"/>
          <p:cNvSpPr/>
          <p:nvPr/>
        </p:nvSpPr>
        <p:spPr>
          <a:xfrm>
            <a:off x="7680960" y="1325880"/>
            <a:ext cx="548640" cy="548640"/>
          </a:xfrm>
          <a:prstGeom prst="ellipse">
            <a:avLst/>
          </a:prstGeom>
          <a:solidFill>
            <a:schemeClr val="accent3"/>
          </a:solidFill>
          <a:ln w="12700">
            <a:solidFill>
              <a:schemeClr val="accent3"/>
            </a:solidFill>
            <a:prstDash val="solid"/>
          </a:ln>
        </p:spPr>
      </p:sp>
      <p:sp>
        <p:nvSpPr>
          <p:cNvPr id="29" name="Text 27"/>
          <p:cNvSpPr txBox="1"/>
          <p:nvPr/>
        </p:nvSpPr>
        <p:spPr>
          <a:xfrm>
            <a:off x="7680960" y="132588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0" name="Tarjeta"/>
          <p:cNvSpPr/>
          <p:nvPr/>
        </p:nvSpPr>
        <p:spPr>
          <a:xfrm>
            <a:off x="7223760" y="2057400"/>
            <a:ext cx="1463040" cy="1325880"/>
          </a:xfrm>
          <a:prstGeom prst="roundRect">
            <a:avLst>
              <a:gd name="adj" fmla="val 5517"/>
            </a:avLst>
          </a:prstGeom>
          <a:solidFill>
            <a:schemeClr val="bg2"/>
          </a:solidFill>
          <a:ln w="12700">
            <a:solidFill>
              <a:schemeClr val="bg2"/>
            </a:solidFill>
            <a:prstDash val="solid"/>
          </a:ln>
        </p:spPr>
      </p:sp>
      <p:sp>
        <p:nvSpPr>
          <p:cNvPr id="31" name="Text 29"/>
          <p:cNvSpPr txBox="1"/>
          <p:nvPr/>
        </p:nvSpPr>
        <p:spPr>
          <a:xfrm>
            <a:off x="7296912" y="2148840"/>
            <a:ext cx="1316736" cy="365760"/>
          </a:xfrm>
          <a:prstGeom prst="rect">
            <a:avLst/>
          </a:prstGeom>
          <a:noFill/>
          <a:ln/>
        </p:spPr>
        <p:txBody>
          <a:bodyPr wrap="square" lIns="0" tIns="0" rIns="0" bIns="0" rtlCol="0" anchor="ctr"/>
          <a:lstStyle/>
          <a:p>
            <a:pPr algn="ctr" indent="0" marL="0">
              <a:buNone/>
            </a:pPr>
            <a:r>
              <a:rPr lang="en-US" sz="1500" b="1" dirty="0">
                <a:solidFill>
                  <a:schemeClr val="tx2"/>
                </a:solidFill>
              </a:rPr>
              <a:t>Evaluar</a:t>
            </a:r>
            <a:endParaRPr lang="en-US" sz="1500" dirty="0"/>
          </a:p>
        </p:txBody>
      </p:sp>
      <p:sp>
        <p:nvSpPr>
          <p:cNvPr id="32" name="Text 30"/>
          <p:cNvSpPr txBox="1"/>
          <p:nvPr/>
        </p:nvSpPr>
        <p:spPr>
          <a:xfrm>
            <a:off x="7296912" y="2560320"/>
            <a:ext cx="1316736" cy="731520"/>
          </a:xfrm>
          <a:prstGeom prst="rect">
            <a:avLst/>
          </a:prstGeom>
          <a:noFill/>
          <a:ln/>
        </p:spPr>
        <p:txBody>
          <a:bodyPr wrap="square" lIns="0" tIns="0" rIns="0" bIns="0" rtlCol="0" anchor="t"/>
          <a:lstStyle/>
          <a:p>
            <a:pPr algn="ctr" indent="0" marL="0">
              <a:buNone/>
            </a:pPr>
            <a:r>
              <a:rPr lang="en-US" sz="1100" dirty="0">
                <a:solidFill>
                  <a:schemeClr val="accent2"/>
                </a:solidFill>
                <a:latin typeface="Courier New" pitchFamily="34" charset="0"/>
                <a:ea typeface="Courier New" pitchFamily="34" charset="-122"/>
                <a:cs typeface="Courier New" pitchFamily="34" charset="-120"/>
              </a:rPr>
              <a:t>train/test</a:t>
            </a:r>
            <a:endParaRPr lang="en-US" sz="1100" dirty="0"/>
          </a:p>
          <a:p>
            <a:pPr algn="ctr" indent="0" marL="0">
              <a:buNone/>
            </a:pPr>
            <a:r>
              <a:rPr lang="en-US" sz="1100" dirty="0">
                <a:solidFill>
                  <a:schemeClr val="accent2"/>
                </a:solidFill>
                <a:latin typeface="Courier New" pitchFamily="34" charset="0"/>
                <a:ea typeface="Courier New" pitchFamily="34" charset="-122"/>
                <a:cs typeface="Courier New" pitchFamily="34" charset="-120"/>
              </a:rPr>
              <a:t>MAE, RMSE</a:t>
            </a:r>
            <a:endParaRPr lang="en-US" sz="1100" dirty="0"/>
          </a:p>
        </p:txBody>
      </p:sp>
      <p:sp>
        <p:nvSpPr>
          <p:cNvPr id="33" name="Text 31"/>
          <p:cNvSpPr txBox="1"/>
          <p:nvPr/>
        </p:nvSpPr>
        <p:spPr>
          <a:xfrm>
            <a:off x="457200" y="3611880"/>
            <a:ext cx="8229600" cy="640080"/>
          </a:xfrm>
          <a:prstGeom prst="rect">
            <a:avLst/>
          </a:prstGeom>
          <a:noFill/>
          <a:ln/>
        </p:spPr>
        <p:txBody>
          <a:bodyPr wrap="square" lIns="0" tIns="0" rIns="0" bIns="0" rtlCol="0" anchor="t"/>
          <a:lstStyle/>
          <a:p>
            <a:pPr indent="0" marL="0">
              <a:buNone/>
            </a:pPr>
            <a:r>
              <a:rPr lang="en-US" sz="1400" b="1" dirty="0">
                <a:solidFill>
                  <a:schemeClr val="accent3"/>
                </a:solidFill>
              </a:rPr>
              <a:t>Antes de todo: </a:t>
            </a:r>
            <a:pPr indent="0" marL="0">
              <a:buNone/>
            </a:pPr>
            <a:r>
              <a:rPr lang="en-US" sz="1400" dirty="0">
                <a:solidFill>
                  <a:schemeClr val="tx1"/>
                </a:solidFill>
              </a:rPr>
              <a:t>datos limpios y faltantes tratados (unidades 1 a 5). Un modelo nunca es mejor que los datos que recibe.</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56032"/>
          </a:xfrm>
          <a:prstGeom prst="rect">
            <a:avLst/>
          </a:prstGeom>
          <a:noFill/>
          <a:ln/>
        </p:spPr>
        <p:txBody>
          <a:bodyPr wrap="square" lIns="0" tIns="0" rIns="0" bIns="0" rtlCol="0"/>
          <a:lstStyle/>
          <a:p>
            <a:pPr indent="0" marL="0">
              <a:buNone/>
            </a:pPr>
            <a:r>
              <a:rPr lang="en-US" sz="1100" b="1" spc="100" kern="0" dirty="0">
                <a:solidFill>
                  <a:schemeClr val="accent3"/>
                </a:solidFill>
              </a:rPr>
              <a:t>EJERCICIOS GUIADOS · ejercicios_parte3.py</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Cinco ejercicios, cada uno con su guía paso a paso</a:t>
            </a:r>
            <a:endParaRPr lang="en-US" sz="2800" dirty="0"/>
          </a:p>
        </p:txBody>
      </p:sp>
      <p:sp>
        <p:nvSpPr>
          <p:cNvPr id="4" name="Tarjeta"/>
          <p:cNvSpPr/>
          <p:nvPr/>
        </p:nvSpPr>
        <p:spPr>
          <a:xfrm>
            <a:off x="457200" y="1234440"/>
            <a:ext cx="8229600" cy="548640"/>
          </a:xfrm>
          <a:prstGeom prst="roundRect">
            <a:avLst>
              <a:gd name="adj" fmla="val 13333"/>
            </a:avLst>
          </a:prstGeom>
          <a:solidFill>
            <a:schemeClr val="bg2"/>
          </a:solidFill>
          <a:ln w="12700">
            <a:solidFill>
              <a:schemeClr val="bg2"/>
            </a:solidFill>
            <a:prstDash val="solid"/>
          </a:ln>
        </p:spPr>
      </p:sp>
      <p:sp>
        <p:nvSpPr>
          <p:cNvPr id="5" name="Círculo número"/>
          <p:cNvSpPr/>
          <p:nvPr/>
        </p:nvSpPr>
        <p:spPr>
          <a:xfrm>
            <a:off x="566928" y="1307592"/>
            <a:ext cx="402336" cy="402336"/>
          </a:xfrm>
          <a:prstGeom prst="ellipse">
            <a:avLst/>
          </a:prstGeom>
          <a:solidFill>
            <a:schemeClr val="accent1"/>
          </a:solidFill>
          <a:ln w="12700">
            <a:solidFill>
              <a:schemeClr val="accent1"/>
            </a:solidFill>
            <a:prstDash val="solid"/>
          </a:ln>
        </p:spPr>
      </p:sp>
      <p:sp>
        <p:nvSpPr>
          <p:cNvPr id="6" name="Text 4"/>
          <p:cNvSpPr txBox="1"/>
          <p:nvPr/>
        </p:nvSpPr>
        <p:spPr>
          <a:xfrm>
            <a:off x="566928" y="1307592"/>
            <a:ext cx="402336" cy="402336"/>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7" name="Text 5"/>
          <p:cNvSpPr txBox="1"/>
          <p:nvPr/>
        </p:nvSpPr>
        <p:spPr>
          <a:xfrm>
            <a:off x="1143000" y="1234440"/>
            <a:ext cx="3017520" cy="548640"/>
          </a:xfrm>
          <a:prstGeom prst="rect">
            <a:avLst/>
          </a:prstGeom>
          <a:noFill/>
          <a:ln/>
        </p:spPr>
        <p:txBody>
          <a:bodyPr wrap="square" lIns="0" tIns="0" rIns="0" bIns="0" rtlCol="0" anchor="ctr"/>
          <a:lstStyle/>
          <a:p>
            <a:pPr indent="0" marL="0">
              <a:buNone/>
            </a:pPr>
            <a:r>
              <a:rPr lang="en-US" sz="1500" b="1" dirty="0">
                <a:solidFill>
                  <a:schemeClr val="tx2"/>
                </a:solidFill>
              </a:rPr>
              <a:t>Correlación</a:t>
            </a:r>
            <a:endParaRPr lang="en-US" sz="1500" dirty="0"/>
          </a:p>
        </p:txBody>
      </p:sp>
      <p:sp>
        <p:nvSpPr>
          <p:cNvPr id="8" name="Text 6"/>
          <p:cNvSpPr txBox="1"/>
          <p:nvPr/>
        </p:nvSpPr>
        <p:spPr>
          <a:xfrm>
            <a:off x="4206240" y="1234440"/>
            <a:ext cx="3017520" cy="548640"/>
          </a:xfrm>
          <a:prstGeom prst="rect">
            <a:avLst/>
          </a:prstGeom>
          <a:noFill/>
          <a:ln/>
        </p:spPr>
        <p:txBody>
          <a:bodyPr wrap="square" lIns="0" tIns="0" rIns="0" bIns="0" rtlCol="0" anchor="ctr"/>
          <a:lstStyle/>
          <a:p>
            <a:pPr indent="0" marL="0">
              <a:buNone/>
            </a:pPr>
            <a:r>
              <a:rPr lang="en-US" sz="1300" dirty="0">
                <a:solidFill>
                  <a:schemeClr val="accent2"/>
                </a:solidFill>
                <a:latin typeface="Courier New" pitchFamily="34" charset="0"/>
                <a:ea typeface="Courier New" pitchFamily="34" charset="-122"/>
                <a:cs typeface="Courier New" pitchFamily="34" charset="-120"/>
              </a:rPr>
              <a:t>asistencia vs nota_final</a:t>
            </a:r>
            <a:endParaRPr lang="en-US" sz="1300" dirty="0"/>
          </a:p>
        </p:txBody>
      </p:sp>
      <p:sp>
        <p:nvSpPr>
          <p:cNvPr id="9" name="Text 7"/>
          <p:cNvSpPr txBox="1"/>
          <p:nvPr/>
        </p:nvSpPr>
        <p:spPr>
          <a:xfrm>
            <a:off x="7315200" y="1234440"/>
            <a:ext cx="1280160" cy="548640"/>
          </a:xfrm>
          <a:prstGeom prst="rect">
            <a:avLst/>
          </a:prstGeom>
          <a:noFill/>
          <a:ln/>
        </p:spPr>
        <p:txBody>
          <a:bodyPr wrap="square" lIns="0" tIns="0" rIns="0" bIns="0" rtlCol="0" anchor="ctr"/>
          <a:lstStyle/>
          <a:p>
            <a:pPr indent="0" marL="0">
              <a:buNone/>
            </a:pPr>
            <a:r>
              <a:rPr lang="en-US" sz="1100" dirty="0">
                <a:solidFill>
                  <a:schemeClr val="accent6"/>
                </a:solidFill>
              </a:rPr>
              <a:t>Paso 1</a:t>
            </a:r>
            <a:endParaRPr lang="en-US" sz="1100" dirty="0"/>
          </a:p>
        </p:txBody>
      </p:sp>
      <p:sp>
        <p:nvSpPr>
          <p:cNvPr id="10" name="Tarjeta"/>
          <p:cNvSpPr/>
          <p:nvPr/>
        </p:nvSpPr>
        <p:spPr>
          <a:xfrm>
            <a:off x="457200" y="1901952"/>
            <a:ext cx="8229600" cy="548640"/>
          </a:xfrm>
          <a:prstGeom prst="roundRect">
            <a:avLst>
              <a:gd name="adj" fmla="val 13333"/>
            </a:avLst>
          </a:prstGeom>
          <a:solidFill>
            <a:schemeClr val="bg2"/>
          </a:solidFill>
          <a:ln w="12700">
            <a:solidFill>
              <a:schemeClr val="bg2"/>
            </a:solidFill>
            <a:prstDash val="solid"/>
          </a:ln>
        </p:spPr>
      </p:sp>
      <p:sp>
        <p:nvSpPr>
          <p:cNvPr id="11" name="Círculo número"/>
          <p:cNvSpPr/>
          <p:nvPr/>
        </p:nvSpPr>
        <p:spPr>
          <a:xfrm>
            <a:off x="566928" y="1975104"/>
            <a:ext cx="402336" cy="402336"/>
          </a:xfrm>
          <a:prstGeom prst="ellipse">
            <a:avLst/>
          </a:prstGeom>
          <a:solidFill>
            <a:schemeClr val="accent1"/>
          </a:solidFill>
          <a:ln w="12700">
            <a:solidFill>
              <a:schemeClr val="accent1"/>
            </a:solidFill>
            <a:prstDash val="solid"/>
          </a:ln>
        </p:spPr>
      </p:sp>
      <p:sp>
        <p:nvSpPr>
          <p:cNvPr id="12" name="Text 10"/>
          <p:cNvSpPr txBox="1"/>
          <p:nvPr/>
        </p:nvSpPr>
        <p:spPr>
          <a:xfrm>
            <a:off x="566928" y="1975104"/>
            <a:ext cx="402336" cy="402336"/>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13" name="Text 11"/>
          <p:cNvSpPr txBox="1"/>
          <p:nvPr/>
        </p:nvSpPr>
        <p:spPr>
          <a:xfrm>
            <a:off x="1143000" y="1901952"/>
            <a:ext cx="3017520" cy="548640"/>
          </a:xfrm>
          <a:prstGeom prst="rect">
            <a:avLst/>
          </a:prstGeom>
          <a:noFill/>
          <a:ln/>
        </p:spPr>
        <p:txBody>
          <a:bodyPr wrap="square" lIns="0" tIns="0" rIns="0" bIns="0" rtlCol="0" anchor="ctr"/>
          <a:lstStyle/>
          <a:p>
            <a:pPr indent="0" marL="0">
              <a:buNone/>
            </a:pPr>
            <a:r>
              <a:rPr lang="en-US" sz="1500" b="1" dirty="0">
                <a:solidFill>
                  <a:schemeClr val="tx2"/>
                </a:solidFill>
              </a:rPr>
              <a:t>Regresión simple</a:t>
            </a:r>
            <a:endParaRPr lang="en-US" sz="1500" dirty="0"/>
          </a:p>
        </p:txBody>
      </p:sp>
      <p:sp>
        <p:nvSpPr>
          <p:cNvPr id="14" name="Text 12"/>
          <p:cNvSpPr txBox="1"/>
          <p:nvPr/>
        </p:nvSpPr>
        <p:spPr>
          <a:xfrm>
            <a:off x="4206240" y="1901952"/>
            <a:ext cx="3017520" cy="548640"/>
          </a:xfrm>
          <a:prstGeom prst="rect">
            <a:avLst/>
          </a:prstGeom>
          <a:noFill/>
          <a:ln/>
        </p:spPr>
        <p:txBody>
          <a:bodyPr wrap="square" lIns="0" tIns="0" rIns="0" bIns="0" rtlCol="0" anchor="ctr"/>
          <a:lstStyle/>
          <a:p>
            <a:pPr indent="0" marL="0">
              <a:buNone/>
            </a:pPr>
            <a:r>
              <a:rPr lang="en-US" sz="1300" dirty="0">
                <a:solidFill>
                  <a:schemeClr val="accent2"/>
                </a:solidFill>
                <a:latin typeface="Courier New" pitchFamily="34" charset="0"/>
                <a:ea typeface="Courier New" pitchFamily="34" charset="-122"/>
                <a:cs typeface="Courier New" pitchFamily="34" charset="-120"/>
              </a:rPr>
              <a:t>nota_final ~ asistencia</a:t>
            </a:r>
            <a:endParaRPr lang="en-US" sz="1300" dirty="0"/>
          </a:p>
        </p:txBody>
      </p:sp>
      <p:sp>
        <p:nvSpPr>
          <p:cNvPr id="15" name="Text 13"/>
          <p:cNvSpPr txBox="1"/>
          <p:nvPr/>
        </p:nvSpPr>
        <p:spPr>
          <a:xfrm>
            <a:off x="7315200" y="1901952"/>
            <a:ext cx="1280160" cy="548640"/>
          </a:xfrm>
          <a:prstGeom prst="rect">
            <a:avLst/>
          </a:prstGeom>
          <a:noFill/>
          <a:ln/>
        </p:spPr>
        <p:txBody>
          <a:bodyPr wrap="square" lIns="0" tIns="0" rIns="0" bIns="0" rtlCol="0" anchor="ctr"/>
          <a:lstStyle/>
          <a:p>
            <a:pPr indent="0" marL="0">
              <a:buNone/>
            </a:pPr>
            <a:r>
              <a:rPr lang="en-US" sz="1100" dirty="0">
                <a:solidFill>
                  <a:schemeClr val="accent6"/>
                </a:solidFill>
              </a:rPr>
              <a:t>Paso 2</a:t>
            </a:r>
            <a:endParaRPr lang="en-US" sz="1100" dirty="0"/>
          </a:p>
        </p:txBody>
      </p:sp>
      <p:sp>
        <p:nvSpPr>
          <p:cNvPr id="16" name="Tarjeta"/>
          <p:cNvSpPr/>
          <p:nvPr/>
        </p:nvSpPr>
        <p:spPr>
          <a:xfrm>
            <a:off x="457200" y="2569464"/>
            <a:ext cx="8229600" cy="548640"/>
          </a:xfrm>
          <a:prstGeom prst="roundRect">
            <a:avLst>
              <a:gd name="adj" fmla="val 13333"/>
            </a:avLst>
          </a:prstGeom>
          <a:solidFill>
            <a:schemeClr val="bg2"/>
          </a:solidFill>
          <a:ln w="12700">
            <a:solidFill>
              <a:schemeClr val="bg2"/>
            </a:solidFill>
            <a:prstDash val="solid"/>
          </a:ln>
        </p:spPr>
      </p:sp>
      <p:sp>
        <p:nvSpPr>
          <p:cNvPr id="17" name="Círculo número"/>
          <p:cNvSpPr/>
          <p:nvPr/>
        </p:nvSpPr>
        <p:spPr>
          <a:xfrm>
            <a:off x="566928" y="2642616"/>
            <a:ext cx="402336" cy="402336"/>
          </a:xfrm>
          <a:prstGeom prst="ellipse">
            <a:avLst/>
          </a:prstGeom>
          <a:solidFill>
            <a:schemeClr val="accent1"/>
          </a:solidFill>
          <a:ln w="12700">
            <a:solidFill>
              <a:schemeClr val="accent1"/>
            </a:solidFill>
            <a:prstDash val="solid"/>
          </a:ln>
        </p:spPr>
      </p:sp>
      <p:sp>
        <p:nvSpPr>
          <p:cNvPr id="18" name="Text 16"/>
          <p:cNvSpPr txBox="1"/>
          <p:nvPr/>
        </p:nvSpPr>
        <p:spPr>
          <a:xfrm>
            <a:off x="566928" y="2642616"/>
            <a:ext cx="402336" cy="402336"/>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9" name="Text 17"/>
          <p:cNvSpPr txBox="1"/>
          <p:nvPr/>
        </p:nvSpPr>
        <p:spPr>
          <a:xfrm>
            <a:off x="1143000" y="2569464"/>
            <a:ext cx="3017520" cy="548640"/>
          </a:xfrm>
          <a:prstGeom prst="rect">
            <a:avLst/>
          </a:prstGeom>
          <a:noFill/>
          <a:ln/>
        </p:spPr>
        <p:txBody>
          <a:bodyPr wrap="square" lIns="0" tIns="0" rIns="0" bIns="0" rtlCol="0" anchor="ctr"/>
          <a:lstStyle/>
          <a:p>
            <a:pPr indent="0" marL="0">
              <a:buNone/>
            </a:pPr>
            <a:r>
              <a:rPr lang="en-US" sz="1500" b="1" dirty="0">
                <a:solidFill>
                  <a:schemeClr val="tx2"/>
                </a:solidFill>
              </a:rPr>
              <a:t>Predecir</a:t>
            </a:r>
            <a:endParaRPr lang="en-US" sz="1500" dirty="0"/>
          </a:p>
        </p:txBody>
      </p:sp>
      <p:sp>
        <p:nvSpPr>
          <p:cNvPr id="20" name="Text 18"/>
          <p:cNvSpPr txBox="1"/>
          <p:nvPr/>
        </p:nvSpPr>
        <p:spPr>
          <a:xfrm>
            <a:off x="4206240" y="2569464"/>
            <a:ext cx="3017520" cy="548640"/>
          </a:xfrm>
          <a:prstGeom prst="rect">
            <a:avLst/>
          </a:prstGeom>
          <a:noFill/>
          <a:ln/>
        </p:spPr>
        <p:txBody>
          <a:bodyPr wrap="square" lIns="0" tIns="0" rIns="0" bIns="0" rtlCol="0" anchor="ctr"/>
          <a:lstStyle/>
          <a:p>
            <a:pPr indent="0" marL="0">
              <a:buNone/>
            </a:pPr>
            <a:r>
              <a:rPr lang="en-US" sz="1300" dirty="0">
                <a:solidFill>
                  <a:schemeClr val="accent2"/>
                </a:solidFill>
                <a:latin typeface="Courier New" pitchFamily="34" charset="0"/>
                <a:ea typeface="Courier New" pitchFamily="34" charset="-122"/>
                <a:cs typeface="Courier New" pitchFamily="34" charset="-120"/>
              </a:rPr>
              <a:t>asistencia = 90 %</a:t>
            </a:r>
            <a:endParaRPr lang="en-US" sz="1300" dirty="0"/>
          </a:p>
        </p:txBody>
      </p:sp>
      <p:sp>
        <p:nvSpPr>
          <p:cNvPr id="21" name="Text 19"/>
          <p:cNvSpPr txBox="1"/>
          <p:nvPr/>
        </p:nvSpPr>
        <p:spPr>
          <a:xfrm>
            <a:off x="7315200" y="2569464"/>
            <a:ext cx="1280160" cy="548640"/>
          </a:xfrm>
          <a:prstGeom prst="rect">
            <a:avLst/>
          </a:prstGeom>
          <a:noFill/>
          <a:ln/>
        </p:spPr>
        <p:txBody>
          <a:bodyPr wrap="square" lIns="0" tIns="0" rIns="0" bIns="0" rtlCol="0" anchor="ctr"/>
          <a:lstStyle/>
          <a:p>
            <a:pPr indent="0" marL="0">
              <a:buNone/>
            </a:pPr>
            <a:r>
              <a:rPr lang="en-US" sz="1100" dirty="0">
                <a:solidFill>
                  <a:schemeClr val="accent6"/>
                </a:solidFill>
              </a:rPr>
              <a:t>Paso 2</a:t>
            </a:r>
            <a:endParaRPr lang="en-US" sz="1100" dirty="0"/>
          </a:p>
        </p:txBody>
      </p:sp>
      <p:sp>
        <p:nvSpPr>
          <p:cNvPr id="22" name="Tarjeta"/>
          <p:cNvSpPr/>
          <p:nvPr/>
        </p:nvSpPr>
        <p:spPr>
          <a:xfrm>
            <a:off x="457200" y="3236976"/>
            <a:ext cx="8229600" cy="548640"/>
          </a:xfrm>
          <a:prstGeom prst="roundRect">
            <a:avLst>
              <a:gd name="adj" fmla="val 13333"/>
            </a:avLst>
          </a:prstGeom>
          <a:solidFill>
            <a:schemeClr val="bg2"/>
          </a:solidFill>
          <a:ln w="12700">
            <a:solidFill>
              <a:schemeClr val="bg2"/>
            </a:solidFill>
            <a:prstDash val="solid"/>
          </a:ln>
        </p:spPr>
      </p:sp>
      <p:sp>
        <p:nvSpPr>
          <p:cNvPr id="23" name="Círculo número"/>
          <p:cNvSpPr/>
          <p:nvPr/>
        </p:nvSpPr>
        <p:spPr>
          <a:xfrm>
            <a:off x="566928" y="3310128"/>
            <a:ext cx="402336" cy="402336"/>
          </a:xfrm>
          <a:prstGeom prst="ellipse">
            <a:avLst/>
          </a:prstGeom>
          <a:solidFill>
            <a:schemeClr val="accent1"/>
          </a:solidFill>
          <a:ln w="12700">
            <a:solidFill>
              <a:schemeClr val="accent1"/>
            </a:solidFill>
            <a:prstDash val="solid"/>
          </a:ln>
        </p:spPr>
      </p:sp>
      <p:sp>
        <p:nvSpPr>
          <p:cNvPr id="24" name="Text 22"/>
          <p:cNvSpPr txBox="1"/>
          <p:nvPr/>
        </p:nvSpPr>
        <p:spPr>
          <a:xfrm>
            <a:off x="566928" y="3310128"/>
            <a:ext cx="402336" cy="402336"/>
          </a:xfrm>
          <a:prstGeom prst="rect">
            <a:avLst/>
          </a:prstGeom>
          <a:no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25" name="Text 23"/>
          <p:cNvSpPr txBox="1"/>
          <p:nvPr/>
        </p:nvSpPr>
        <p:spPr>
          <a:xfrm>
            <a:off x="1143000" y="3236976"/>
            <a:ext cx="3017520" cy="548640"/>
          </a:xfrm>
          <a:prstGeom prst="rect">
            <a:avLst/>
          </a:prstGeom>
          <a:noFill/>
          <a:ln/>
        </p:spPr>
        <p:txBody>
          <a:bodyPr wrap="square" lIns="0" tIns="0" rIns="0" bIns="0" rtlCol="0" anchor="ctr"/>
          <a:lstStyle/>
          <a:p>
            <a:pPr indent="0" marL="0">
              <a:buNone/>
            </a:pPr>
            <a:r>
              <a:rPr lang="en-US" sz="1500" b="1" dirty="0">
                <a:solidFill>
                  <a:schemeClr val="tx2"/>
                </a:solidFill>
              </a:rPr>
              <a:t>Regresión múltiple</a:t>
            </a:r>
            <a:endParaRPr lang="en-US" sz="1500" dirty="0"/>
          </a:p>
        </p:txBody>
      </p:sp>
      <p:sp>
        <p:nvSpPr>
          <p:cNvPr id="26" name="Text 24"/>
          <p:cNvSpPr txBox="1"/>
          <p:nvPr/>
        </p:nvSpPr>
        <p:spPr>
          <a:xfrm>
            <a:off x="4206240" y="3236976"/>
            <a:ext cx="3017520" cy="548640"/>
          </a:xfrm>
          <a:prstGeom prst="rect">
            <a:avLst/>
          </a:prstGeom>
          <a:noFill/>
          <a:ln/>
        </p:spPr>
        <p:txBody>
          <a:bodyPr wrap="square" lIns="0" tIns="0" rIns="0" bIns="0" rtlCol="0" anchor="ctr"/>
          <a:lstStyle/>
          <a:p>
            <a:pPr indent="0" marL="0">
              <a:buNone/>
            </a:pPr>
            <a:r>
              <a:rPr lang="en-US" sz="1300" dirty="0">
                <a:solidFill>
                  <a:schemeClr val="accent2"/>
                </a:solidFill>
                <a:latin typeface="Courier New" pitchFamily="34" charset="0"/>
                <a:ea typeface="Courier New" pitchFamily="34" charset="-122"/>
                <a:cs typeface="Courier New" pitchFamily="34" charset="-120"/>
              </a:rPr>
              <a:t>dropna + 4 variables</a:t>
            </a:r>
            <a:endParaRPr lang="en-US" sz="1300" dirty="0"/>
          </a:p>
        </p:txBody>
      </p:sp>
      <p:sp>
        <p:nvSpPr>
          <p:cNvPr id="27" name="Text 25"/>
          <p:cNvSpPr txBox="1"/>
          <p:nvPr/>
        </p:nvSpPr>
        <p:spPr>
          <a:xfrm>
            <a:off x="7315200" y="3236976"/>
            <a:ext cx="1280160" cy="548640"/>
          </a:xfrm>
          <a:prstGeom prst="rect">
            <a:avLst/>
          </a:prstGeom>
          <a:noFill/>
          <a:ln/>
        </p:spPr>
        <p:txBody>
          <a:bodyPr wrap="square" lIns="0" tIns="0" rIns="0" bIns="0" rtlCol="0" anchor="ctr"/>
          <a:lstStyle/>
          <a:p>
            <a:pPr indent="0" marL="0">
              <a:buNone/>
            </a:pPr>
            <a:r>
              <a:rPr lang="en-US" sz="1100" dirty="0">
                <a:solidFill>
                  <a:schemeClr val="accent6"/>
                </a:solidFill>
              </a:rPr>
              <a:t>Paso 3</a:t>
            </a:r>
            <a:endParaRPr lang="en-US" sz="1100" dirty="0"/>
          </a:p>
        </p:txBody>
      </p:sp>
      <p:sp>
        <p:nvSpPr>
          <p:cNvPr id="28" name="Tarjeta"/>
          <p:cNvSpPr/>
          <p:nvPr/>
        </p:nvSpPr>
        <p:spPr>
          <a:xfrm>
            <a:off x="457200" y="3904488"/>
            <a:ext cx="8229600" cy="548640"/>
          </a:xfrm>
          <a:prstGeom prst="roundRect">
            <a:avLst>
              <a:gd name="adj" fmla="val 13333"/>
            </a:avLst>
          </a:prstGeom>
          <a:solidFill>
            <a:schemeClr val="bg2"/>
          </a:solidFill>
          <a:ln w="12700">
            <a:solidFill>
              <a:schemeClr val="bg2"/>
            </a:solidFill>
            <a:prstDash val="solid"/>
          </a:ln>
        </p:spPr>
      </p:sp>
      <p:sp>
        <p:nvSpPr>
          <p:cNvPr id="29" name="Círculo número"/>
          <p:cNvSpPr/>
          <p:nvPr/>
        </p:nvSpPr>
        <p:spPr>
          <a:xfrm>
            <a:off x="566928" y="3977640"/>
            <a:ext cx="402336" cy="402336"/>
          </a:xfrm>
          <a:prstGeom prst="ellipse">
            <a:avLst/>
          </a:prstGeom>
          <a:solidFill>
            <a:schemeClr val="accent1"/>
          </a:solidFill>
          <a:ln w="12700">
            <a:solidFill>
              <a:schemeClr val="accent1"/>
            </a:solidFill>
            <a:prstDash val="solid"/>
          </a:ln>
        </p:spPr>
      </p:sp>
      <p:sp>
        <p:nvSpPr>
          <p:cNvPr id="30" name="Text 28"/>
          <p:cNvSpPr txBox="1"/>
          <p:nvPr/>
        </p:nvSpPr>
        <p:spPr>
          <a:xfrm>
            <a:off x="566928" y="3977640"/>
            <a:ext cx="402336" cy="402336"/>
          </a:xfrm>
          <a:prstGeom prst="rect">
            <a:avLst/>
          </a:prstGeom>
          <a:noFill/>
          <a:ln/>
        </p:spPr>
        <p:txBody>
          <a:bodyPr wrap="square" lIns="0" tIns="0" rIns="0" bIns="0" rtlCol="0" anchor="ctr"/>
          <a:lstStyle/>
          <a:p>
            <a:pPr algn="ctr" indent="0" marL="0">
              <a:buNone/>
            </a:pPr>
            <a:r>
              <a:rPr lang="en-US" sz="1600" b="1" dirty="0">
                <a:solidFill>
                  <a:schemeClr val="tx2"/>
                </a:solidFill>
              </a:rPr>
              <a:t>5</a:t>
            </a:r>
            <a:endParaRPr lang="en-US" sz="1600" dirty="0"/>
          </a:p>
        </p:txBody>
      </p:sp>
      <p:sp>
        <p:nvSpPr>
          <p:cNvPr id="31" name="Text 29"/>
          <p:cNvSpPr txBox="1"/>
          <p:nvPr/>
        </p:nvSpPr>
        <p:spPr>
          <a:xfrm>
            <a:off x="1143000" y="3904488"/>
            <a:ext cx="3017520" cy="548640"/>
          </a:xfrm>
          <a:prstGeom prst="rect">
            <a:avLst/>
          </a:prstGeom>
          <a:noFill/>
          <a:ln/>
        </p:spPr>
        <p:txBody>
          <a:bodyPr wrap="square" lIns="0" tIns="0" rIns="0" bIns="0" rtlCol="0" anchor="ctr"/>
          <a:lstStyle/>
          <a:p>
            <a:pPr indent="0" marL="0">
              <a:buNone/>
            </a:pPr>
            <a:r>
              <a:rPr lang="en-US" sz="1500" b="1" dirty="0">
                <a:solidFill>
                  <a:schemeClr val="tx2"/>
                </a:solidFill>
              </a:rPr>
              <a:t>Variables no significativas</a:t>
            </a:r>
            <a:endParaRPr lang="en-US" sz="1500" dirty="0"/>
          </a:p>
        </p:txBody>
      </p:sp>
      <p:sp>
        <p:nvSpPr>
          <p:cNvPr id="32" name="Text 30"/>
          <p:cNvSpPr txBox="1"/>
          <p:nvPr/>
        </p:nvSpPr>
        <p:spPr>
          <a:xfrm>
            <a:off x="4206240" y="3904488"/>
            <a:ext cx="3017520" cy="548640"/>
          </a:xfrm>
          <a:prstGeom prst="rect">
            <a:avLst/>
          </a:prstGeom>
          <a:noFill/>
          <a:ln/>
        </p:spPr>
        <p:txBody>
          <a:bodyPr wrap="square" lIns="0" tIns="0" rIns="0" bIns="0" rtlCol="0" anchor="ctr"/>
          <a:lstStyle/>
          <a:p>
            <a:pPr indent="0" marL="0">
              <a:buNone/>
            </a:pPr>
            <a:r>
              <a:rPr lang="en-US" sz="1300" dirty="0">
                <a:solidFill>
                  <a:schemeClr val="accent2"/>
                </a:solidFill>
                <a:latin typeface="Courier New" pitchFamily="34" charset="0"/>
                <a:ea typeface="Courier New" pitchFamily="34" charset="-122"/>
                <a:cs typeface="Courier New" pitchFamily="34" charset="-120"/>
              </a:rPr>
              <a:t>p-valor ≥ 0,05</a:t>
            </a:r>
            <a:endParaRPr lang="en-US" sz="1300" dirty="0"/>
          </a:p>
        </p:txBody>
      </p:sp>
      <p:sp>
        <p:nvSpPr>
          <p:cNvPr id="33" name="Text 31"/>
          <p:cNvSpPr txBox="1"/>
          <p:nvPr/>
        </p:nvSpPr>
        <p:spPr>
          <a:xfrm>
            <a:off x="7315200" y="3904488"/>
            <a:ext cx="1280160" cy="548640"/>
          </a:xfrm>
          <a:prstGeom prst="rect">
            <a:avLst/>
          </a:prstGeom>
          <a:noFill/>
          <a:ln/>
        </p:spPr>
        <p:txBody>
          <a:bodyPr wrap="square" lIns="0" tIns="0" rIns="0" bIns="0" rtlCol="0" anchor="ctr"/>
          <a:lstStyle/>
          <a:p>
            <a:pPr indent="0" marL="0">
              <a:buNone/>
            </a:pPr>
            <a:r>
              <a:rPr lang="en-US" sz="1100" dirty="0">
                <a:solidFill>
                  <a:schemeClr val="accent6"/>
                </a:solidFill>
              </a:rPr>
              <a:t>Paso 3</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56032"/>
          </a:xfrm>
          <a:prstGeom prst="rect">
            <a:avLst/>
          </a:prstGeom>
          <a:noFill/>
          <a:ln/>
        </p:spPr>
        <p:txBody>
          <a:bodyPr wrap="square" lIns="0" tIns="0" rIns="0" bIns="0" rtlCol="0"/>
          <a:lstStyle/>
          <a:p>
            <a:pPr indent="0" marL="0">
              <a:buNone/>
            </a:pPr>
            <a:r>
              <a:rPr lang="en-US" sz="1100" b="1" spc="100" kern="0" dirty="0">
                <a:solidFill>
                  <a:schemeClr val="accent3"/>
                </a:solidFill>
              </a:rPr>
              <a:t>SOLUCIONES · EJERCICIOS 1 A 3</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Correlación, recta y predicción con la asistencia</a:t>
            </a:r>
            <a:endParaRPr lang="en-US" sz="2800" dirty="0"/>
          </a:p>
        </p:txBody>
      </p:sp>
      <p:sp>
        <p:nvSpPr>
          <p:cNvPr id="4" name="Tarjeta"/>
          <p:cNvSpPr/>
          <p:nvPr/>
        </p:nvSpPr>
        <p:spPr>
          <a:xfrm>
            <a:off x="457200" y="1234440"/>
            <a:ext cx="8229600" cy="960120"/>
          </a:xfrm>
          <a:prstGeom prst="roundRect">
            <a:avLst>
              <a:gd name="adj" fmla="val 7619"/>
            </a:avLst>
          </a:prstGeom>
          <a:solidFill>
            <a:schemeClr val="bg2"/>
          </a:solidFill>
          <a:ln w="12700">
            <a:solidFill>
              <a:schemeClr val="bg2"/>
            </a:solidFill>
            <a:prstDash val="solid"/>
          </a:ln>
        </p:spPr>
      </p:sp>
      <p:sp>
        <p:nvSpPr>
          <p:cNvPr id="5" name="Círculo número"/>
          <p:cNvSpPr/>
          <p:nvPr/>
        </p:nvSpPr>
        <p:spPr>
          <a:xfrm>
            <a:off x="594360" y="1508760"/>
            <a:ext cx="411480" cy="411480"/>
          </a:xfrm>
          <a:prstGeom prst="ellipse">
            <a:avLst/>
          </a:prstGeom>
          <a:solidFill>
            <a:schemeClr val="accent1"/>
          </a:solidFill>
          <a:ln w="12700">
            <a:solidFill>
              <a:schemeClr val="accent1"/>
            </a:solidFill>
            <a:prstDash val="solid"/>
          </a:ln>
        </p:spPr>
      </p:sp>
      <p:sp>
        <p:nvSpPr>
          <p:cNvPr id="6" name="Text 4"/>
          <p:cNvSpPr txBox="1"/>
          <p:nvPr/>
        </p:nvSpPr>
        <p:spPr>
          <a:xfrm>
            <a:off x="594360" y="1508760"/>
            <a:ext cx="411480" cy="411480"/>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7" name="Text 5"/>
          <p:cNvSpPr txBox="1"/>
          <p:nvPr/>
        </p:nvSpPr>
        <p:spPr>
          <a:xfrm>
            <a:off x="1188720" y="1325880"/>
            <a:ext cx="5029200" cy="292608"/>
          </a:xfrm>
          <a:prstGeom prst="rect">
            <a:avLst/>
          </a:prstGeom>
          <a:noFill/>
          <a:ln/>
        </p:spPr>
        <p:txBody>
          <a:bodyPr wrap="square" lIns="0" tIns="0" rIns="0" bIns="0" rtlCol="0" anchor="ctr"/>
          <a:lstStyle/>
          <a:p>
            <a:pPr indent="0" marL="0">
              <a:buNone/>
            </a:pPr>
            <a:r>
              <a:rPr lang="en-US" sz="1400" b="1" dirty="0">
                <a:solidFill>
                  <a:schemeClr val="tx2"/>
                </a:solidFill>
              </a:rPr>
              <a:t>Correlación</a:t>
            </a:r>
            <a:endParaRPr lang="en-US" sz="1400" dirty="0"/>
          </a:p>
        </p:txBody>
      </p:sp>
      <p:sp>
        <p:nvSpPr>
          <p:cNvPr id="8" name="Text 6"/>
          <p:cNvSpPr txBox="1"/>
          <p:nvPr/>
        </p:nvSpPr>
        <p:spPr>
          <a:xfrm>
            <a:off x="1188720" y="1645920"/>
            <a:ext cx="5120640" cy="502920"/>
          </a:xfrm>
          <a:prstGeom prst="rect">
            <a:avLst/>
          </a:prstGeom>
          <a:noFill/>
          <a:ln/>
        </p:spPr>
        <p:txBody>
          <a:bodyPr wrap="square" lIns="0" tIns="0" rIns="0" bIns="0" rtlCol="0" anchor="t"/>
          <a:lstStyle/>
          <a:p>
            <a:pPr indent="0" marL="0">
              <a:buNone/>
            </a:pPr>
            <a:r>
              <a:rPr lang="en-US" sz="1100" dirty="0">
                <a:solidFill>
                  <a:schemeClr val="accent2"/>
                </a:solidFill>
                <a:latin typeface="Courier New" pitchFamily="34" charset="0"/>
                <a:ea typeface="Courier New" pitchFamily="34" charset="-122"/>
                <a:cs typeface="Courier New" pitchFamily="34" charset="-120"/>
              </a:rPr>
              <a:t>round(df["asistencia"].corr(df["nota_final"]), 2)</a:t>
            </a:r>
            <a:endParaRPr lang="en-US" sz="1100" dirty="0"/>
          </a:p>
        </p:txBody>
      </p:sp>
      <p:sp>
        <p:nvSpPr>
          <p:cNvPr id="9" name="Resultado"/>
          <p:cNvSpPr/>
          <p:nvPr/>
        </p:nvSpPr>
        <p:spPr>
          <a:xfrm>
            <a:off x="6446520" y="1371600"/>
            <a:ext cx="2103120" cy="685800"/>
          </a:xfrm>
          <a:prstGeom prst="roundRect">
            <a:avLst>
              <a:gd name="adj" fmla="val 10667"/>
            </a:avLst>
          </a:prstGeom>
          <a:solidFill>
            <a:schemeClr val="tx2"/>
          </a:solidFill>
          <a:ln w="12700">
            <a:solidFill>
              <a:schemeClr val="tx2"/>
            </a:solidFill>
            <a:prstDash val="solid"/>
          </a:ln>
        </p:spPr>
      </p:sp>
      <p:sp>
        <p:nvSpPr>
          <p:cNvPr id="10" name="Text 8"/>
          <p:cNvSpPr txBox="1"/>
          <p:nvPr/>
        </p:nvSpPr>
        <p:spPr>
          <a:xfrm>
            <a:off x="6537960" y="1371600"/>
            <a:ext cx="1920240" cy="685800"/>
          </a:xfrm>
          <a:prstGeom prst="rect">
            <a:avLst/>
          </a:prstGeom>
          <a:noFill/>
          <a:ln/>
        </p:spPr>
        <p:txBody>
          <a:bodyPr wrap="square" lIns="0" tIns="0" rIns="0" bIns="0" rtlCol="0" anchor="ctr"/>
          <a:lstStyle/>
          <a:p>
            <a:pPr algn="ctr" indent="0" marL="0">
              <a:buNone/>
            </a:pPr>
            <a:r>
              <a:rPr lang="en-US" sz="1300" b="1" dirty="0">
                <a:solidFill>
                  <a:schemeClr val="bg1"/>
                </a:solidFill>
              </a:rPr>
              <a:t>r = 0,61</a:t>
            </a:r>
            <a:endParaRPr lang="en-US" sz="1300" dirty="0"/>
          </a:p>
        </p:txBody>
      </p:sp>
      <p:sp>
        <p:nvSpPr>
          <p:cNvPr id="11" name="Tarjeta"/>
          <p:cNvSpPr/>
          <p:nvPr/>
        </p:nvSpPr>
        <p:spPr>
          <a:xfrm>
            <a:off x="457200" y="2331720"/>
            <a:ext cx="8229600" cy="960120"/>
          </a:xfrm>
          <a:prstGeom prst="roundRect">
            <a:avLst>
              <a:gd name="adj" fmla="val 7619"/>
            </a:avLst>
          </a:prstGeom>
          <a:solidFill>
            <a:schemeClr val="bg2"/>
          </a:solidFill>
          <a:ln w="12700">
            <a:solidFill>
              <a:schemeClr val="bg2"/>
            </a:solidFill>
            <a:prstDash val="solid"/>
          </a:ln>
        </p:spPr>
      </p:sp>
      <p:sp>
        <p:nvSpPr>
          <p:cNvPr id="12" name="Círculo número"/>
          <p:cNvSpPr/>
          <p:nvPr/>
        </p:nvSpPr>
        <p:spPr>
          <a:xfrm>
            <a:off x="594360" y="2606040"/>
            <a:ext cx="411480" cy="411480"/>
          </a:xfrm>
          <a:prstGeom prst="ellipse">
            <a:avLst/>
          </a:prstGeom>
          <a:solidFill>
            <a:schemeClr val="accent1"/>
          </a:solidFill>
          <a:ln w="12700">
            <a:solidFill>
              <a:schemeClr val="accent1"/>
            </a:solidFill>
            <a:prstDash val="solid"/>
          </a:ln>
        </p:spPr>
      </p:sp>
      <p:sp>
        <p:nvSpPr>
          <p:cNvPr id="13" name="Text 11"/>
          <p:cNvSpPr txBox="1"/>
          <p:nvPr/>
        </p:nvSpPr>
        <p:spPr>
          <a:xfrm>
            <a:off x="594360" y="2606040"/>
            <a:ext cx="411480" cy="411480"/>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14" name="Text 12"/>
          <p:cNvSpPr txBox="1"/>
          <p:nvPr/>
        </p:nvSpPr>
        <p:spPr>
          <a:xfrm>
            <a:off x="1188720" y="2423160"/>
            <a:ext cx="5029200" cy="292608"/>
          </a:xfrm>
          <a:prstGeom prst="rect">
            <a:avLst/>
          </a:prstGeom>
          <a:noFill/>
          <a:ln/>
        </p:spPr>
        <p:txBody>
          <a:bodyPr wrap="square" lIns="0" tIns="0" rIns="0" bIns="0" rtlCol="0" anchor="ctr"/>
          <a:lstStyle/>
          <a:p>
            <a:pPr indent="0" marL="0">
              <a:buNone/>
            </a:pPr>
            <a:r>
              <a:rPr lang="en-US" sz="1400" b="1" dirty="0">
                <a:solidFill>
                  <a:schemeClr val="tx2"/>
                </a:solidFill>
              </a:rPr>
              <a:t>Regresión simple</a:t>
            </a:r>
            <a:endParaRPr lang="en-US" sz="1400" dirty="0"/>
          </a:p>
        </p:txBody>
      </p:sp>
      <p:sp>
        <p:nvSpPr>
          <p:cNvPr id="15" name="Text 13"/>
          <p:cNvSpPr txBox="1"/>
          <p:nvPr/>
        </p:nvSpPr>
        <p:spPr>
          <a:xfrm>
            <a:off x="1188720" y="2743200"/>
            <a:ext cx="5120640" cy="502920"/>
          </a:xfrm>
          <a:prstGeom prst="rect">
            <a:avLst/>
          </a:prstGeom>
          <a:noFill/>
          <a:ln/>
        </p:spPr>
        <p:txBody>
          <a:bodyPr wrap="square" lIns="0" tIns="0" rIns="0" bIns="0" rtlCol="0" anchor="t"/>
          <a:lstStyle/>
          <a:p>
            <a:pPr indent="0" marL="0">
              <a:buNone/>
            </a:pPr>
            <a:r>
              <a:rPr lang="en-US" sz="1100" dirty="0">
                <a:solidFill>
                  <a:schemeClr val="accent2"/>
                </a:solidFill>
                <a:latin typeface="Courier New" pitchFamily="34" charset="0"/>
                <a:ea typeface="Courier New" pitchFamily="34" charset="-122"/>
                <a:cs typeface="Courier New" pitchFamily="34" charset="-120"/>
              </a:rPr>
              <a:t>m = smf.ols("nota_final ~ asistencia", data=df).fit()</a:t>
            </a:r>
            <a:endParaRPr lang="en-US" sz="1100" dirty="0"/>
          </a:p>
          <a:p>
            <a:pPr indent="0" marL="0">
              <a:buNone/>
            </a:pPr>
            <a:r>
              <a:rPr lang="en-US" sz="1100" dirty="0">
                <a:solidFill>
                  <a:schemeClr val="accent2"/>
                </a:solidFill>
                <a:latin typeface="Courier New" pitchFamily="34" charset="0"/>
                <a:ea typeface="Courier New" pitchFamily="34" charset="-122"/>
                <a:cs typeface="Courier New" pitchFamily="34" charset="-120"/>
              </a:rPr>
              <a:t>m.params, m.rsquared</a:t>
            </a:r>
            <a:endParaRPr lang="en-US" sz="1100" dirty="0"/>
          </a:p>
        </p:txBody>
      </p:sp>
      <p:sp>
        <p:nvSpPr>
          <p:cNvPr id="16" name="Resultado"/>
          <p:cNvSpPr/>
          <p:nvPr/>
        </p:nvSpPr>
        <p:spPr>
          <a:xfrm>
            <a:off x="6446520" y="2468880"/>
            <a:ext cx="2103120" cy="685800"/>
          </a:xfrm>
          <a:prstGeom prst="roundRect">
            <a:avLst>
              <a:gd name="adj" fmla="val 10667"/>
            </a:avLst>
          </a:prstGeom>
          <a:solidFill>
            <a:schemeClr val="tx2"/>
          </a:solidFill>
          <a:ln w="12700">
            <a:solidFill>
              <a:schemeClr val="tx2"/>
            </a:solidFill>
            <a:prstDash val="solid"/>
          </a:ln>
        </p:spPr>
      </p:sp>
      <p:sp>
        <p:nvSpPr>
          <p:cNvPr id="17" name="Text 15"/>
          <p:cNvSpPr txBox="1"/>
          <p:nvPr/>
        </p:nvSpPr>
        <p:spPr>
          <a:xfrm>
            <a:off x="6537960" y="2468880"/>
            <a:ext cx="1920240" cy="685800"/>
          </a:xfrm>
          <a:prstGeom prst="rect">
            <a:avLst/>
          </a:prstGeom>
          <a:noFill/>
          <a:ln/>
        </p:spPr>
        <p:txBody>
          <a:bodyPr wrap="square" lIns="0" tIns="0" rIns="0" bIns="0" rtlCol="0" anchor="ctr"/>
          <a:lstStyle/>
          <a:p>
            <a:pPr algn="ctr" indent="0" marL="0">
              <a:buNone/>
            </a:pPr>
            <a:r>
              <a:rPr lang="en-US" sz="1300" b="1" dirty="0">
                <a:solidFill>
                  <a:schemeClr val="bg1"/>
                </a:solidFill>
              </a:rPr>
              <a:t>−2,23 + 0,096 · asist.</a:t>
            </a:r>
            <a:endParaRPr lang="en-US" sz="1300" dirty="0"/>
          </a:p>
          <a:p>
            <a:pPr algn="ctr" indent="0" marL="0">
              <a:buNone/>
            </a:pPr>
            <a:r>
              <a:rPr lang="en-US" sz="1300" b="1" dirty="0">
                <a:solidFill>
                  <a:schemeClr val="bg1"/>
                </a:solidFill>
              </a:rPr>
              <a:t>R² = 0,37</a:t>
            </a:r>
            <a:endParaRPr lang="en-US" sz="1300" dirty="0"/>
          </a:p>
        </p:txBody>
      </p:sp>
      <p:sp>
        <p:nvSpPr>
          <p:cNvPr id="18" name="Tarjeta"/>
          <p:cNvSpPr/>
          <p:nvPr/>
        </p:nvSpPr>
        <p:spPr>
          <a:xfrm>
            <a:off x="457200" y="3429000"/>
            <a:ext cx="8229600" cy="960120"/>
          </a:xfrm>
          <a:prstGeom prst="roundRect">
            <a:avLst>
              <a:gd name="adj" fmla="val 7619"/>
            </a:avLst>
          </a:prstGeom>
          <a:solidFill>
            <a:schemeClr val="bg2"/>
          </a:solidFill>
          <a:ln w="12700">
            <a:solidFill>
              <a:schemeClr val="bg2"/>
            </a:solidFill>
            <a:prstDash val="solid"/>
          </a:ln>
        </p:spPr>
      </p:sp>
      <p:sp>
        <p:nvSpPr>
          <p:cNvPr id="19" name="Círculo número"/>
          <p:cNvSpPr/>
          <p:nvPr/>
        </p:nvSpPr>
        <p:spPr>
          <a:xfrm>
            <a:off x="594360" y="3703320"/>
            <a:ext cx="411480" cy="411480"/>
          </a:xfrm>
          <a:prstGeom prst="ellipse">
            <a:avLst/>
          </a:prstGeom>
          <a:solidFill>
            <a:schemeClr val="accent1"/>
          </a:solidFill>
          <a:ln w="12700">
            <a:solidFill>
              <a:schemeClr val="accent1"/>
            </a:solidFill>
            <a:prstDash val="solid"/>
          </a:ln>
        </p:spPr>
      </p:sp>
      <p:sp>
        <p:nvSpPr>
          <p:cNvPr id="20" name="Text 18"/>
          <p:cNvSpPr txBox="1"/>
          <p:nvPr/>
        </p:nvSpPr>
        <p:spPr>
          <a:xfrm>
            <a:off x="594360" y="3703320"/>
            <a:ext cx="411480" cy="411480"/>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21" name="Text 19"/>
          <p:cNvSpPr txBox="1"/>
          <p:nvPr/>
        </p:nvSpPr>
        <p:spPr>
          <a:xfrm>
            <a:off x="1188720" y="3520440"/>
            <a:ext cx="5029200" cy="292608"/>
          </a:xfrm>
          <a:prstGeom prst="rect">
            <a:avLst/>
          </a:prstGeom>
          <a:noFill/>
          <a:ln/>
        </p:spPr>
        <p:txBody>
          <a:bodyPr wrap="square" lIns="0" tIns="0" rIns="0" bIns="0" rtlCol="0" anchor="ctr"/>
          <a:lstStyle/>
          <a:p>
            <a:pPr indent="0" marL="0">
              <a:buNone/>
            </a:pPr>
            <a:r>
              <a:rPr lang="en-US" sz="1400" b="1" dirty="0">
                <a:solidFill>
                  <a:schemeClr val="tx2"/>
                </a:solidFill>
              </a:rPr>
              <a:t>Predecir</a:t>
            </a:r>
            <a:endParaRPr lang="en-US" sz="1400" dirty="0"/>
          </a:p>
        </p:txBody>
      </p:sp>
      <p:sp>
        <p:nvSpPr>
          <p:cNvPr id="22" name="Text 20"/>
          <p:cNvSpPr txBox="1"/>
          <p:nvPr/>
        </p:nvSpPr>
        <p:spPr>
          <a:xfrm>
            <a:off x="1188720" y="3840480"/>
            <a:ext cx="5120640" cy="502920"/>
          </a:xfrm>
          <a:prstGeom prst="rect">
            <a:avLst/>
          </a:prstGeom>
          <a:noFill/>
          <a:ln/>
        </p:spPr>
        <p:txBody>
          <a:bodyPr wrap="square" lIns="0" tIns="0" rIns="0" bIns="0" rtlCol="0" anchor="t"/>
          <a:lstStyle/>
          <a:p>
            <a:pPr indent="0" marL="0">
              <a:buNone/>
            </a:pPr>
            <a:r>
              <a:rPr lang="en-US" sz="1100" dirty="0">
                <a:solidFill>
                  <a:schemeClr val="accent2"/>
                </a:solidFill>
                <a:latin typeface="Courier New" pitchFamily="34" charset="0"/>
                <a:ea typeface="Courier New" pitchFamily="34" charset="-122"/>
                <a:cs typeface="Courier New" pitchFamily="34" charset="-120"/>
              </a:rPr>
              <a:t>m.predict(pd.DataFrame({"asistencia": [90]})).iloc[0]</a:t>
            </a:r>
            <a:endParaRPr lang="en-US" sz="1100" dirty="0"/>
          </a:p>
        </p:txBody>
      </p:sp>
      <p:sp>
        <p:nvSpPr>
          <p:cNvPr id="23" name="Resultado"/>
          <p:cNvSpPr/>
          <p:nvPr/>
        </p:nvSpPr>
        <p:spPr>
          <a:xfrm>
            <a:off x="6446520" y="3566160"/>
            <a:ext cx="2103120" cy="685800"/>
          </a:xfrm>
          <a:prstGeom prst="roundRect">
            <a:avLst>
              <a:gd name="adj" fmla="val 10667"/>
            </a:avLst>
          </a:prstGeom>
          <a:solidFill>
            <a:schemeClr val="tx2"/>
          </a:solidFill>
          <a:ln w="12700">
            <a:solidFill>
              <a:schemeClr val="tx2"/>
            </a:solidFill>
            <a:prstDash val="solid"/>
          </a:ln>
        </p:spPr>
      </p:sp>
      <p:sp>
        <p:nvSpPr>
          <p:cNvPr id="24" name="Text 22"/>
          <p:cNvSpPr txBox="1"/>
          <p:nvPr/>
        </p:nvSpPr>
        <p:spPr>
          <a:xfrm>
            <a:off x="6537960" y="3566160"/>
            <a:ext cx="1920240" cy="685800"/>
          </a:xfrm>
          <a:prstGeom prst="rect">
            <a:avLst/>
          </a:prstGeom>
          <a:noFill/>
          <a:ln/>
        </p:spPr>
        <p:txBody>
          <a:bodyPr wrap="square" lIns="0" tIns="0" rIns="0" bIns="0" rtlCol="0" anchor="ctr"/>
          <a:lstStyle/>
          <a:p>
            <a:pPr algn="ctr" indent="0" marL="0">
              <a:buNone/>
            </a:pPr>
            <a:r>
              <a:rPr lang="en-US" sz="1300" b="1" dirty="0">
                <a:solidFill>
                  <a:schemeClr val="bg1"/>
                </a:solidFill>
              </a:rPr>
              <a:t>90 % → 6,39</a:t>
            </a:r>
            <a:endParaRPr lang="en-US" sz="1300" dirty="0"/>
          </a:p>
        </p:txBody>
      </p:sp>
      <p:sp>
        <p:nvSpPr>
          <p:cNvPr id="25" name="Text 23"/>
          <p:cNvSpPr txBox="1"/>
          <p:nvPr/>
        </p:nvSpPr>
        <p:spPr>
          <a:xfrm>
            <a:off x="457200" y="4462272"/>
            <a:ext cx="8229600" cy="274320"/>
          </a:xfrm>
          <a:prstGeom prst="rect">
            <a:avLst/>
          </a:prstGeom>
          <a:noFill/>
          <a:ln/>
        </p:spPr>
        <p:txBody>
          <a:bodyPr wrap="square" lIns="0" tIns="0" rIns="0" bIns="0" rtlCol="0" anchor="ctr"/>
          <a:lstStyle/>
          <a:p>
            <a:pPr indent="0" marL="0">
              <a:buNone/>
            </a:pPr>
            <a:r>
              <a:rPr lang="en-US" sz="1100" i="1" dirty="0">
                <a:solidFill>
                  <a:schemeClr val="tx1"/>
                </a:solidFill>
              </a:rPr>
              <a:t>Interpretación: +10 puntos de asistencia ≈ +1 punto de nota. La asistencia sola explica el 37 % de la variación.</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6858000" cy="256032"/>
          </a:xfrm>
          <a:prstGeom prst="rect">
            <a:avLst/>
          </a:prstGeom>
          <a:noFill/>
          <a:ln/>
        </p:spPr>
        <p:txBody>
          <a:bodyPr wrap="square" lIns="0" tIns="0" rIns="0" bIns="0" rtlCol="0"/>
          <a:lstStyle/>
          <a:p>
            <a:pPr indent="0" marL="0">
              <a:buNone/>
            </a:pPr>
            <a:r>
              <a:rPr lang="en-US" sz="1100" b="1" spc="100" kern="0" dirty="0">
                <a:solidFill>
                  <a:schemeClr val="accent3"/>
                </a:solidFill>
              </a:rPr>
              <a:t>SOLUCIONES · EJERCICIOS 4 Y 5</a:t>
            </a:r>
            <a:endParaRPr lang="en-US" sz="1100" dirty="0"/>
          </a:p>
        </p:txBody>
      </p:sp>
      <p:sp>
        <p:nvSpPr>
          <p:cNvPr id="3" name="Text 0"/>
          <p:cNvSpPr/>
          <p:nvPr>
            <p:ph idx="101" type="title" hasCustomPrompt="1"/>
          </p:nvPr>
        </p:nvSpPr>
        <p:spPr>
          <a:xfrm>
            <a:off x="457200" y="5029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Modelo múltiple y variables que no aportan</a:t>
            </a:r>
            <a:endParaRPr lang="en-US" sz="2800" dirty="0"/>
          </a:p>
        </p:txBody>
      </p:sp>
      <p:sp>
        <p:nvSpPr>
          <p:cNvPr id="4" name="Tarjeta"/>
          <p:cNvSpPr/>
          <p:nvPr/>
        </p:nvSpPr>
        <p:spPr>
          <a:xfrm>
            <a:off x="457200" y="1234440"/>
            <a:ext cx="3977640" cy="3337560"/>
          </a:xfrm>
          <a:prstGeom prst="roundRect">
            <a:avLst>
              <a:gd name="adj" fmla="val 2192"/>
            </a:avLst>
          </a:prstGeom>
          <a:solidFill>
            <a:schemeClr val="bg2"/>
          </a:solidFill>
          <a:ln w="12700">
            <a:solidFill>
              <a:schemeClr val="bg2"/>
            </a:solidFill>
            <a:prstDash val="solid"/>
          </a:ln>
        </p:spPr>
      </p:sp>
      <p:sp>
        <p:nvSpPr>
          <p:cNvPr id="5" name="Círculo número"/>
          <p:cNvSpPr/>
          <p:nvPr/>
        </p:nvSpPr>
        <p:spPr>
          <a:xfrm>
            <a:off x="594360" y="1371600"/>
            <a:ext cx="411480" cy="411480"/>
          </a:xfrm>
          <a:prstGeom prst="ellipse">
            <a:avLst/>
          </a:prstGeom>
          <a:solidFill>
            <a:schemeClr val="accent1"/>
          </a:solidFill>
          <a:ln w="12700">
            <a:solidFill>
              <a:schemeClr val="accent1"/>
            </a:solidFill>
            <a:prstDash val="solid"/>
          </a:ln>
        </p:spPr>
      </p:sp>
      <p:sp>
        <p:nvSpPr>
          <p:cNvPr id="6" name="Text 4"/>
          <p:cNvSpPr txBox="1"/>
          <p:nvPr/>
        </p:nvSpPr>
        <p:spPr>
          <a:xfrm>
            <a:off x="594360" y="1371600"/>
            <a:ext cx="411480" cy="411480"/>
          </a:xfrm>
          <a:prstGeom prst="rect">
            <a:avLst/>
          </a:prstGeom>
          <a:no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7" name="Text 5"/>
          <p:cNvSpPr txBox="1"/>
          <p:nvPr/>
        </p:nvSpPr>
        <p:spPr>
          <a:xfrm>
            <a:off x="1143000" y="1371600"/>
            <a:ext cx="3108960" cy="411480"/>
          </a:xfrm>
          <a:prstGeom prst="rect">
            <a:avLst/>
          </a:prstGeom>
          <a:noFill/>
          <a:ln/>
        </p:spPr>
        <p:txBody>
          <a:bodyPr wrap="square" lIns="0" tIns="0" rIns="0" bIns="0" rtlCol="0" anchor="ctr"/>
          <a:lstStyle/>
          <a:p>
            <a:pPr indent="0" marL="0">
              <a:buNone/>
            </a:pPr>
            <a:r>
              <a:rPr lang="en-US" sz="1400" b="1" dirty="0">
                <a:solidFill>
                  <a:schemeClr val="tx2"/>
                </a:solidFill>
              </a:rPr>
              <a:t>Regresión múltiple</a:t>
            </a:r>
            <a:endParaRPr lang="en-US" sz="1400" dirty="0"/>
          </a:p>
        </p:txBody>
      </p:sp>
      <p:sp>
        <p:nvSpPr>
          <p:cNvPr id="8" name="Bloque de código"/>
          <p:cNvSpPr/>
          <p:nvPr/>
        </p:nvSpPr>
        <p:spPr>
          <a:xfrm>
            <a:off x="594360" y="1874520"/>
            <a:ext cx="3703320" cy="1417320"/>
          </a:xfrm>
          <a:prstGeom prst="roundRect">
            <a:avLst>
              <a:gd name="adj" fmla="val 5161"/>
            </a:avLst>
          </a:prstGeom>
          <a:solidFill>
            <a:schemeClr val="tx2"/>
          </a:solidFill>
          <a:ln w="12700">
            <a:solidFill>
              <a:schemeClr val="tx2"/>
            </a:solidFill>
            <a:prstDash val="solid"/>
          </a:ln>
        </p:spPr>
      </p:sp>
      <p:sp>
        <p:nvSpPr>
          <p:cNvPr id="9" name="Text 7"/>
          <p:cNvSpPr txBox="1"/>
          <p:nvPr/>
        </p:nvSpPr>
        <p:spPr>
          <a:xfrm>
            <a:off x="731520" y="1965960"/>
            <a:ext cx="3429000" cy="1234440"/>
          </a:xfrm>
          <a:prstGeom prst="rect">
            <a:avLst/>
          </a:prstGeom>
          <a:noFill/>
          <a:ln/>
        </p:spPr>
        <p:txBody>
          <a:bodyPr wrap="square" lIns="0" tIns="0" rIns="0" bIns="0" rtlCol="0" anchor="t"/>
          <a:lstStyle/>
          <a:p>
            <a:pPr indent="0" marL="0">
              <a:spcAft>
                <a:spcPts val="200"/>
              </a:spcAft>
              <a:buNone/>
            </a:pPr>
            <a:r>
              <a:rPr lang="en-US" sz="1000" dirty="0">
                <a:solidFill>
                  <a:schemeClr val="bg1"/>
                </a:solidFill>
                <a:latin typeface="Courier New" pitchFamily="34" charset="0"/>
                <a:ea typeface="Courier New" pitchFamily="34" charset="-122"/>
                <a:cs typeface="Courier New" pitchFamily="34" charset="-120"/>
              </a:rPr>
              <a:t>datos = df.dropna(</a:t>
            </a:r>
            <a:endParaRPr lang="en-US" sz="1000" dirty="0"/>
          </a:p>
          <a:p>
            <a:pPr indent="0" marL="0">
              <a:spcAft>
                <a:spcPts val="200"/>
              </a:spcAft>
              <a:buNone/>
            </a:pPr>
            <a:r>
              <a:rPr lang="en-US" sz="1000" dirty="0">
                <a:solidFill>
                  <a:schemeClr val="bg1"/>
                </a:solidFill>
                <a:latin typeface="Courier New" pitchFamily="34" charset="0"/>
                <a:ea typeface="Courier New" pitchFamily="34" charset="-122"/>
                <a:cs typeface="Courier New" pitchFamily="34" charset="-120"/>
              </a:rPr>
              <a:t>    subset=["horas_sueno"])</a:t>
            </a:r>
            <a:endParaRPr lang="en-US" sz="1000" dirty="0"/>
          </a:p>
          <a:p>
            <a:pPr indent="0" marL="0">
              <a:spcAft>
                <a:spcPts val="200"/>
              </a:spcAft>
              <a:buNone/>
            </a:pPr>
            <a:r>
              <a:rPr lang="en-US" sz="1000" dirty="0">
                <a:solidFill>
                  <a:schemeClr val="bg1"/>
                </a:solidFill>
                <a:latin typeface="Courier New" pitchFamily="34" charset="0"/>
                <a:ea typeface="Courier New" pitchFamily="34" charset="-122"/>
                <a:cs typeface="Courier New" pitchFamily="34" charset="-120"/>
              </a:rPr>
              <a:t>smf.ols("nota_final ~ horas_estudio"</a:t>
            </a:r>
            <a:endParaRPr lang="en-US" sz="1000" dirty="0"/>
          </a:p>
          <a:p>
            <a:pPr indent="0" marL="0">
              <a:spcAft>
                <a:spcPts val="200"/>
              </a:spcAft>
              <a:buNone/>
            </a:pPr>
            <a:r>
              <a:rPr lang="en-US" sz="1000" dirty="0">
                <a:solidFill>
                  <a:schemeClr val="bg1"/>
                </a:solidFill>
                <a:latin typeface="Courier New" pitchFamily="34" charset="0"/>
                <a:ea typeface="Courier New" pitchFamily="34" charset="-122"/>
                <a:cs typeface="Courier New" pitchFamily="34" charset="-120"/>
              </a:rPr>
              <a:t>  " + asistencia + horas_sueno"</a:t>
            </a:r>
            <a:endParaRPr lang="en-US" sz="1000" dirty="0"/>
          </a:p>
          <a:p>
            <a:pPr indent="0" marL="0">
              <a:spcAft>
                <a:spcPts val="200"/>
              </a:spcAft>
              <a:buNone/>
            </a:pPr>
            <a:r>
              <a:rPr lang="en-US" sz="1000" dirty="0">
                <a:solidFill>
                  <a:schemeClr val="bg1"/>
                </a:solidFill>
                <a:latin typeface="Courier New" pitchFamily="34" charset="0"/>
                <a:ea typeface="Courier New" pitchFamily="34" charset="-122"/>
                <a:cs typeface="Courier New" pitchFamily="34" charset="-120"/>
              </a:rPr>
              <a:t>  " + C(trabaja)", data=datos).fit()</a:t>
            </a:r>
            <a:endParaRPr lang="en-US" sz="1000" dirty="0"/>
          </a:p>
        </p:txBody>
      </p:sp>
      <p:sp>
        <p:nvSpPr>
          <p:cNvPr id="10" name="Text 8"/>
          <p:cNvSpPr txBox="1"/>
          <p:nvPr/>
        </p:nvSpPr>
        <p:spPr>
          <a:xfrm>
            <a:off x="594360" y="3429000"/>
            <a:ext cx="1188720" cy="548640"/>
          </a:xfrm>
          <a:prstGeom prst="rect">
            <a:avLst/>
          </a:prstGeom>
          <a:noFill/>
          <a:ln/>
        </p:spPr>
        <p:txBody>
          <a:bodyPr wrap="square" lIns="0" tIns="0" rIns="0" bIns="0" rtlCol="0" anchor="ctr"/>
          <a:lstStyle/>
          <a:p>
            <a:pPr algn="ctr" indent="0" marL="0">
              <a:buNone/>
            </a:pPr>
            <a:r>
              <a:rPr lang="en-US" sz="2600" b="1" dirty="0">
                <a:solidFill>
                  <a:schemeClr val="accent3"/>
                </a:solidFill>
              </a:rPr>
              <a:t>146</a:t>
            </a:r>
            <a:endParaRPr lang="en-US" sz="2600" dirty="0"/>
          </a:p>
        </p:txBody>
      </p:sp>
      <p:sp>
        <p:nvSpPr>
          <p:cNvPr id="11" name="Text 9"/>
          <p:cNvSpPr txBox="1"/>
          <p:nvPr/>
        </p:nvSpPr>
        <p:spPr>
          <a:xfrm>
            <a:off x="594360" y="3977640"/>
            <a:ext cx="1188720" cy="320040"/>
          </a:xfrm>
          <a:prstGeom prst="rect">
            <a:avLst/>
          </a:prstGeom>
          <a:noFill/>
          <a:ln/>
        </p:spPr>
        <p:txBody>
          <a:bodyPr wrap="square" lIns="0" tIns="0" rIns="0" bIns="0" rtlCol="0" anchor="ctr"/>
          <a:lstStyle/>
          <a:p>
            <a:pPr algn="ctr" indent="0" marL="0">
              <a:buNone/>
            </a:pPr>
            <a:r>
              <a:rPr lang="en-US" sz="1100" dirty="0">
                <a:solidFill>
                  <a:schemeClr val="tx1"/>
                </a:solidFill>
              </a:rPr>
              <a:t>filas</a:t>
            </a:r>
            <a:endParaRPr lang="en-US" sz="1100" dirty="0"/>
          </a:p>
        </p:txBody>
      </p:sp>
      <p:sp>
        <p:nvSpPr>
          <p:cNvPr id="12" name="Text 10"/>
          <p:cNvSpPr txBox="1"/>
          <p:nvPr/>
        </p:nvSpPr>
        <p:spPr>
          <a:xfrm>
            <a:off x="1847088" y="3429000"/>
            <a:ext cx="1188720" cy="548640"/>
          </a:xfrm>
          <a:prstGeom prst="rect">
            <a:avLst/>
          </a:prstGeom>
          <a:noFill/>
          <a:ln/>
        </p:spPr>
        <p:txBody>
          <a:bodyPr wrap="square" lIns="0" tIns="0" rIns="0" bIns="0" rtlCol="0" anchor="ctr"/>
          <a:lstStyle/>
          <a:p>
            <a:pPr algn="ctr" indent="0" marL="0">
              <a:buNone/>
            </a:pPr>
            <a:r>
              <a:rPr lang="en-US" sz="2600" b="1" dirty="0">
                <a:solidFill>
                  <a:schemeClr val="accent3"/>
                </a:solidFill>
              </a:rPr>
              <a:t>0,30</a:t>
            </a:r>
            <a:endParaRPr lang="en-US" sz="2600" dirty="0"/>
          </a:p>
        </p:txBody>
      </p:sp>
      <p:sp>
        <p:nvSpPr>
          <p:cNvPr id="13" name="Text 11"/>
          <p:cNvSpPr txBox="1"/>
          <p:nvPr/>
        </p:nvSpPr>
        <p:spPr>
          <a:xfrm>
            <a:off x="1847088" y="3977640"/>
            <a:ext cx="1188720" cy="320040"/>
          </a:xfrm>
          <a:prstGeom prst="rect">
            <a:avLst/>
          </a:prstGeom>
          <a:noFill/>
          <a:ln/>
        </p:spPr>
        <p:txBody>
          <a:bodyPr wrap="square" lIns="0" tIns="0" rIns="0" bIns="0" rtlCol="0" anchor="ctr"/>
          <a:lstStyle/>
          <a:p>
            <a:pPr algn="ctr" indent="0" marL="0">
              <a:buNone/>
            </a:pPr>
            <a:r>
              <a:rPr lang="en-US" sz="1100" dirty="0">
                <a:solidFill>
                  <a:schemeClr val="tx1"/>
                </a:solidFill>
              </a:rPr>
              <a:t>horas_estudio</a:t>
            </a:r>
            <a:endParaRPr lang="en-US" sz="1100" dirty="0"/>
          </a:p>
        </p:txBody>
      </p:sp>
      <p:sp>
        <p:nvSpPr>
          <p:cNvPr id="14" name="Text 12"/>
          <p:cNvSpPr txBox="1"/>
          <p:nvPr/>
        </p:nvSpPr>
        <p:spPr>
          <a:xfrm>
            <a:off x="3099816" y="3429000"/>
            <a:ext cx="1188720" cy="548640"/>
          </a:xfrm>
          <a:prstGeom prst="rect">
            <a:avLst/>
          </a:prstGeom>
          <a:noFill/>
          <a:ln/>
        </p:spPr>
        <p:txBody>
          <a:bodyPr wrap="square" lIns="0" tIns="0" rIns="0" bIns="0" rtlCol="0" anchor="ctr"/>
          <a:lstStyle/>
          <a:p>
            <a:pPr algn="ctr" indent="0" marL="0">
              <a:buNone/>
            </a:pPr>
            <a:r>
              <a:rPr lang="en-US" sz="2600" b="1" dirty="0">
                <a:solidFill>
                  <a:schemeClr val="accent3"/>
                </a:solidFill>
              </a:rPr>
              <a:t>0,72</a:t>
            </a:r>
            <a:endParaRPr lang="en-US" sz="2600" dirty="0"/>
          </a:p>
        </p:txBody>
      </p:sp>
      <p:sp>
        <p:nvSpPr>
          <p:cNvPr id="15" name="Text 13"/>
          <p:cNvSpPr txBox="1"/>
          <p:nvPr/>
        </p:nvSpPr>
        <p:spPr>
          <a:xfrm>
            <a:off x="3099816" y="3977640"/>
            <a:ext cx="1188720" cy="320040"/>
          </a:xfrm>
          <a:prstGeom prst="rect">
            <a:avLst/>
          </a:prstGeom>
          <a:noFill/>
          <a:ln/>
        </p:spPr>
        <p:txBody>
          <a:bodyPr wrap="square" lIns="0" tIns="0" rIns="0" bIns="0" rtlCol="0" anchor="ctr"/>
          <a:lstStyle/>
          <a:p>
            <a:pPr algn="ctr" indent="0" marL="0">
              <a:buNone/>
            </a:pPr>
            <a:r>
              <a:rPr lang="en-US" sz="1100" dirty="0">
                <a:solidFill>
                  <a:schemeClr val="tx1"/>
                </a:solidFill>
              </a:rPr>
              <a:t>R² ajustado</a:t>
            </a:r>
            <a:endParaRPr lang="en-US" sz="1100" dirty="0"/>
          </a:p>
        </p:txBody>
      </p:sp>
      <p:sp>
        <p:nvSpPr>
          <p:cNvPr id="16" name="Tarjeta"/>
          <p:cNvSpPr/>
          <p:nvPr/>
        </p:nvSpPr>
        <p:spPr>
          <a:xfrm>
            <a:off x="4709160" y="1234440"/>
            <a:ext cx="3977640" cy="3337560"/>
          </a:xfrm>
          <a:prstGeom prst="roundRect">
            <a:avLst>
              <a:gd name="adj" fmla="val 2192"/>
            </a:avLst>
          </a:prstGeom>
          <a:solidFill>
            <a:schemeClr val="bg2"/>
          </a:solidFill>
          <a:ln w="12700">
            <a:solidFill>
              <a:schemeClr val="bg2"/>
            </a:solidFill>
            <a:prstDash val="solid"/>
          </a:ln>
        </p:spPr>
      </p:sp>
      <p:sp>
        <p:nvSpPr>
          <p:cNvPr id="17" name="Círculo número"/>
          <p:cNvSpPr/>
          <p:nvPr/>
        </p:nvSpPr>
        <p:spPr>
          <a:xfrm>
            <a:off x="4846320" y="1371600"/>
            <a:ext cx="411480" cy="411480"/>
          </a:xfrm>
          <a:prstGeom prst="ellipse">
            <a:avLst/>
          </a:prstGeom>
          <a:solidFill>
            <a:schemeClr val="accent1"/>
          </a:solidFill>
          <a:ln w="12700">
            <a:solidFill>
              <a:schemeClr val="accent1"/>
            </a:solidFill>
            <a:prstDash val="solid"/>
          </a:ln>
        </p:spPr>
      </p:sp>
      <p:sp>
        <p:nvSpPr>
          <p:cNvPr id="18" name="Text 16"/>
          <p:cNvSpPr txBox="1"/>
          <p:nvPr/>
        </p:nvSpPr>
        <p:spPr>
          <a:xfrm>
            <a:off x="4846320" y="1371600"/>
            <a:ext cx="411480" cy="411480"/>
          </a:xfrm>
          <a:prstGeom prst="rect">
            <a:avLst/>
          </a:prstGeom>
          <a:noFill/>
          <a:ln/>
        </p:spPr>
        <p:txBody>
          <a:bodyPr wrap="square" lIns="0" tIns="0" rIns="0" bIns="0" rtlCol="0" anchor="ctr"/>
          <a:lstStyle/>
          <a:p>
            <a:pPr algn="ctr" indent="0" marL="0">
              <a:buNone/>
            </a:pPr>
            <a:r>
              <a:rPr lang="en-US" sz="1600" b="1" dirty="0">
                <a:solidFill>
                  <a:schemeClr val="tx2"/>
                </a:solidFill>
              </a:rPr>
              <a:t>5</a:t>
            </a:r>
            <a:endParaRPr lang="en-US" sz="1600" dirty="0"/>
          </a:p>
        </p:txBody>
      </p:sp>
      <p:sp>
        <p:nvSpPr>
          <p:cNvPr id="19" name="Text 17"/>
          <p:cNvSpPr txBox="1"/>
          <p:nvPr/>
        </p:nvSpPr>
        <p:spPr>
          <a:xfrm>
            <a:off x="5394960" y="1371600"/>
            <a:ext cx="3108960" cy="411480"/>
          </a:xfrm>
          <a:prstGeom prst="rect">
            <a:avLst/>
          </a:prstGeom>
          <a:noFill/>
          <a:ln/>
        </p:spPr>
        <p:txBody>
          <a:bodyPr wrap="square" lIns="0" tIns="0" rIns="0" bIns="0" rtlCol="0" anchor="ctr"/>
          <a:lstStyle/>
          <a:p>
            <a:pPr indent="0" marL="0">
              <a:buNone/>
            </a:pPr>
            <a:r>
              <a:rPr lang="en-US" sz="1400" b="1" dirty="0">
                <a:solidFill>
                  <a:schemeClr val="tx2"/>
                </a:solidFill>
              </a:rPr>
              <a:t>No significativas</a:t>
            </a:r>
            <a:endParaRPr lang="en-US" sz="1400" dirty="0"/>
          </a:p>
        </p:txBody>
      </p:sp>
      <p:sp>
        <p:nvSpPr>
          <p:cNvPr id="20" name="Bloque de código"/>
          <p:cNvSpPr/>
          <p:nvPr/>
        </p:nvSpPr>
        <p:spPr>
          <a:xfrm>
            <a:off x="4846320" y="1874520"/>
            <a:ext cx="3703320" cy="1143000"/>
          </a:xfrm>
          <a:prstGeom prst="roundRect">
            <a:avLst>
              <a:gd name="adj" fmla="val 6400"/>
            </a:avLst>
          </a:prstGeom>
          <a:solidFill>
            <a:schemeClr val="tx2"/>
          </a:solidFill>
          <a:ln w="12700">
            <a:solidFill>
              <a:schemeClr val="tx2"/>
            </a:solidFill>
            <a:prstDash val="solid"/>
          </a:ln>
        </p:spPr>
      </p:sp>
      <p:sp>
        <p:nvSpPr>
          <p:cNvPr id="21" name="Text 19"/>
          <p:cNvSpPr txBox="1"/>
          <p:nvPr/>
        </p:nvSpPr>
        <p:spPr>
          <a:xfrm>
            <a:off x="4983480" y="1965960"/>
            <a:ext cx="3429000" cy="960120"/>
          </a:xfrm>
          <a:prstGeom prst="rect">
            <a:avLst/>
          </a:prstGeom>
          <a:noFill/>
          <a:ln/>
        </p:spPr>
        <p:txBody>
          <a:bodyPr wrap="square" lIns="0" tIns="0" rIns="0" bIns="0" rtlCol="0" anchor="t"/>
          <a:lstStyle/>
          <a:p>
            <a:pPr indent="0" marL="0">
              <a:spcAft>
                <a:spcPts val="200"/>
              </a:spcAft>
              <a:buNone/>
            </a:pPr>
            <a:r>
              <a:rPr lang="en-US" sz="1000" dirty="0">
                <a:solidFill>
                  <a:schemeClr val="bg1"/>
                </a:solidFill>
                <a:latin typeface="Courier New" pitchFamily="34" charset="0"/>
                <a:ea typeface="Courier New" pitchFamily="34" charset="-122"/>
                <a:cs typeface="Courier New" pitchFamily="34" charset="-120"/>
              </a:rPr>
              <a:t>p = modelo.pvalues.drop("Intercept")</a:t>
            </a:r>
            <a:endParaRPr lang="en-US" sz="1000" dirty="0"/>
          </a:p>
          <a:p>
            <a:pPr indent="0" marL="0">
              <a:spcAft>
                <a:spcPts val="200"/>
              </a:spcAft>
              <a:buNone/>
            </a:pPr>
            <a:r>
              <a:rPr lang="en-US" sz="1000" dirty="0">
                <a:solidFill>
                  <a:schemeClr val="bg1"/>
                </a:solidFill>
                <a:latin typeface="Courier New" pitchFamily="34" charset="0"/>
                <a:ea typeface="Courier New" pitchFamily="34" charset="-122"/>
                <a:cs typeface="Courier New" pitchFamily="34" charset="-120"/>
              </a:rPr>
              <a:t>p[p &gt;= 0.05].index.tolist()</a:t>
            </a:r>
            <a:endParaRPr lang="en-US" sz="1000" dirty="0"/>
          </a:p>
        </p:txBody>
      </p:sp>
      <p:sp>
        <p:nvSpPr>
          <p:cNvPr id="22" name="Text 20"/>
          <p:cNvSpPr txBox="1"/>
          <p:nvPr/>
        </p:nvSpPr>
        <p:spPr>
          <a:xfrm>
            <a:off x="4846320" y="3154680"/>
            <a:ext cx="3703320" cy="548640"/>
          </a:xfrm>
          <a:prstGeom prst="rect">
            <a:avLst/>
          </a:prstGeom>
          <a:noFill/>
          <a:ln/>
        </p:spPr>
        <p:txBody>
          <a:bodyPr wrap="square" lIns="0" tIns="0" rIns="0" bIns="0" rtlCol="0" anchor="ctr"/>
          <a:lstStyle/>
          <a:p>
            <a:pPr algn="ctr" indent="0" marL="0">
              <a:buNone/>
            </a:pPr>
            <a:r>
              <a:rPr lang="en-US" sz="1800" b="1" dirty="0">
                <a:solidFill>
                  <a:schemeClr val="accent4"/>
                </a:solidFill>
                <a:latin typeface="Courier New" pitchFamily="34" charset="0"/>
                <a:ea typeface="Courier New" pitchFamily="34" charset="-122"/>
                <a:cs typeface="Courier New" pitchFamily="34" charset="-120"/>
              </a:rPr>
              <a:t>['horas_sueno']</a:t>
            </a:r>
            <a:endParaRPr lang="en-US" sz="1800" dirty="0"/>
          </a:p>
        </p:txBody>
      </p:sp>
      <p:sp>
        <p:nvSpPr>
          <p:cNvPr id="23" name="Text 21"/>
          <p:cNvSpPr txBox="1"/>
          <p:nvPr/>
        </p:nvSpPr>
        <p:spPr>
          <a:xfrm>
            <a:off x="4846320" y="3794760"/>
            <a:ext cx="3703320" cy="640080"/>
          </a:xfrm>
          <a:prstGeom prst="rect">
            <a:avLst/>
          </a:prstGeom>
          <a:noFill/>
          <a:ln/>
        </p:spPr>
        <p:txBody>
          <a:bodyPr wrap="square" lIns="0" tIns="0" rIns="0" bIns="0" rtlCol="0" anchor="t"/>
          <a:lstStyle/>
          <a:p>
            <a:pPr algn="ctr" indent="0" marL="0">
              <a:buNone/>
            </a:pPr>
            <a:r>
              <a:rPr lang="en-US" sz="1100" i="1" dirty="0">
                <a:solidFill>
                  <a:schemeClr val="tx1"/>
                </a:solidFill>
              </a:rPr>
              <a:t>p = 0,93: dormir más o menos no cambia la nota en estos datos.</a:t>
            </a:r>
            <a:endParaRPr lang="en-US" sz="11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4937760" cy="1463040"/>
          </a:xfrm>
          <a:prstGeom prst="rect">
            <a:avLst/>
          </a:prstGeom>
          <a:noFill/>
          <a:ln/>
        </p:spPr>
        <p:txBody>
          <a:bodyPr wrap="square" lIns="0" tIns="0" rIns="0" bIns="0" rtlCol="0" anchor="b"/>
          <a:lstStyle/>
          <a:p>
            <a:pPr algn="l" indent="0" marL="0">
              <a:buNone/>
            </a:pPr>
            <a:r>
              <a:rPr lang="en-US" sz="4200" b="1" dirty="0">
                <a:solidFill>
                  <a:schemeClr val="bg1"/>
                </a:solidFill>
              </a:rPr>
              <a:t>Del CSV a un modelo</a:t>
            </a:r>
            <a:endParaRPr lang="en-US" sz="4200" dirty="0"/>
          </a:p>
        </p:txBody>
      </p:sp>
      <p:sp>
        <p:nvSpPr>
          <p:cNvPr id="3" name="Text 0"/>
          <p:cNvSpPr/>
          <p:nvPr>
            <p:ph idx="101" type="body" hasCustomPrompt="1"/>
          </p:nvPr>
        </p:nvSpPr>
        <p:spPr>
          <a:xfrm>
            <a:off x="548640" y="2788920"/>
            <a:ext cx="4754880" cy="1097280"/>
          </a:xfrm>
          <a:prstGeom prst="rect">
            <a:avLst/>
          </a:prstGeom>
          <a:noFill/>
          <a:ln/>
        </p:spPr>
        <p:txBody>
          <a:bodyPr wrap="square" lIns="0" tIns="0" rIns="0" bIns="0" rtlCol="0" anchor="t"/>
          <a:lstStyle/>
          <a:p>
            <a:pPr indent="0" marL="0">
              <a:buNone/>
            </a:pPr>
            <a:r>
              <a:rPr lang="en-US" sz="1600" dirty="0">
                <a:solidFill>
                  <a:schemeClr val="accent1"/>
                </a:solidFill>
              </a:rPr>
              <a:t>Programación en Python · Módulo de Pandas completo</a:t>
            </a:r>
            <a:endParaRPr lang="en-US" sz="1600" dirty="0"/>
          </a:p>
          <a:p>
            <a:pPr indent="0" marL="0">
              <a:buNone/>
            </a:pPr>
            <a:r>
              <a:rPr lang="en-US" sz="1600" dirty="0">
                <a:solidFill>
                  <a:schemeClr val="accent1"/>
                </a:solidFill>
              </a:rPr>
              <a:t>Seis unidades, un mismo flujo de trabajo</a:t>
            </a:r>
            <a:endParaRPr lang="en-US" sz="1600" dirty="0"/>
          </a:p>
        </p:txBody>
      </p:sp>
      <p:sp>
        <p:nvSpPr>
          <p:cNvPr id="4" name="Círculo número"/>
          <p:cNvSpPr/>
          <p:nvPr/>
        </p:nvSpPr>
        <p:spPr>
          <a:xfrm>
            <a:off x="5760720" y="685800"/>
            <a:ext cx="411480" cy="411480"/>
          </a:xfrm>
          <a:prstGeom prst="ellipse">
            <a:avLst/>
          </a:prstGeom>
          <a:solidFill>
            <a:schemeClr val="accent1"/>
          </a:solidFill>
          <a:ln w="12700">
            <a:solidFill>
              <a:schemeClr val="accent1"/>
            </a:solidFill>
            <a:prstDash val="solid"/>
          </a:ln>
        </p:spPr>
      </p:sp>
      <p:sp>
        <p:nvSpPr>
          <p:cNvPr id="5" name="Text 3"/>
          <p:cNvSpPr txBox="1"/>
          <p:nvPr/>
        </p:nvSpPr>
        <p:spPr>
          <a:xfrm>
            <a:off x="5760720" y="685800"/>
            <a:ext cx="411480" cy="411480"/>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6" name="Text 4"/>
          <p:cNvSpPr txBox="1"/>
          <p:nvPr/>
        </p:nvSpPr>
        <p:spPr>
          <a:xfrm>
            <a:off x="6309360" y="685800"/>
            <a:ext cx="2560320" cy="411480"/>
          </a:xfrm>
          <a:prstGeom prst="rect">
            <a:avLst/>
          </a:prstGeom>
          <a:noFill/>
          <a:ln/>
        </p:spPr>
        <p:txBody>
          <a:bodyPr wrap="square" lIns="0" tIns="0" rIns="0" bIns="0" rtlCol="0" anchor="ctr"/>
          <a:lstStyle/>
          <a:p>
            <a:pPr indent="0" marL="0">
              <a:buNone/>
            </a:pPr>
            <a:r>
              <a:rPr lang="en-US" sz="1400" dirty="0">
                <a:solidFill>
                  <a:schemeClr val="bg1"/>
                </a:solidFill>
              </a:rPr>
              <a:t>Explorar antes de analizar</a:t>
            </a:r>
            <a:endParaRPr lang="en-US" sz="1400" dirty="0"/>
          </a:p>
        </p:txBody>
      </p:sp>
      <p:sp>
        <p:nvSpPr>
          <p:cNvPr id="7" name="Círculo número"/>
          <p:cNvSpPr/>
          <p:nvPr/>
        </p:nvSpPr>
        <p:spPr>
          <a:xfrm>
            <a:off x="5760720" y="1325880"/>
            <a:ext cx="411480" cy="411480"/>
          </a:xfrm>
          <a:prstGeom prst="ellipse">
            <a:avLst/>
          </a:prstGeom>
          <a:solidFill>
            <a:schemeClr val="accent1"/>
          </a:solidFill>
          <a:ln w="12700">
            <a:solidFill>
              <a:schemeClr val="accent1"/>
            </a:solidFill>
            <a:prstDash val="solid"/>
          </a:ln>
        </p:spPr>
      </p:sp>
      <p:sp>
        <p:nvSpPr>
          <p:cNvPr id="8" name="Text 6"/>
          <p:cNvSpPr txBox="1"/>
          <p:nvPr/>
        </p:nvSpPr>
        <p:spPr>
          <a:xfrm>
            <a:off x="5760720" y="1325880"/>
            <a:ext cx="411480" cy="411480"/>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9" name="Text 7"/>
          <p:cNvSpPr txBox="1"/>
          <p:nvPr/>
        </p:nvSpPr>
        <p:spPr>
          <a:xfrm>
            <a:off x="6309360" y="1325880"/>
            <a:ext cx="2560320" cy="411480"/>
          </a:xfrm>
          <a:prstGeom prst="rect">
            <a:avLst/>
          </a:prstGeom>
          <a:noFill/>
          <a:ln/>
        </p:spPr>
        <p:txBody>
          <a:bodyPr wrap="square" lIns="0" tIns="0" rIns="0" bIns="0" rtlCol="0" anchor="ctr"/>
          <a:lstStyle/>
          <a:p>
            <a:pPr indent="0" marL="0">
              <a:buNone/>
            </a:pPr>
            <a:r>
              <a:rPr lang="en-US" sz="1400" dirty="0">
                <a:solidFill>
                  <a:schemeClr val="bg1"/>
                </a:solidFill>
              </a:rPr>
              <a:t>Filtrar según la pregunta</a:t>
            </a:r>
            <a:endParaRPr lang="en-US" sz="1400" dirty="0"/>
          </a:p>
        </p:txBody>
      </p:sp>
      <p:sp>
        <p:nvSpPr>
          <p:cNvPr id="10" name="Círculo número"/>
          <p:cNvSpPr/>
          <p:nvPr/>
        </p:nvSpPr>
        <p:spPr>
          <a:xfrm>
            <a:off x="5760720" y="1965960"/>
            <a:ext cx="411480" cy="411480"/>
          </a:xfrm>
          <a:prstGeom prst="ellipse">
            <a:avLst/>
          </a:prstGeom>
          <a:solidFill>
            <a:schemeClr val="accent1"/>
          </a:solidFill>
          <a:ln w="12700">
            <a:solidFill>
              <a:schemeClr val="accent1"/>
            </a:solidFill>
            <a:prstDash val="solid"/>
          </a:ln>
        </p:spPr>
      </p:sp>
      <p:sp>
        <p:nvSpPr>
          <p:cNvPr id="11" name="Text 9"/>
          <p:cNvSpPr txBox="1"/>
          <p:nvPr/>
        </p:nvSpPr>
        <p:spPr>
          <a:xfrm>
            <a:off x="5760720" y="1965960"/>
            <a:ext cx="411480" cy="411480"/>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2" name="Text 10"/>
          <p:cNvSpPr txBox="1"/>
          <p:nvPr/>
        </p:nvSpPr>
        <p:spPr>
          <a:xfrm>
            <a:off x="6309360" y="1965960"/>
            <a:ext cx="2560320" cy="411480"/>
          </a:xfrm>
          <a:prstGeom prst="rect">
            <a:avLst/>
          </a:prstGeom>
          <a:noFill/>
          <a:ln/>
        </p:spPr>
        <p:txBody>
          <a:bodyPr wrap="square" lIns="0" tIns="0" rIns="0" bIns="0" rtlCol="0" anchor="ctr"/>
          <a:lstStyle/>
          <a:p>
            <a:pPr indent="0" marL="0">
              <a:buNone/>
            </a:pPr>
            <a:r>
              <a:rPr lang="en-US" sz="1400" dirty="0">
                <a:solidFill>
                  <a:schemeClr val="bg1"/>
                </a:solidFill>
              </a:rPr>
              <a:t>Documentar cada decisión</a:t>
            </a:r>
            <a:endParaRPr lang="en-US" sz="1400" dirty="0"/>
          </a:p>
        </p:txBody>
      </p:sp>
      <p:sp>
        <p:nvSpPr>
          <p:cNvPr id="13" name="Círculo número"/>
          <p:cNvSpPr/>
          <p:nvPr/>
        </p:nvSpPr>
        <p:spPr>
          <a:xfrm>
            <a:off x="5760720" y="2606040"/>
            <a:ext cx="411480" cy="411480"/>
          </a:xfrm>
          <a:prstGeom prst="ellipse">
            <a:avLst/>
          </a:prstGeom>
          <a:solidFill>
            <a:schemeClr val="accent1"/>
          </a:solidFill>
          <a:ln w="12700">
            <a:solidFill>
              <a:schemeClr val="accent1"/>
            </a:solidFill>
            <a:prstDash val="solid"/>
          </a:ln>
        </p:spPr>
      </p:sp>
      <p:sp>
        <p:nvSpPr>
          <p:cNvPr id="14" name="Text 12"/>
          <p:cNvSpPr txBox="1"/>
          <p:nvPr/>
        </p:nvSpPr>
        <p:spPr>
          <a:xfrm>
            <a:off x="5760720" y="2606040"/>
            <a:ext cx="411480" cy="411480"/>
          </a:xfrm>
          <a:prstGeom prst="rect">
            <a:avLst/>
          </a:prstGeom>
          <a:no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15" name="Text 13"/>
          <p:cNvSpPr txBox="1"/>
          <p:nvPr/>
        </p:nvSpPr>
        <p:spPr>
          <a:xfrm>
            <a:off x="6309360" y="2606040"/>
            <a:ext cx="2560320" cy="411480"/>
          </a:xfrm>
          <a:prstGeom prst="rect">
            <a:avLst/>
          </a:prstGeom>
          <a:noFill/>
          <a:ln/>
        </p:spPr>
        <p:txBody>
          <a:bodyPr wrap="square" lIns="0" tIns="0" rIns="0" bIns="0" rtlCol="0" anchor="ctr"/>
          <a:lstStyle/>
          <a:p>
            <a:pPr indent="0" marL="0">
              <a:buNone/>
            </a:pPr>
            <a:r>
              <a:rPr lang="en-US" sz="1400" dirty="0">
                <a:solidFill>
                  <a:schemeClr val="bg1"/>
                </a:solidFill>
              </a:rPr>
              <a:t>Combinar con trazabilidad</a:t>
            </a:r>
            <a:endParaRPr lang="en-US" sz="1400" dirty="0"/>
          </a:p>
        </p:txBody>
      </p:sp>
      <p:sp>
        <p:nvSpPr>
          <p:cNvPr id="16" name="Círculo número"/>
          <p:cNvSpPr/>
          <p:nvPr/>
        </p:nvSpPr>
        <p:spPr>
          <a:xfrm>
            <a:off x="5760720" y="3246120"/>
            <a:ext cx="411480" cy="411480"/>
          </a:xfrm>
          <a:prstGeom prst="ellipse">
            <a:avLst/>
          </a:prstGeom>
          <a:solidFill>
            <a:schemeClr val="accent1"/>
          </a:solidFill>
          <a:ln w="12700">
            <a:solidFill>
              <a:schemeClr val="accent1"/>
            </a:solidFill>
            <a:prstDash val="solid"/>
          </a:ln>
        </p:spPr>
      </p:sp>
      <p:sp>
        <p:nvSpPr>
          <p:cNvPr id="17" name="Text 15"/>
          <p:cNvSpPr txBox="1"/>
          <p:nvPr/>
        </p:nvSpPr>
        <p:spPr>
          <a:xfrm>
            <a:off x="5760720" y="3246120"/>
            <a:ext cx="411480" cy="411480"/>
          </a:xfrm>
          <a:prstGeom prst="rect">
            <a:avLst/>
          </a:prstGeom>
          <a:noFill/>
          <a:ln/>
        </p:spPr>
        <p:txBody>
          <a:bodyPr wrap="square" lIns="0" tIns="0" rIns="0" bIns="0" rtlCol="0" anchor="ctr"/>
          <a:lstStyle/>
          <a:p>
            <a:pPr algn="ctr" indent="0" marL="0">
              <a:buNone/>
            </a:pPr>
            <a:r>
              <a:rPr lang="en-US" sz="1600" b="1" dirty="0">
                <a:solidFill>
                  <a:schemeClr val="tx2"/>
                </a:solidFill>
              </a:rPr>
              <a:t>5</a:t>
            </a:r>
            <a:endParaRPr lang="en-US" sz="1600" dirty="0"/>
          </a:p>
        </p:txBody>
      </p:sp>
      <p:sp>
        <p:nvSpPr>
          <p:cNvPr id="18" name="Text 16"/>
          <p:cNvSpPr txBox="1"/>
          <p:nvPr/>
        </p:nvSpPr>
        <p:spPr>
          <a:xfrm>
            <a:off x="6309360" y="3246120"/>
            <a:ext cx="2560320" cy="411480"/>
          </a:xfrm>
          <a:prstGeom prst="rect">
            <a:avLst/>
          </a:prstGeom>
          <a:noFill/>
          <a:ln/>
        </p:spPr>
        <p:txBody>
          <a:bodyPr wrap="square" lIns="0" tIns="0" rIns="0" bIns="0" rtlCol="0" anchor="ctr"/>
          <a:lstStyle/>
          <a:p>
            <a:pPr indent="0" marL="0">
              <a:buNone/>
            </a:pPr>
            <a:r>
              <a:rPr lang="en-US" sz="1400" dirty="0">
                <a:solidFill>
                  <a:schemeClr val="bg1"/>
                </a:solidFill>
              </a:rPr>
              <a:t>Automatizar la limpieza</a:t>
            </a:r>
            <a:endParaRPr lang="en-US" sz="1400" dirty="0"/>
          </a:p>
        </p:txBody>
      </p:sp>
      <p:sp>
        <p:nvSpPr>
          <p:cNvPr id="19" name="Círculo número"/>
          <p:cNvSpPr/>
          <p:nvPr/>
        </p:nvSpPr>
        <p:spPr>
          <a:xfrm>
            <a:off x="5760720" y="3886200"/>
            <a:ext cx="411480" cy="411480"/>
          </a:xfrm>
          <a:prstGeom prst="ellipse">
            <a:avLst/>
          </a:prstGeom>
          <a:solidFill>
            <a:schemeClr val="accent1"/>
          </a:solidFill>
          <a:ln w="12700">
            <a:solidFill>
              <a:schemeClr val="accent1"/>
            </a:solidFill>
            <a:prstDash val="solid"/>
          </a:ln>
        </p:spPr>
      </p:sp>
      <p:sp>
        <p:nvSpPr>
          <p:cNvPr id="20" name="Text 18"/>
          <p:cNvSpPr txBox="1"/>
          <p:nvPr/>
        </p:nvSpPr>
        <p:spPr>
          <a:xfrm>
            <a:off x="5760720" y="3886200"/>
            <a:ext cx="411480" cy="411480"/>
          </a:xfrm>
          <a:prstGeom prst="rect">
            <a:avLst/>
          </a:prstGeom>
          <a:noFill/>
          <a:ln/>
        </p:spPr>
        <p:txBody>
          <a:bodyPr wrap="square" lIns="0" tIns="0" rIns="0" bIns="0" rtlCol="0" anchor="ctr"/>
          <a:lstStyle/>
          <a:p>
            <a:pPr algn="ctr" indent="0" marL="0">
              <a:buNone/>
            </a:pPr>
            <a:r>
              <a:rPr lang="en-US" sz="1600" b="1" dirty="0">
                <a:solidFill>
                  <a:schemeClr val="tx2"/>
                </a:solidFill>
              </a:rPr>
              <a:t>6</a:t>
            </a:r>
            <a:endParaRPr lang="en-US" sz="1600" dirty="0"/>
          </a:p>
        </p:txBody>
      </p:sp>
      <p:sp>
        <p:nvSpPr>
          <p:cNvPr id="21" name="Text 19"/>
          <p:cNvSpPr txBox="1"/>
          <p:nvPr/>
        </p:nvSpPr>
        <p:spPr>
          <a:xfrm>
            <a:off x="6309360" y="3886200"/>
            <a:ext cx="2560320" cy="411480"/>
          </a:xfrm>
          <a:prstGeom prst="rect">
            <a:avLst/>
          </a:prstGeom>
          <a:noFill/>
          <a:ln/>
        </p:spPr>
        <p:txBody>
          <a:bodyPr wrap="square" lIns="0" tIns="0" rIns="0" bIns="0" rtlCol="0" anchor="ctr"/>
          <a:lstStyle/>
          <a:p>
            <a:pPr indent="0" marL="0">
              <a:buNone/>
            </a:pPr>
            <a:r>
              <a:rPr lang="en-US" sz="1400" dirty="0">
                <a:solidFill>
                  <a:schemeClr val="bg1"/>
                </a:solidFill>
              </a:rPr>
              <a:t>Modelar e interpretar</a:t>
            </a:r>
            <a:endParaRPr lang="en-US" sz="1400" dirty="0"/>
          </a:p>
        </p:txBody>
      </p:sp>
    </p:spTree>
  </p:cSld>
  <p:clrMapOvr>
    <a:masterClrMapping/>
  </p:clrMapOvr>
</p:sld>
</file>

<file path=ppt/theme/theme1.xml><?xml version="1.0" encoding="utf-8"?>
<a:theme xmlns:a="http://schemas.openxmlformats.org/drawingml/2006/main" name="Pandas Colab">
  <a:themeElements>
    <a:clrScheme name="Pandas Colab">
      <a:dk1>
        <a:srgbClr val="1B2430"/>
      </a:dk1>
      <a:lt1>
        <a:srgbClr val="FFFFFF"/>
      </a:lt1>
      <a:dk2>
        <a:srgbClr val="0F2A3D"/>
      </a:dk2>
      <a:lt2>
        <a:srgbClr val="EEF3F6"/>
      </a:lt2>
      <a:accent1>
        <a:srgbClr val="FFD43B"/>
      </a:accent1>
      <a:accent2>
        <a:srgbClr val="3776AB"/>
      </a:accent2>
      <a:accent3>
        <a:srgbClr val="1F7A8C"/>
      </a:accent3>
      <a:accent4>
        <a:srgbClr val="E07A5F"/>
      </a:accent4>
      <a:accent5>
        <a:srgbClr val="8FD3A8"/>
      </a:accent5>
      <a:accent6>
        <a:srgbClr val="6B7A88"/>
      </a:accent6>
      <a:hlink>
        <a:srgbClr val="3776AB"/>
      </a:hlink>
      <a:folHlink>
        <a:srgbClr val="1F7A8C"/>
      </a:folHlink>
    </a:clrScheme>
    <a:fontScheme name="Pandas Colab">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Pandas en Google Colab · Parte 3</dc:title>
  <dc:subject>PptxGenJS Presentation</dc:subject>
  <dc:creator>PptxGenJS</dc:creator>
  <cp:lastModifiedBy>PptxGenJS</cp:lastModifiedBy>
  <cp:revision>1</cp:revision>
  <dcterms:created xsi:type="dcterms:W3CDTF">2026-10-13T09:03:04Z</dcterms:created>
  <dcterms:modified xsi:type="dcterms:W3CDTF">2026-10-13T09:03:04Z</dcterms:modified>
</cp:coreProperties>
</file>