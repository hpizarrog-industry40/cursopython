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60e2f28-d556-89f3-a7ad-15a6486c6ec8}">
          <p14:sldIdLst>
            <p14:sldId id="256"/>
            <p14:sldId id="257"/>
            <p14:sldId id="258"/>
            <p14:sldId id="259"/>
          </p14:sldIdLst>
        </p14:section>
        <p14:section name="7 · Árboles y forecasting" id="{396eab42-5e09-dbf5-45ba-14a3c70c6c0e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ráctica" id="{0ef6e6f3-3aae-44ae-4dfb-669f70429b71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Exactitud según la profundidad del árbol (max_depth)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Entrenamiento</c:v>
                </c:pt>
              </c:strCache>
            </c:strRef>
          </c:tx>
          <c:spPr>
            <a:solidFill>
              <a:srgbClr val="6B7A88"/>
            </a:solidFill>
            <a:ln w="25400" cap="flat">
              <a:solidFill>
                <a:srgbClr val="6B7A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7A88"/>
              </a:solidFill>
              <a:ln w="9525" cap="flat">
                <a:solidFill>
                  <a:srgbClr val="6B7A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sin límite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</c:v>
                </c:pt>
                <c:pt idx="1">
                  <c:v>0.83</c:v>
                </c:pt>
                <c:pt idx="2">
                  <c:v>0.85</c:v>
                </c:pt>
                <c:pt idx="3">
                  <c:v>0.91</c:v>
                </c:pt>
                <c:pt idx="4">
                  <c:v>0.98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Prueba</c:v>
                </c:pt>
              </c:strCache>
            </c:strRef>
          </c:tx>
          <c:spPr>
            <a:solidFill>
              <a:srgbClr val="3776AB"/>
            </a:solidFill>
            <a:ln w="25400" cap="flat">
              <a:solidFill>
                <a:srgbClr val="377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776AB"/>
              </a:solidFill>
              <a:ln w="9525" cap="flat">
                <a:solidFill>
                  <a:srgbClr val="377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sin límite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</c:v>
                </c:pt>
                <c:pt idx="1">
                  <c:v>0.8</c:v>
                </c:pt>
                <c:pt idx="2">
                  <c:v>0.87</c:v>
                </c:pt>
                <c:pt idx="3">
                  <c:v>0.71</c:v>
                </c:pt>
                <c:pt idx="4">
                  <c:v>0.8</c:v>
                </c:pt>
                <c:pt idx="5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Exactitud en prueba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Árbol sin límite</c:v>
                  </c:pt>
                  <c:pt idx="1">
                    <c:v>Árbol prof. 3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0.87</c:v>
                </c:pt>
                <c:pt idx="2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Importancia en Random Forest (con horas_sueno a propósito)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Impureza</c:v>
                </c:pt>
              </c:strCache>
            </c:strRef>
          </c:tx>
          <c:spPr>
            <a:solidFill>
              <a:srgbClr val="6B7A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horas_estudio</c:v>
                  </c:pt>
                  <c:pt idx="1">
                    <c:v>asistencia</c:v>
                  </c:pt>
                  <c:pt idx="2">
                    <c:v>horas_sueno</c:v>
                  </c:pt>
                  <c:pt idx="3">
                    <c:v>trabaja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0.456</c:v>
                </c:pt>
                <c:pt idx="1">
                  <c:v>0.248</c:v>
                </c:pt>
                <c:pt idx="2">
                  <c:v>0.188</c:v>
                </c:pt>
                <c:pt idx="3">
                  <c:v>0.052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Permutación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horas_estudio</c:v>
                  </c:pt>
                  <c:pt idx="1">
                    <c:v>asistencia</c:v>
                  </c:pt>
                  <c:pt idx="2">
                    <c:v>horas_sueno</c:v>
                  </c:pt>
                  <c:pt idx="3">
                    <c:v>trabaja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0.288</c:v>
                </c:pt>
                <c:pt idx="1">
                  <c:v>0.002</c:v>
                </c:pt>
                <c:pt idx="2">
                  <c:v>-0.021</c:v>
                </c:pt>
                <c:pt idx="3">
                  <c:v>0.01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Predecir nota_final · error medio (MAE), menor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Regresión lineal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0.86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Asistencia promedio (%) por semana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trabaja</c:v>
                </c:pt>
              </c:strCache>
            </c:strRef>
          </c:tx>
          <c:spPr>
            <a:solidFill>
              <a:srgbClr val="3776AB"/>
            </a:solidFill>
            <a:ln w="25400" cap="flat">
              <a:solidFill>
                <a:srgbClr val="377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776AB"/>
              </a:solidFill>
              <a:ln w="9525" cap="flat">
                <a:solidFill>
                  <a:srgbClr val="377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80.55</c:v>
                </c:pt>
                <c:pt idx="1">
                  <c:v>80.53</c:v>
                </c:pt>
                <c:pt idx="2">
                  <c:v>80.55</c:v>
                </c:pt>
                <c:pt idx="3">
                  <c:v>80.74</c:v>
                </c:pt>
                <c:pt idx="4">
                  <c:v>79.12</c:v>
                </c:pt>
                <c:pt idx="5">
                  <c:v>78.63</c:v>
                </c:pt>
                <c:pt idx="6">
                  <c:v>79.81</c:v>
                </c:pt>
                <c:pt idx="7">
                  <c:v>79.93</c:v>
                </c:pt>
                <c:pt idx="8">
                  <c:v>79</c:v>
                </c:pt>
                <c:pt idx="9">
                  <c:v>78.89</c:v>
                </c:pt>
                <c:pt idx="10">
                  <c:v>76.48</c:v>
                </c:pt>
                <c:pt idx="11">
                  <c:v>77.82</c:v>
                </c:pt>
                <c:pt idx="12">
                  <c:v>77.96</c:v>
                </c:pt>
                <c:pt idx="13">
                  <c:v>77.08</c:v>
                </c:pt>
                <c:pt idx="14">
                  <c:v>78.08</c:v>
                </c:pt>
                <c:pt idx="15">
                  <c:v>76.19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Trabaja</c:v>
                </c:pt>
              </c:strCache>
            </c:strRef>
          </c:tx>
          <c:spPr>
            <a:solidFill>
              <a:srgbClr val="E07A5F"/>
            </a:solidFill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80.45</c:v>
                </c:pt>
                <c:pt idx="1">
                  <c:v>82.23</c:v>
                </c:pt>
                <c:pt idx="2">
                  <c:v>80.16</c:v>
                </c:pt>
                <c:pt idx="3">
                  <c:v>81.77</c:v>
                </c:pt>
                <c:pt idx="4">
                  <c:v>81.02</c:v>
                </c:pt>
                <c:pt idx="5">
                  <c:v>80.61</c:v>
                </c:pt>
                <c:pt idx="6">
                  <c:v>78.16</c:v>
                </c:pt>
                <c:pt idx="7">
                  <c:v>79.84</c:v>
                </c:pt>
                <c:pt idx="8">
                  <c:v>77.77</c:v>
                </c:pt>
                <c:pt idx="9">
                  <c:v>74.86</c:v>
                </c:pt>
                <c:pt idx="10">
                  <c:v>74.07</c:v>
                </c:pt>
                <c:pt idx="11">
                  <c:v>70.89</c:v>
                </c:pt>
                <c:pt idx="12">
                  <c:v>71.73</c:v>
                </c:pt>
                <c:pt idx="13">
                  <c:v>68.41</c:v>
                </c:pt>
                <c:pt idx="14">
                  <c:v>66.68</c:v>
                </c:pt>
                <c:pt idx="15">
                  <c:v>66.11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Nota de control promedio por semana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trabaja</c:v>
                </c:pt>
              </c:strCache>
            </c:strRef>
          </c:tx>
          <c:spPr>
            <a:solidFill>
              <a:srgbClr val="3776AB"/>
            </a:solidFill>
            <a:ln w="25400" cap="flat">
              <a:solidFill>
                <a:srgbClr val="377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776AB"/>
              </a:solidFill>
              <a:ln w="9525" cap="flat">
                <a:solidFill>
                  <a:srgbClr val="377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5.49</c:v>
                </c:pt>
                <c:pt idx="1">
                  <c:v>5.65</c:v>
                </c:pt>
                <c:pt idx="2">
                  <c:v>5.67</c:v>
                </c:pt>
                <c:pt idx="3">
                  <c:v>5.69</c:v>
                </c:pt>
                <c:pt idx="4">
                  <c:v>5.81</c:v>
                </c:pt>
                <c:pt idx="5">
                  <c:v>5.86</c:v>
                </c:pt>
                <c:pt idx="6">
                  <c:v>6.28</c:v>
                </c:pt>
                <c:pt idx="7">
                  <c:v>6.85</c:v>
                </c:pt>
                <c:pt idx="8">
                  <c:v>5.36</c:v>
                </c:pt>
                <c:pt idx="9">
                  <c:v>5.65</c:v>
                </c:pt>
                <c:pt idx="10">
                  <c:v>5.68</c:v>
                </c:pt>
                <c:pt idx="11">
                  <c:v>5.67</c:v>
                </c:pt>
                <c:pt idx="12">
                  <c:v>5.82</c:v>
                </c:pt>
                <c:pt idx="13">
                  <c:v>5.85</c:v>
                </c:pt>
                <c:pt idx="14">
                  <c:v>6.18</c:v>
                </c:pt>
                <c:pt idx="15">
                  <c:v>6.91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Trabaja</c:v>
                </c:pt>
              </c:strCache>
            </c:strRef>
          </c:tx>
          <c:spPr>
            <a:solidFill>
              <a:srgbClr val="E07A5F"/>
            </a:solidFill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4.52</c:v>
                </c:pt>
                <c:pt idx="1">
                  <c:v>4.54</c:v>
                </c:pt>
                <c:pt idx="2">
                  <c:v>4.46</c:v>
                </c:pt>
                <c:pt idx="3">
                  <c:v>4.54</c:v>
                </c:pt>
                <c:pt idx="4">
                  <c:v>4.49</c:v>
                </c:pt>
                <c:pt idx="5">
                  <c:v>4.74</c:v>
                </c:pt>
                <c:pt idx="6">
                  <c:v>4.78</c:v>
                </c:pt>
                <c:pt idx="7">
                  <c:v>3.96</c:v>
                </c:pt>
                <c:pt idx="8">
                  <c:v>4.45</c:v>
                </c:pt>
                <c:pt idx="9">
                  <c:v>4.53</c:v>
                </c:pt>
                <c:pt idx="10">
                  <c:v>4.53</c:v>
                </c:pt>
                <c:pt idx="11">
                  <c:v>4.34</c:v>
                </c:pt>
                <c:pt idx="12">
                  <c:v>4.47</c:v>
                </c:pt>
                <c:pt idx="13">
                  <c:v>4.54</c:v>
                </c:pt>
                <c:pt idx="14">
                  <c:v>4.53</c:v>
                </c:pt>
                <c:pt idx="15">
                  <c:v>3.64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  <c:min val="3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Error medio absoluto (MAE) en puntos · menor es mejor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Semanas 13-16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Regresión lineal</c:v>
                  </c:pt>
                  <c:pt idx="1">
                    <c:v>Media 3 semanas</c:v>
                  </c:pt>
                  <c:pt idx="2">
                    <c:v>Ingenuo (última nota)</c:v>
                  </c:pt>
                  <c:pt idx="3">
                    <c:v>Random 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0.759</c:v>
                </c:pt>
                <c:pt idx="1">
                  <c:v>0.75</c:v>
                </c:pt>
                <c:pt idx="2">
                  <c:v>0.743</c:v>
                </c:pt>
                <c:pt idx="3">
                  <c:v>0.696</c:v>
                </c:pt>
                <c:pt idx="4">
                  <c:v>0.631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Solo certamen (sem. 16)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Regresión lineal</c:v>
                  </c:pt>
                  <c:pt idx="1">
                    <c:v>Media 3 semanas</c:v>
                  </c:pt>
                  <c:pt idx="2">
                    <c:v>Ingenuo (última nota)</c:v>
                  </c:pt>
                  <c:pt idx="3">
                    <c:v>Random 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0.913</c:v>
                </c:pt>
                <c:pt idx="1">
                  <c:v>1.047</c:v>
                </c:pt>
                <c:pt idx="2">
                  <c:v>0.961</c:v>
                </c:pt>
                <c:pt idx="3">
                  <c:v>0.848</c:v>
                </c:pt>
                <c:pt idx="4">
                  <c:v>0.682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MAE en semanas 13-16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 'semana'</c:v>
                </c:pt>
              </c:strCache>
            </c:strRef>
          </c:tx>
          <c:spPr>
            <a:solidFill>
              <a:srgbClr val="6B7A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Regresión lineal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0.759</c:v>
                </c:pt>
                <c:pt idx="1">
                  <c:v>0.696</c:v>
                </c:pt>
                <c:pt idx="2">
                  <c:v>0.631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'semanas_para_certamen'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Regresión lineal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0.666</c:v>
                </c:pt>
                <c:pt idx="1">
                  <c:v>0.612</c:v>
                </c:pt>
                <c:pt idx="2">
                  <c:v>0.561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Promedio del curso: real vs. pronóstico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6B7A88"/>
            </a:solidFill>
            <a:ln w="25400" cap="flat">
              <a:solidFill>
                <a:srgbClr val="6B7A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7A88"/>
              </a:solidFill>
              <a:ln w="9525" cap="flat">
                <a:solidFill>
                  <a:srgbClr val="6B7A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13</c:v>
                  </c:pt>
                  <c:pt idx="1">
                    <c:v>14</c:v>
                  </c:pt>
                  <c:pt idx="2">
                    <c:v>15</c:v>
                  </c:pt>
                  <c:pt idx="3">
                    <c:v>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5.42</c:v>
                </c:pt>
                <c:pt idx="1">
                  <c:v>5.46</c:v>
                </c:pt>
                <c:pt idx="2">
                  <c:v>5.7</c:v>
                </c:pt>
                <c:pt idx="3">
                  <c:v>5.95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Pronóstico XGBoost</c:v>
                </c:pt>
              </c:strCache>
            </c:strRef>
          </c:tx>
          <c:spPr>
            <a:solidFill>
              <a:srgbClr val="1F7A8C"/>
            </a:solidFill>
            <a:ln w="25400" cap="flat">
              <a:solidFill>
                <a:srgbClr val="1F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7A8C"/>
              </a:solidFill>
              <a:ln w="9525" cap="flat">
                <a:solidFill>
                  <a:srgbClr val="1F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13</c:v>
                  </c:pt>
                  <c:pt idx="1">
                    <c:v>14</c:v>
                  </c:pt>
                  <c:pt idx="2">
                    <c:v>15</c:v>
                  </c:pt>
                  <c:pt idx="3">
                    <c:v>16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5.45</c:v>
                </c:pt>
                <c:pt idx="1">
                  <c:v>5.5</c:v>
                </c:pt>
                <c:pt idx="2">
                  <c:v>5.77</c:v>
                </c:pt>
                <c:pt idx="3">
                  <c:v>5.89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2"/>
          <c:min val="5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4 del módulo. Pasamos de explicar con una recta (Parte 3) a anticipar resultados con modelos basados en árboles, usando los mismos 150 estudiantes.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unidad 7 reutiliza todo lo anterior: groupby y merge (unidad 4), variables derivadas (unidad 3) y la lógica de entrenamiento y prueba (unidad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pregunta es la que mejor resuelven los árboles: clasificar. La segunda introduce la temporalidad: pronosticar el próximo valor de una serie usando solo el pasado.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datos/seguimiento_semanal.csv es un dataset simulado, coherente con rendimiento.csv: cada estudiante mantiene su nivel de estudio, asistencia y nota final de la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repositorio: 16_arbol_decision.py, 17_random_forest.py, 18_xgboost_alerta_temprana.py y 19_forecasting_semanal.py.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nodo hace una pregunta sobre una variable y un umbral; el árbol elige la pregunta que mejor separa a quienes aprueban de quienes reprueban. En Colab, export_text y plot_tree muestran el árbol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prueba: 45 estudiantes (30 %), con la misma proporción de reprobados que el total gracias a stratify=y.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Sobreajuste (overfitting): el modelo aprende detalles y ruido del entrenamiento que no se repiten en datos nuevos. max_depth es la forma más simple de controlarlo.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Mismos datos y misma división que el árbol (ejercicios 2 y 3 de la guía). El bosque reduce la variabilidad de un árbol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feature_importances_ es la importancia por impureza. permutation_importance de sklearn.inspection calcula la de permutación sobre los datos de prueba. En la unidad 6 vimos que horas_sueno tiene p = 0,65.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importante para no 'enamorarse' de los modelos complejos. En el forecasting (ejemplo 19) veremos el caso contrario: hay umbrales e interacciones y los árboles sí ganan.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= eXtreme Gradient Boosting. Viene instalado en Colab (from xgboost import XGBClassifier, XGBRegressor) y usa la misma interfaz fit/predict de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se usa información disponible en la semana 6: así el modelo es útil en la práctica, con 10 semanas por delante para intervenir.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regresión logística es el equivalente de la regresión lineal para clasificar. Con 45 estudiantes de prueba, diferencias de un estudiante mueven la exactitud en 2 puntos: no sobreinterpretar decimales.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predict_proba entrega la probabilidad, no solo la clase: permite priorizar a quién contactar primero. Discutir con los estudiantes los aspectos éticos: la alerta es para apoyar, no para etiquetar.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Siempre graficar la serie antes de modelar. El efecto del certamen depende de si el estudiante trabaja: es una interacción, justo lo que los árboles capturan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También se usan variables de calendario, que se conocen de antemano: es_certamen y semanas_para_certamen. Nunca se usa información de la misma semana que se pronostica (horas o asistencia de esa semana).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error más común en forecasting. En series de tiempo, la división siempre respeta el orden temporal.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regresión lineal queda incluso detrás del pronóstico ingenuo, porque no puede representar interacciones ni umbrales sin ayuda. Las variables más usadas por XGBoost: nota_media_acum, nota_media3 y nota_lag1.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Ingeniería de variables (feature engineering): pensar qué información del calendario o del pasado ayuda al modelo. El pronóstico del curso sigue de cerca la subida real antes del certamen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conceptual de la unidad. Los cuatro modelos usan la misma interfaz: fit para entrenar y predict / predict_proba para predecir.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ejercicios 2 y 3 usan el resultado del 1; el 5 usa el del 4. El notebook incluye una celda de interpretación para completar con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df.copy() evita modificar el DataFrame original: la comprobación automática lo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ejercicio 5 usa 5 variables: semanas_para_certamen, es_certamen, trabaja_si, nota_lag1 y nota_media3.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Parte 4. Los modelos de árboles cierran el ciclo: con datos bien preparados, podemos explicar (Parte 3) y anticipar (Parte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Programación en Python · Pandas en Google Colab · Parte 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Pandas en Google Colab · Parte 4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Modelos de predicción con árboles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Árbol de decisión, Random Forest, XGBoost y forecasting</a:t>
            </a:r>
            <a:endParaRPr lang="en-US" sz="1600" dirty="0"/>
          </a:p>
        </p:txBody>
      </p:sp>
      <p:sp>
        <p:nvSpPr>
          <p:cNvPr id="4" name="Bloque de código"/>
          <p:cNvSpPr/>
          <p:nvPr/>
        </p:nvSpPr>
        <p:spPr>
          <a:xfrm>
            <a:off x="5760720" y="1280160"/>
            <a:ext cx="29260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97880" y="13716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xgboost import (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XGBClassifier)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XGBClassifier()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m.fit(X_tr, y_tr)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m.predict_proba(X_te)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¿quién reprobará?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RUTA DE APRENDIZAJE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 explicar con una recta a anticipar con árboles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66928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Intro a Pandas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9" name="Tarjeta"/>
          <p:cNvSpPr/>
          <p:nvPr/>
        </p:nvSpPr>
        <p:spPr>
          <a:xfrm>
            <a:off x="1650492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número"/>
          <p:cNvSpPr/>
          <p:nvPr/>
        </p:nvSpPr>
        <p:spPr>
          <a:xfrm>
            <a:off x="1760220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6022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60220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Filtrar y ordenar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60220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14" name="Tarjeta"/>
          <p:cNvSpPr/>
          <p:nvPr/>
        </p:nvSpPr>
        <p:spPr>
          <a:xfrm>
            <a:off x="2843784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írculo número"/>
          <p:cNvSpPr/>
          <p:nvPr/>
        </p:nvSpPr>
        <p:spPr>
          <a:xfrm>
            <a:off x="2953512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351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Faltantes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53512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19" name="Tarjeta"/>
          <p:cNvSpPr/>
          <p:nvPr/>
        </p:nvSpPr>
        <p:spPr>
          <a:xfrm>
            <a:off x="4037076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írculo número"/>
          <p:cNvSpPr/>
          <p:nvPr/>
        </p:nvSpPr>
        <p:spPr>
          <a:xfrm>
            <a:off x="4146804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46804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46804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Combinar tablas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46804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24" name="Tarjeta"/>
          <p:cNvSpPr/>
          <p:nvPr/>
        </p:nvSpPr>
        <p:spPr>
          <a:xfrm>
            <a:off x="5230368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írculo número"/>
          <p:cNvSpPr/>
          <p:nvPr/>
        </p:nvSpPr>
        <p:spPr>
          <a:xfrm>
            <a:off x="5340096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40096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40096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Limpieza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40096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29" name="Tarjeta"/>
          <p:cNvSpPr/>
          <p:nvPr/>
        </p:nvSpPr>
        <p:spPr>
          <a:xfrm>
            <a:off x="6423660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írculo número"/>
          <p:cNvSpPr/>
          <p:nvPr/>
        </p:nvSpPr>
        <p:spPr>
          <a:xfrm>
            <a:off x="6533388" y="146304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33388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33388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Regresión lineal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33388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Completado ✓</a:t>
            </a:r>
            <a:endParaRPr lang="en-US" sz="1000" dirty="0"/>
          </a:p>
        </p:txBody>
      </p:sp>
      <p:sp>
        <p:nvSpPr>
          <p:cNvPr id="34" name="Tarjeta"/>
          <p:cNvSpPr/>
          <p:nvPr/>
        </p:nvSpPr>
        <p:spPr>
          <a:xfrm>
            <a:off x="7616952" y="1325880"/>
            <a:ext cx="1069848" cy="2377440"/>
          </a:xfrm>
          <a:prstGeom prst="roundRect">
            <a:avLst>
              <a:gd name="adj" fmla="val 68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Círculo número"/>
          <p:cNvSpPr/>
          <p:nvPr/>
        </p:nvSpPr>
        <p:spPr>
          <a:xfrm>
            <a:off x="7726680" y="14630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2668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2011680"/>
            <a:ext cx="850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Árboles y forecasting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329184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Hoy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Material nuevo: datos/seguimiento_semanal.csv, ejemplos 16 a 19, ejercicios_parte4.py y notebooks/Parte4_Arboles_Forecasting_Colab.ipynb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EL CASO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Dos preguntas sobre los mismos estudiantes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Clasificación · alerta temprana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</a:rPr>
              <a:t>¿Reprobará este estudiante?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Predice una categoría: 1 = reprueba, 0 = aprueba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Datos: rendimiento.csv y las semanas 1 a 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Métrica clave: recall (¿a cuántos detecta?)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Forecasting · temporalidad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3"/>
                </a:solidFill>
              </a:rPr>
              <a:t>¿Qué nota sacará en el control de la próxima semana?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8346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Predice un número a futuro, semana a semana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Datos: seguimiento_semanal.csv (16 semanas)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Métrica clave: MAE (error medio en puntos)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LOS DATOS NUEVOS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registro semanal de todo el semestre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id, semana, fecha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Estudiante, semana del semestre (1 a 16) y fecha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horas_estudio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Horas de estudio de esa semana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asistencia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Porcentaje de asistencia de esa semana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entrega_tarea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 si entregó la tarea semanal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nota_control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Nota del control semanal (1 a 10)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Se une con rendimiento.csv por la clave id (relación muchos a uno).</a:t>
            </a:r>
            <a:endParaRPr lang="en-US" sz="1200" dirty="0"/>
          </a:p>
        </p:txBody>
      </p:sp>
      <p:sp>
        <p:nvSpPr>
          <p:cNvPr id="6" name="Tarjeta"/>
          <p:cNvSpPr/>
          <p:nvPr/>
        </p:nvSpPr>
        <p:spPr>
          <a:xfrm>
            <a:off x="5852160" y="1234440"/>
            <a:ext cx="2834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307592"/>
            <a:ext cx="28346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2.400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858061"/>
            <a:ext cx="2651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filas: 150 estudiantes × 16 semanas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5852160" y="2377440"/>
            <a:ext cx="2834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450592"/>
            <a:ext cx="28346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8 y 16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001061"/>
            <a:ext cx="2651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semanas de certamen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852160" y="3520440"/>
            <a:ext cx="28346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0" y="3593592"/>
            <a:ext cx="28346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56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4144061"/>
            <a:ext cx="2651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estudiantes reprueban (37 %)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7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Modelos de predicción con árboles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Árbol de decisión, Random Forest y XGBoost para clasificar y pronosticar.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1 · ÁRBOL DE DECISIÓN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árbol aprende preguntas del tipo “si … entonces …”</a:t>
            </a:r>
            <a:endParaRPr lang="en-US" sz="2800" dirty="0"/>
          </a:p>
        </p:txBody>
      </p:sp>
      <p:sp>
        <p:nvSpPr>
          <p:cNvPr id="4" name="Nodo"/>
          <p:cNvSpPr/>
          <p:nvPr/>
        </p:nvSpPr>
        <p:spPr>
          <a:xfrm>
            <a:off x="2788920" y="12344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8892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¿horas_estudio ≤ 5,85?</a:t>
            </a:r>
            <a:endParaRPr lang="en-US" sz="1200" dirty="0"/>
          </a:p>
        </p:txBody>
      </p:sp>
      <p:sp>
        <p:nvSpPr>
          <p:cNvPr id="6" name="Nodo"/>
          <p:cNvSpPr/>
          <p:nvPr/>
        </p:nvSpPr>
        <p:spPr>
          <a:xfrm>
            <a:off x="685800" y="224028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¿curso = Matemáticas?</a:t>
            </a:r>
            <a:endParaRPr lang="en-US" sz="1100" dirty="0"/>
          </a:p>
        </p:txBody>
      </p:sp>
      <p:sp>
        <p:nvSpPr>
          <p:cNvPr id="8" name="Nodo"/>
          <p:cNvSpPr/>
          <p:nvPr/>
        </p:nvSpPr>
        <p:spPr>
          <a:xfrm>
            <a:off x="5166360" y="224028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¿horas_estudio ≤ 7,15?</a:t>
            </a:r>
            <a:endParaRPr lang="en-US" sz="1100" dirty="0"/>
          </a:p>
        </p:txBody>
      </p:sp>
      <p:sp>
        <p:nvSpPr>
          <p:cNvPr id="10" name="Rama"/>
          <p:cNvSpPr/>
          <p:nvPr/>
        </p:nvSpPr>
        <p:spPr>
          <a:xfrm flipH="1">
            <a:off x="1874520" y="1783080"/>
            <a:ext cx="2240280" cy="45720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340" y="187452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sí</a:t>
            </a:r>
            <a:endParaRPr lang="en-US" sz="900" dirty="0"/>
          </a:p>
        </p:txBody>
      </p:sp>
      <p:sp>
        <p:nvSpPr>
          <p:cNvPr id="12" name="Rama"/>
          <p:cNvSpPr/>
          <p:nvPr/>
        </p:nvSpPr>
        <p:spPr>
          <a:xfrm>
            <a:off x="4114800" y="1783080"/>
            <a:ext cx="2240280" cy="45720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60620" y="187452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no</a:t>
            </a:r>
            <a:endParaRPr lang="en-US" sz="900" dirty="0"/>
          </a:p>
        </p:txBody>
      </p:sp>
      <p:sp>
        <p:nvSpPr>
          <p:cNvPr id="14" name="Nodo"/>
          <p:cNvSpPr/>
          <p:nvPr/>
        </p:nvSpPr>
        <p:spPr>
          <a:xfrm>
            <a:off x="457200" y="32918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Reprueba</a:t>
            </a:r>
            <a:endParaRPr lang="en-US" sz="1200" dirty="0"/>
          </a:p>
        </p:txBody>
      </p:sp>
      <p:sp>
        <p:nvSpPr>
          <p:cNvPr id="16" name="Nodo"/>
          <p:cNvSpPr/>
          <p:nvPr/>
        </p:nvSpPr>
        <p:spPr>
          <a:xfrm>
            <a:off x="1828800" y="329184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2880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Aprueba*</a:t>
            </a:r>
            <a:endParaRPr lang="en-US" sz="1200" dirty="0"/>
          </a:p>
        </p:txBody>
      </p:sp>
      <p:sp>
        <p:nvSpPr>
          <p:cNvPr id="18" name="Nodo"/>
          <p:cNvSpPr/>
          <p:nvPr/>
        </p:nvSpPr>
        <p:spPr>
          <a:xfrm>
            <a:off x="4251960" y="3200400"/>
            <a:ext cx="201168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¿trabaja?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sí → Reprueba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no → Aprueba</a:t>
            </a:r>
            <a:endParaRPr lang="en-US" sz="1000" dirty="0"/>
          </a:p>
        </p:txBody>
      </p:sp>
      <p:sp>
        <p:nvSpPr>
          <p:cNvPr id="20" name="Nodo"/>
          <p:cNvSpPr/>
          <p:nvPr/>
        </p:nvSpPr>
        <p:spPr>
          <a:xfrm>
            <a:off x="6812280" y="3291840"/>
            <a:ext cx="11887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3291840"/>
            <a:ext cx="1188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Aprueba</a:t>
            </a:r>
            <a:endParaRPr lang="en-US" sz="1200" dirty="0"/>
          </a:p>
        </p:txBody>
      </p:sp>
      <p:sp>
        <p:nvSpPr>
          <p:cNvPr id="22" name="Rama"/>
          <p:cNvSpPr/>
          <p:nvPr/>
        </p:nvSpPr>
        <p:spPr>
          <a:xfrm flipH="1">
            <a:off x="1051560" y="2743200"/>
            <a:ext cx="822960" cy="54864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88720" y="288036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no</a:t>
            </a:r>
            <a:endParaRPr lang="en-US" sz="900" dirty="0"/>
          </a:p>
        </p:txBody>
      </p:sp>
      <p:sp>
        <p:nvSpPr>
          <p:cNvPr id="24" name="Rama"/>
          <p:cNvSpPr/>
          <p:nvPr/>
        </p:nvSpPr>
        <p:spPr>
          <a:xfrm>
            <a:off x="1874520" y="2743200"/>
            <a:ext cx="640080" cy="54864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20240" y="288036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sí</a:t>
            </a:r>
            <a:endParaRPr lang="en-US" sz="900" dirty="0"/>
          </a:p>
        </p:txBody>
      </p:sp>
      <p:sp>
        <p:nvSpPr>
          <p:cNvPr id="26" name="Rama"/>
          <p:cNvSpPr/>
          <p:nvPr/>
        </p:nvSpPr>
        <p:spPr>
          <a:xfrm flipH="1">
            <a:off x="5257800" y="2743200"/>
            <a:ext cx="1097280" cy="45720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283464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sí</a:t>
            </a:r>
            <a:endParaRPr lang="en-US" sz="900" dirty="0"/>
          </a:p>
        </p:txBody>
      </p:sp>
      <p:sp>
        <p:nvSpPr>
          <p:cNvPr id="28" name="Rama"/>
          <p:cNvSpPr/>
          <p:nvPr/>
        </p:nvSpPr>
        <p:spPr>
          <a:xfrm>
            <a:off x="6355080" y="2743200"/>
            <a:ext cx="1051560" cy="548640"/>
          </a:xfrm>
          <a:prstGeom prst="line">
            <a:avLst/>
          </a:prstGeom>
          <a:noFill/>
          <a:ln w="15875">
            <a:solidFill>
              <a:srgbClr val="6B7A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06540" y="2880360"/>
            <a:ext cx="5486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023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* si estudia más de 3,1 horas. Árbol real de 16_arbol_decision.py (max_depth=3), simplificado.</a:t>
            </a:r>
            <a:endParaRPr lang="en-US" sz="1000" dirty="0"/>
          </a:p>
        </p:txBody>
      </p:sp>
      <p:sp>
        <p:nvSpPr>
          <p:cNvPr id="31" name="Bloque de código"/>
          <p:cNvSpPr/>
          <p:nvPr/>
        </p:nvSpPr>
        <p:spPr>
          <a:xfrm>
            <a:off x="6035040" y="397764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1 · EVALUAR UNA CLASIFICACIÓN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matriz de confusión muestra en qué se equivoca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predicho →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Aprueba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real aprueba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real reprueba</a:t>
            </a:r>
            <a:endParaRPr lang="en-US" sz="1100" dirty="0"/>
          </a:p>
        </p:txBody>
      </p:sp>
      <p:sp>
        <p:nvSpPr>
          <p:cNvPr id="9" name="Celda"/>
          <p:cNvSpPr/>
          <p:nvPr/>
        </p:nvSpPr>
        <p:spPr>
          <a:xfrm>
            <a:off x="1645920" y="192024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9202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acierto</a:t>
            </a:r>
            <a:endParaRPr lang="en-US" sz="2800" dirty="0"/>
          </a:p>
        </p:txBody>
      </p:sp>
      <p:sp>
        <p:nvSpPr>
          <p:cNvPr id="11" name="Celda"/>
          <p:cNvSpPr/>
          <p:nvPr/>
        </p:nvSpPr>
        <p:spPr>
          <a:xfrm>
            <a:off x="3108960" y="192024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19202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falsa alarma</a:t>
            </a:r>
            <a:endParaRPr lang="en-US" sz="2800" dirty="0"/>
          </a:p>
        </p:txBody>
      </p:sp>
      <p:sp>
        <p:nvSpPr>
          <p:cNvPr id="13" name="Celda"/>
          <p:cNvSpPr/>
          <p:nvPr/>
        </p:nvSpPr>
        <p:spPr>
          <a:xfrm>
            <a:off x="1645920" y="297180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9718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no detectado</a:t>
            </a:r>
            <a:endParaRPr lang="en-US" sz="2800" dirty="0"/>
          </a:p>
        </p:txBody>
      </p:sp>
      <p:sp>
        <p:nvSpPr>
          <p:cNvPr id="15" name="Celda"/>
          <p:cNvSpPr/>
          <p:nvPr/>
        </p:nvSpPr>
        <p:spPr>
          <a:xfrm>
            <a:off x="3108960" y="2971800"/>
            <a:ext cx="137160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29718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detectado</a:t>
            </a:r>
            <a:endParaRPr lang="en-US" sz="2800" dirty="0"/>
          </a:p>
        </p:txBody>
      </p:sp>
      <p:sp>
        <p:nvSpPr>
          <p:cNvPr id="17" name="Tarjeta"/>
          <p:cNvSpPr/>
          <p:nvPr/>
        </p:nvSpPr>
        <p:spPr>
          <a:xfrm>
            <a:off x="5120640" y="12344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30759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0,87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0848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exactitud: aciertos / total</a:t>
            </a:r>
            <a:endParaRPr lang="en-US" sz="1200" dirty="0"/>
          </a:p>
        </p:txBody>
      </p:sp>
      <p:sp>
        <p:nvSpPr>
          <p:cNvPr id="20" name="Tarjeta"/>
          <p:cNvSpPr/>
          <p:nvPr/>
        </p:nvSpPr>
        <p:spPr>
          <a:xfrm>
            <a:off x="6995160" y="1234440"/>
            <a:ext cx="1691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1307592"/>
            <a:ext cx="1691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0,88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08483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recall: reprobados detectados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788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¿Qué error es peor?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una alerta temprana, no avisar a quien reprobará (2 casos) cuesta más que una falsa alarma (4 casos). Por eso miramos el recall.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1 · SOBREAJUSTE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 árbol sin límite memoriza en vez de aprender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5852160" y="123444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23444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100 %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2344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 entrenamiento sin límite: memoriza cada estudiante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5852160" y="242316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42316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0,87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4231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 prueba con profundidad 3: el mejor equilibrio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Cuando la curva de entrenamiento sube y la de prueba baja, el modelo está sobreajustando.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2 · RANDOM FOREST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Muchos árboles votan: el error de uno se compensa</a:t>
            </a:r>
            <a:endParaRPr lang="en-US" sz="2800" dirty="0"/>
          </a:p>
        </p:txBody>
      </p:sp>
      <p:sp>
        <p:nvSpPr>
          <p:cNvPr id="4" name="Nodo"/>
          <p:cNvSpPr/>
          <p:nvPr/>
        </p:nvSpPr>
        <p:spPr>
          <a:xfrm>
            <a:off x="457200" y="1325880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Árbol 1</a:t>
            </a:r>
            <a:endParaRPr lang="en-US" sz="1100" dirty="0"/>
          </a:p>
        </p:txBody>
      </p:sp>
      <p:sp>
        <p:nvSpPr>
          <p:cNvPr id="6" name="Flecha"/>
          <p:cNvSpPr/>
          <p:nvPr/>
        </p:nvSpPr>
        <p:spPr>
          <a:xfrm>
            <a:off x="822960" y="1938528"/>
            <a:ext cx="182880" cy="22860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odo"/>
          <p:cNvSpPr/>
          <p:nvPr/>
        </p:nvSpPr>
        <p:spPr>
          <a:xfrm>
            <a:off x="457200" y="224028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reprueba</a:t>
            </a:r>
            <a:endParaRPr lang="en-US" sz="1000" dirty="0"/>
          </a:p>
        </p:txBody>
      </p:sp>
      <p:sp>
        <p:nvSpPr>
          <p:cNvPr id="9" name="Nodo"/>
          <p:cNvSpPr/>
          <p:nvPr/>
        </p:nvSpPr>
        <p:spPr>
          <a:xfrm>
            <a:off x="1481328" y="1325880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81328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Árbol 2</a:t>
            </a:r>
            <a:endParaRPr lang="en-US" sz="1100" dirty="0"/>
          </a:p>
        </p:txBody>
      </p:sp>
      <p:sp>
        <p:nvSpPr>
          <p:cNvPr id="11" name="Flecha"/>
          <p:cNvSpPr/>
          <p:nvPr/>
        </p:nvSpPr>
        <p:spPr>
          <a:xfrm>
            <a:off x="1847088" y="1938528"/>
            <a:ext cx="182880" cy="22860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Nodo"/>
          <p:cNvSpPr/>
          <p:nvPr/>
        </p:nvSpPr>
        <p:spPr>
          <a:xfrm>
            <a:off x="1481328" y="224028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81328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reprueba</a:t>
            </a:r>
            <a:endParaRPr lang="en-US" sz="1000" dirty="0"/>
          </a:p>
        </p:txBody>
      </p:sp>
      <p:sp>
        <p:nvSpPr>
          <p:cNvPr id="14" name="Nodo"/>
          <p:cNvSpPr/>
          <p:nvPr/>
        </p:nvSpPr>
        <p:spPr>
          <a:xfrm>
            <a:off x="2505456" y="1325880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05456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Árbol 3</a:t>
            </a:r>
            <a:endParaRPr lang="en-US" sz="1100" dirty="0"/>
          </a:p>
        </p:txBody>
      </p:sp>
      <p:sp>
        <p:nvSpPr>
          <p:cNvPr id="16" name="Flecha"/>
          <p:cNvSpPr/>
          <p:nvPr/>
        </p:nvSpPr>
        <p:spPr>
          <a:xfrm>
            <a:off x="2871216" y="1938528"/>
            <a:ext cx="182880" cy="22860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Nodo"/>
          <p:cNvSpPr/>
          <p:nvPr/>
        </p:nvSpPr>
        <p:spPr>
          <a:xfrm>
            <a:off x="2505456" y="224028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05456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aprueba</a:t>
            </a:r>
            <a:endParaRPr lang="en-US" sz="1000" dirty="0"/>
          </a:p>
        </p:txBody>
      </p:sp>
      <p:sp>
        <p:nvSpPr>
          <p:cNvPr id="19" name="Nodo"/>
          <p:cNvSpPr/>
          <p:nvPr/>
        </p:nvSpPr>
        <p:spPr>
          <a:xfrm>
            <a:off x="3529584" y="1325880"/>
            <a:ext cx="9144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9584" y="1325880"/>
            <a:ext cx="914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… 200</a:t>
            </a:r>
            <a:endParaRPr lang="en-US" sz="1100" dirty="0"/>
          </a:p>
        </p:txBody>
      </p:sp>
      <p:sp>
        <p:nvSpPr>
          <p:cNvPr id="21" name="Flecha"/>
          <p:cNvSpPr/>
          <p:nvPr/>
        </p:nvSpPr>
        <p:spPr>
          <a:xfrm>
            <a:off x="3895344" y="1938528"/>
            <a:ext cx="182880" cy="228600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Nodo"/>
          <p:cNvSpPr/>
          <p:nvPr/>
        </p:nvSpPr>
        <p:spPr>
          <a:xfrm>
            <a:off x="3529584" y="224028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9584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reprueba</a:t>
            </a:r>
            <a:endParaRPr lang="en-US" sz="1000" dirty="0"/>
          </a:p>
        </p:txBody>
      </p:sp>
      <p:sp>
        <p:nvSpPr>
          <p:cNvPr id="24" name="Nodo"/>
          <p:cNvSpPr/>
          <p:nvPr/>
        </p:nvSpPr>
        <p:spPr>
          <a:xfrm>
            <a:off x="457200" y="2926080"/>
            <a:ext cx="3986784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926080"/>
            <a:ext cx="39867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Voto de la mayoría → reprueba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árbol ve una muestra al azar de estudiantes y, en cada pregunta, un subconjunto al azar de variables.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754880" y="1188720"/>
          <a:ext cx="3931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475488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Random Forest: recall 0,94 sin tener que elegir la profundidad a mano.</a:t>
            </a:r>
            <a:endParaRPr lang="en-US" sz="1200" dirty="0"/>
          </a:p>
        </p:txBody>
      </p:sp>
      <p:sp>
        <p:nvSpPr>
          <p:cNvPr id="29" name="Bloque de código"/>
          <p:cNvSpPr/>
          <p:nvPr/>
        </p:nvSpPr>
        <p:spPr>
          <a:xfrm>
            <a:off x="457200" y="4343400"/>
            <a:ext cx="402336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RandomForestClassifier(n_estimators=200)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2 · IMPORTANCIA DE VARIABLES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Dos medidas de importancia, dos conclusiones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5669280" y="1234440"/>
            <a:ext cx="30175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79008" y="1234440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Impureza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Rápida, pero favorece variables numéricas con muchos valores: le da peso a horas_sueno, que no aporta.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5669280" y="2350008"/>
            <a:ext cx="30175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79008" y="2350008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Permutación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Desordena una variable y mide cuánto empeora el modelo. horas_sueno ≈ 0: correcto.</a:t>
            </a:r>
            <a:endParaRPr lang="en-US" sz="1100" dirty="0"/>
          </a:p>
        </p:txBody>
      </p:sp>
      <p:sp>
        <p:nvSpPr>
          <p:cNvPr id="9" name="Tarjeta"/>
          <p:cNvSpPr/>
          <p:nvPr/>
        </p:nvSpPr>
        <p:spPr>
          <a:xfrm>
            <a:off x="5669280" y="3465576"/>
            <a:ext cx="301752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79008" y="3465576"/>
            <a:ext cx="28163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Ojo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asistencia también queda baja porque está correlacionada con horas_estudio (r = 0,62). Baja ≠ irrelevante.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2 · COMPARACIÓN HONESTA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árboles no siempre ganan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En rendimiento.csv la relación es lineal: la recta de la Parte 3 gana.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Situación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Suele ganar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Relación lineal, pocos datos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Regresión lineal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Necesitas explicar con reglas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Árbol pequeño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Umbrales e interacciones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Random Forest / XGBoost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Máximo rendimiento predictivo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XGBoost (bien ajustado)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75488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Regla: comparar siempre contra un modelo simple.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3 · XGBOOST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Árboles en serie que corrigen el error anterior</a:t>
            </a:r>
            <a:endParaRPr lang="en-US" sz="2800" dirty="0"/>
          </a:p>
        </p:txBody>
      </p:sp>
      <p:sp>
        <p:nvSpPr>
          <p:cNvPr id="4" name="Nodo"/>
          <p:cNvSpPr/>
          <p:nvPr/>
        </p:nvSpPr>
        <p:spPr>
          <a:xfrm>
            <a:off x="457200" y="13716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Árbol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predice</a:t>
            </a:r>
            <a:endParaRPr lang="en-US" sz="1100" dirty="0"/>
          </a:p>
        </p:txBody>
      </p:sp>
      <p:sp>
        <p:nvSpPr>
          <p:cNvPr id="7" name="Flecha"/>
          <p:cNvSpPr/>
          <p:nvPr/>
        </p:nvSpPr>
        <p:spPr>
          <a:xfrm>
            <a:off x="2258568" y="1600200"/>
            <a:ext cx="256032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odo"/>
          <p:cNvSpPr/>
          <p:nvPr/>
        </p:nvSpPr>
        <p:spPr>
          <a:xfrm>
            <a:off x="2560320" y="13716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Árbol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corrige el error</a:t>
            </a:r>
            <a:endParaRPr lang="en-US" sz="1100" dirty="0"/>
          </a:p>
        </p:txBody>
      </p:sp>
      <p:sp>
        <p:nvSpPr>
          <p:cNvPr id="11" name="Flecha"/>
          <p:cNvSpPr/>
          <p:nvPr/>
        </p:nvSpPr>
        <p:spPr>
          <a:xfrm>
            <a:off x="4361688" y="1600200"/>
            <a:ext cx="256032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Nodo"/>
          <p:cNvSpPr/>
          <p:nvPr/>
        </p:nvSpPr>
        <p:spPr>
          <a:xfrm>
            <a:off x="4663440" y="13716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Árbol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corrige lo que queda</a:t>
            </a:r>
            <a:endParaRPr lang="en-US" sz="1100" dirty="0"/>
          </a:p>
        </p:txBody>
      </p:sp>
      <p:sp>
        <p:nvSpPr>
          <p:cNvPr id="15" name="Flecha"/>
          <p:cNvSpPr/>
          <p:nvPr/>
        </p:nvSpPr>
        <p:spPr>
          <a:xfrm>
            <a:off x="6464808" y="1600200"/>
            <a:ext cx="256032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Nodo"/>
          <p:cNvSpPr/>
          <p:nvPr/>
        </p:nvSpPr>
        <p:spPr>
          <a:xfrm>
            <a:off x="6766560" y="13716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… 200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suma de todos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Random Forest: árboles en paralelo que votan.  XGBoost (boosting): árboles en serie que se corrigen.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Hiperparámetro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Qué controla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Valor usado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n_estimators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Cuántos árboles en serie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200 – 300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max_depth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Tamaño de cada árbol (pequeño = menos sobreajuste)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learning_rate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Cuánto corrige cada árbol (pequeño = lento pero seguro)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0,05 – 0,1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3 · ALERTA TEMPRANA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 la semana 6 ya conocemos a cada estudiante</a:t>
            </a:r>
            <a:endParaRPr lang="en-US" sz="2800" dirty="0"/>
          </a:p>
        </p:txBody>
      </p:sp>
      <p:sp>
        <p:nvSpPr>
          <p:cNvPr id="4" name="Nodo"/>
          <p:cNvSpPr/>
          <p:nvPr/>
        </p:nvSpPr>
        <p:spPr>
          <a:xfrm>
            <a:off x="45720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21031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900 filas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semanas 1-6</a:t>
            </a:r>
            <a:endParaRPr lang="en-US" sz="1300" dirty="0"/>
          </a:p>
        </p:txBody>
      </p:sp>
      <p:sp>
        <p:nvSpPr>
          <p:cNvPr id="6" name="Flecha"/>
          <p:cNvSpPr/>
          <p:nvPr/>
        </p:nvSpPr>
        <p:spPr>
          <a:xfrm>
            <a:off x="2651760" y="1645920"/>
            <a:ext cx="36576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Nodo"/>
          <p:cNvSpPr/>
          <p:nvPr/>
        </p:nvSpPr>
        <p:spPr>
          <a:xfrm>
            <a:off x="3108960" y="1325880"/>
            <a:ext cx="21031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325880"/>
            <a:ext cx="21031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groupby("id")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.agg(...)</a:t>
            </a:r>
            <a:endParaRPr lang="en-US" sz="1200" dirty="0"/>
          </a:p>
        </p:txBody>
      </p:sp>
      <p:sp>
        <p:nvSpPr>
          <p:cNvPr id="9" name="Flecha"/>
          <p:cNvSpPr/>
          <p:nvPr/>
        </p:nvSpPr>
        <p:spPr>
          <a:xfrm>
            <a:off x="5303520" y="1645920"/>
            <a:ext cx="365760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Nodo"/>
          <p:cNvSpPr/>
          <p:nvPr/>
        </p:nvSpPr>
        <p:spPr>
          <a:xfrm>
            <a:off x="5760720" y="1325880"/>
            <a:ext cx="29260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150 filas · merge con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rendimiento (reprueba)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Unidad 4: cambiar la granularidad antes de unir, con validate="one_to_one".</a:t>
            </a:r>
            <a:endParaRPr lang="en-US" sz="1100" dirty="0"/>
          </a:p>
        </p:txBody>
      </p:sp>
      <p:sp>
        <p:nvSpPr>
          <p:cNvPr id="13" name="Bloque de código"/>
          <p:cNvSpPr/>
          <p:nvPr/>
        </p:nvSpPr>
        <p:spPr>
          <a:xfrm>
            <a:off x="457200" y="2743200"/>
            <a:ext cx="475488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3464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= primeras.groupby("id").agg(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asistencia_prom=("asistencia", "mean"),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horas_prom=("horas_estudio", "mean"),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entregas=("entrega_tarea", "sum"),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nota_control_prom=("nota_control", "mean"))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tendencia: asistencia sem. 4-6 menos 1-3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Variables del modelo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108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asistencia_prom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horas_prom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nota_control_prom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tendencia_asistencia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trabaja, curso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3 · COMPARAR MODELOS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 datos de la semana 6 se detecta a más del 88 %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Exactitud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Regresión logística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0,975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Árbol (prof. 3)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0,87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0,77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0,858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0,983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0,88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0,979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AUC: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capacidad de ordenar del más al menos riesgoso (1 = perfecto, 0,5 = azar).</a:t>
            </a:r>
            <a:endParaRPr lang="en-US" sz="1200" dirty="0"/>
          </a:p>
        </p:txBody>
      </p:sp>
      <p:sp>
        <p:nvSpPr>
          <p:cNvPr id="6" name="Tarjeta"/>
          <p:cNvSpPr/>
          <p:nvPr/>
        </p:nvSpPr>
        <p:spPr>
          <a:xfrm>
            <a:off x="5486400" y="1234440"/>
            <a:ext cx="3200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96128" y="1234440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Los ensambles ganan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Random Forest y XGBoost superan al árbol individual en todas las métricas.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5486400" y="2350008"/>
            <a:ext cx="3200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96128" y="2350008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 simple compite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regresión logística queda casi igual: siempre comparar antes de complicar.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5486400" y="3465576"/>
            <a:ext cx="3200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96128" y="3465576"/>
            <a:ext cx="29992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learning_rate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0,01 → AUC 0,970 · 0,1 → 0,979 · 0,5 → 0,983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MODELO 3 · LA ALERTA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resultado útil: una lista ordenada por riesgo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1280160"/>
                <a:gridCol w="109728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Asistencia prom.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 control prom.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Prob. reprobar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¿Reprobó?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116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79 %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2,7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1,00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74 %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4,0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1,00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98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76 %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2,1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1,00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84 %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3,8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1,00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53 %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0,99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Bloque de código"/>
          <p:cNvSpPr/>
          <p:nvPr/>
        </p:nvSpPr>
        <p:spPr>
          <a:xfrm>
            <a:off x="457200" y="3840480"/>
            <a:ext cx="51206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931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lista["prob_reprobar"] = xgb.predict_proba(X_test)[:, 1]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lista.sort_values("prob_reprobar", ascending=False)</a:t>
            </a:r>
            <a:endParaRPr lang="en-US" sz="1000" dirty="0"/>
          </a:p>
        </p:txBody>
      </p:sp>
      <p:sp>
        <p:nvSpPr>
          <p:cNvPr id="7" name="Tarjeta"/>
          <p:cNvSpPr/>
          <p:nvPr/>
        </p:nvSpPr>
        <p:spPr>
          <a:xfrm>
            <a:off x="5852160" y="1234440"/>
            <a:ext cx="2834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307592"/>
            <a:ext cx="2834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0848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semanas por delante para intervenir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78892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Variable más usada: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nota_control_prom (78 %), luego entregas y horas de estudio. El estudiante 103 asiste 84 %, pero sus controles ya muestran el riesgo.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FORECASTING · LA SERIE DE TIEMPO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Tendencia y certámenes: patrones en el tiempo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069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17720" y="1188720"/>
          <a:ext cx="4069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Tendencia: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asistencia de quienes trabajan cae desde la semana 7. 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Estacionalidad: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los certámenes (8 y 16) las notas de ambos grupos se separan.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FORECASTING · VARIABLES DEL PASADO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Rezagos y medias móviles: la historia como predictor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914400"/>
                <a:gridCol w="914400"/>
                <a:gridCol w="1005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semana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nota_control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nota_lag1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nota_lag2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nota_media3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8,9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8,9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8,9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9,9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9,63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9,9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10,0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9,97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Estudiante id = 1. Las semanas 1 a 3 no tienen historia completa y se excluyen.</a:t>
            </a:r>
            <a:endParaRPr lang="en-US" sz="1100" dirty="0"/>
          </a:p>
        </p:txBody>
      </p:sp>
      <p:sp>
        <p:nvSpPr>
          <p:cNvPr id="6" name="Bloque de código"/>
          <p:cNvSpPr/>
          <p:nvPr/>
        </p:nvSpPr>
        <p:spPr>
          <a:xfrm>
            <a:off x="5303520" y="1234440"/>
            <a:ext cx="3383280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40680" y="132588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df.groupby("id")["nota_control"]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df["nota_lag1"] = g.shift(1)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df["nota_lag2"] = g.shift(2)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df["nota_media3"] = g.transform(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s: s.shift(1)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.rolling(3).mean())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Clave: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groupby("id") para que cada estudiante use su propia historia, y shift(1) para no usar la nota que queremos pronosticar.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FORECASTING · DIVISIÓN TEMPORAL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Entrenar con el pasado, probar con el futuro</a:t>
            </a:r>
            <a:endParaRPr lang="en-US" sz="2800" dirty="0"/>
          </a:p>
        </p:txBody>
      </p:sp>
      <p:sp>
        <p:nvSpPr>
          <p:cNvPr id="4" name="Semana"/>
          <p:cNvSpPr/>
          <p:nvPr/>
        </p:nvSpPr>
        <p:spPr>
          <a:xfrm>
            <a:off x="457200" y="1417320"/>
            <a:ext cx="484632" cy="548640"/>
          </a:xfrm>
          <a:prstGeom prst="rect">
            <a:avLst/>
          </a:prstGeom>
          <a:solidFill>
            <a:srgbClr val="C9D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emana"/>
          <p:cNvSpPr/>
          <p:nvPr/>
        </p:nvSpPr>
        <p:spPr>
          <a:xfrm>
            <a:off x="971550" y="1417320"/>
            <a:ext cx="484632" cy="548640"/>
          </a:xfrm>
          <a:prstGeom prst="rect">
            <a:avLst/>
          </a:prstGeom>
          <a:solidFill>
            <a:srgbClr val="C9D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15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Semana"/>
          <p:cNvSpPr/>
          <p:nvPr/>
        </p:nvSpPr>
        <p:spPr>
          <a:xfrm>
            <a:off x="1485900" y="1417320"/>
            <a:ext cx="484632" cy="548640"/>
          </a:xfrm>
          <a:prstGeom prst="rect">
            <a:avLst/>
          </a:prstGeom>
          <a:solidFill>
            <a:srgbClr val="C9D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859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0" name="Semana"/>
          <p:cNvSpPr/>
          <p:nvPr/>
        </p:nvSpPr>
        <p:spPr>
          <a:xfrm>
            <a:off x="200025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02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Semana"/>
          <p:cNvSpPr/>
          <p:nvPr/>
        </p:nvSpPr>
        <p:spPr>
          <a:xfrm>
            <a:off x="251460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Semana"/>
          <p:cNvSpPr/>
          <p:nvPr/>
        </p:nvSpPr>
        <p:spPr>
          <a:xfrm>
            <a:off x="302895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289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6" name="Semana"/>
          <p:cNvSpPr/>
          <p:nvPr/>
        </p:nvSpPr>
        <p:spPr>
          <a:xfrm>
            <a:off x="354330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33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8" name="Semana"/>
          <p:cNvSpPr/>
          <p:nvPr/>
        </p:nvSpPr>
        <p:spPr>
          <a:xfrm>
            <a:off x="405765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76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0" name="Semana"/>
          <p:cNvSpPr/>
          <p:nvPr/>
        </p:nvSpPr>
        <p:spPr>
          <a:xfrm>
            <a:off x="457200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22" name="Semana"/>
          <p:cNvSpPr/>
          <p:nvPr/>
        </p:nvSpPr>
        <p:spPr>
          <a:xfrm>
            <a:off x="508635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863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24" name="Semana"/>
          <p:cNvSpPr/>
          <p:nvPr/>
        </p:nvSpPr>
        <p:spPr>
          <a:xfrm>
            <a:off x="560070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007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26" name="Semana"/>
          <p:cNvSpPr/>
          <p:nvPr/>
        </p:nvSpPr>
        <p:spPr>
          <a:xfrm>
            <a:off x="6115050" y="1417320"/>
            <a:ext cx="484632" cy="548640"/>
          </a:xfrm>
          <a:prstGeom prst="rect">
            <a:avLst/>
          </a:prstGeom>
          <a:solidFill>
            <a:srgbClr val="377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150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28" name="Semana"/>
          <p:cNvSpPr/>
          <p:nvPr/>
        </p:nvSpPr>
        <p:spPr>
          <a:xfrm>
            <a:off x="6629400" y="1417320"/>
            <a:ext cx="484632" cy="548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13</a:t>
            </a:r>
            <a:endParaRPr lang="en-US" sz="1200" dirty="0"/>
          </a:p>
        </p:txBody>
      </p:sp>
      <p:sp>
        <p:nvSpPr>
          <p:cNvPr id="30" name="Semana"/>
          <p:cNvSpPr/>
          <p:nvPr/>
        </p:nvSpPr>
        <p:spPr>
          <a:xfrm>
            <a:off x="7143750" y="1417320"/>
            <a:ext cx="484632" cy="548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437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14</a:t>
            </a:r>
            <a:endParaRPr lang="en-US" sz="1200" dirty="0"/>
          </a:p>
        </p:txBody>
      </p:sp>
      <p:sp>
        <p:nvSpPr>
          <p:cNvPr id="32" name="Semana"/>
          <p:cNvSpPr/>
          <p:nvPr/>
        </p:nvSpPr>
        <p:spPr>
          <a:xfrm>
            <a:off x="7658100" y="1417320"/>
            <a:ext cx="484632" cy="548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5810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15</a:t>
            </a:r>
            <a:endParaRPr lang="en-US" sz="1200" dirty="0"/>
          </a:p>
        </p:txBody>
      </p:sp>
      <p:sp>
        <p:nvSpPr>
          <p:cNvPr id="34" name="Semana"/>
          <p:cNvSpPr/>
          <p:nvPr/>
        </p:nvSpPr>
        <p:spPr>
          <a:xfrm>
            <a:off x="8172450" y="1417320"/>
            <a:ext cx="484632" cy="548640"/>
          </a:xfrm>
          <a:prstGeom prst="rect">
            <a:avLst/>
          </a:prstGeom>
          <a:solidFill>
            <a:srgbClr val="FFD4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72450" y="1417320"/>
            <a:ext cx="484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sin historia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002536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Entrenamiento · semanas 4 a 12 · 1.350 filas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Prueba · 13 a 16 · 600</a:t>
            </a:r>
            <a:endParaRPr lang="en-US" sz="1100" dirty="0"/>
          </a:p>
        </p:txBody>
      </p:sp>
      <p:sp>
        <p:nvSpPr>
          <p:cNvPr id="39" name="Tarjeta"/>
          <p:cNvSpPr/>
          <p:nvPr/>
        </p:nvSpPr>
        <p:spPr>
          <a:xfrm>
            <a:off x="457200" y="25603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✗  División al azar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306324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train_test_split mezcla semanas: el modelo entrena con la semana 15 para “predecir” la 14. Usa el futuro y el error parece menor de lo que será en la realidad.</a:t>
            </a:r>
            <a:endParaRPr lang="en-US" sz="1200" dirty="0"/>
          </a:p>
        </p:txBody>
      </p:sp>
      <p:sp>
        <p:nvSpPr>
          <p:cNvPr id="42" name="Tarjeta"/>
          <p:cNvSpPr/>
          <p:nvPr/>
        </p:nvSpPr>
        <p:spPr>
          <a:xfrm>
            <a:off x="4709160" y="2560320"/>
            <a:ext cx="39776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  División por fecha</a:t>
            </a:r>
            <a:endParaRPr lang="en-US" sz="1500" dirty="0"/>
          </a:p>
        </p:txBody>
      </p:sp>
      <p:sp>
        <p:nvSpPr>
          <p:cNvPr id="44" name="Bloque de código"/>
          <p:cNvSpPr/>
          <p:nvPr/>
        </p:nvSpPr>
        <p:spPr>
          <a:xfrm>
            <a:off x="4892040" y="3108960"/>
            <a:ext cx="36118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= df[df["semana"] &lt;= 12]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= df[df["semana"] &gt;= 13]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892040" y="3977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 el uso real: solo se conoce la historia.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FORECASTING · 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XGBoost aprende el efecto del certamen; la recta no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035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rjeta"/>
          <p:cNvSpPr/>
          <p:nvPr/>
        </p:nvSpPr>
        <p:spPr>
          <a:xfrm>
            <a:off x="6035040" y="1234440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44768" y="1234440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Líneas 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Repetir la última nota ya es un pronóstico: todo modelo debe ganarle.</a:t>
            </a:r>
            <a:endParaRPr lang="en-US" sz="1100" dirty="0"/>
          </a:p>
        </p:txBody>
      </p:sp>
      <p:sp>
        <p:nvSpPr>
          <p:cNvPr id="7" name="Tarjeta"/>
          <p:cNvSpPr/>
          <p:nvPr/>
        </p:nvSpPr>
        <p:spPr>
          <a:xfrm>
            <a:off x="6035040" y="2350008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44768" y="235000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Interacción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XGBoost descubre solo que el certamen afecta distinto a quien trabaja.</a:t>
            </a:r>
            <a:endParaRPr lang="en-US" sz="1100" dirty="0"/>
          </a:p>
        </p:txBody>
      </p:sp>
      <p:sp>
        <p:nvSpPr>
          <p:cNvPr id="9" name="Tarjeta"/>
          <p:cNvSpPr/>
          <p:nvPr/>
        </p:nvSpPr>
        <p:spPr>
          <a:xfrm>
            <a:off x="6035040" y="3465576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44768" y="3465576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Umbral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Asistencia bajo 62 % → nota más baja la semana siguiente.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FORECASTING · MEJORAR LAS VARIABLES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buena variable vale más que otro algoritmo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18872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semanas_para_certamen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(8 − semana o 16 − semana) captura que se estudia más antes de cada certamen. La regresión lineal mejora más con ella que cambiando de algoritmo.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RESUMEN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modelo usar? Depende de la pregunta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Árbol de decisión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✓ Reglas legibles para explicar decisiones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! Se sobreajusta: limitar max_depth</a:t>
            </a:r>
            <a:endParaRPr lang="en-US" sz="1100" dirty="0"/>
          </a:p>
        </p:txBody>
      </p:sp>
      <p:sp>
        <p:nvSpPr>
          <p:cNvPr id="9" name="Tarjeta"/>
          <p:cNvSpPr/>
          <p:nvPr/>
        </p:nvSpPr>
        <p:spPr>
          <a:xfrm>
            <a:off x="256032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número"/>
          <p:cNvSpPr/>
          <p:nvPr/>
        </p:nvSpPr>
        <p:spPr>
          <a:xfrm>
            <a:off x="269748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37744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✓ Robusto, casi sin ajustes, buen punto de partida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! Importancia: usar permutación</a:t>
            </a:r>
            <a:endParaRPr lang="en-US" sz="1100" dirty="0"/>
          </a:p>
        </p:txBody>
      </p:sp>
      <p:sp>
        <p:nvSpPr>
          <p:cNvPr id="14" name="Tarjeta"/>
          <p:cNvSpPr/>
          <p:nvPr/>
        </p:nvSpPr>
        <p:spPr>
          <a:xfrm>
            <a:off x="466344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írculo número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XGBoost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37744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✓ El mejor rendimiento con umbrales e interacciones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! Requiere ajustar hiperparámetros</a:t>
            </a:r>
            <a:endParaRPr lang="en-US" sz="1100" dirty="0"/>
          </a:p>
        </p:txBody>
      </p:sp>
      <p:sp>
        <p:nvSpPr>
          <p:cNvPr id="19" name="Tarjeta"/>
          <p:cNvSpPr/>
          <p:nvPr/>
        </p:nvSpPr>
        <p:spPr>
          <a:xfrm>
            <a:off x="6766560" y="1234440"/>
            <a:ext cx="1965960" cy="2331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írculo número"/>
          <p:cNvSpPr/>
          <p:nvPr/>
        </p:nvSpPr>
        <p:spPr>
          <a:xfrm>
            <a:off x="6903720" y="137160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Modelo lineal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37744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✓ Simple, interpretable, ideal si la relación es lineal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! No capta interacciones sin ayuda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Siempre: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comparar contra una línea base, evaluar con datos que el modelo no vio y, en series de tiempo, dividir por fecha.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EJERCICIOS GUIADOS · ejercicios_parte4.py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Cinco ejercicios, cada uno con su guía paso a paso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66928" y="13075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Crear el objetivo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reprueba = nota_final &lt;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234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Clasificación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457200" y="1901952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566928" y="1975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Entrenar un árbol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9019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901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Clasificación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566928" y="26426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5694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569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5694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Clasificación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457200" y="3236976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66928" y="33101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Crear rezagos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2369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shift(1) y rolling(3)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23697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28" name="Tarjeta"/>
          <p:cNvSpPr/>
          <p:nvPr/>
        </p:nvSpPr>
        <p:spPr>
          <a:xfrm>
            <a:off x="457200" y="390448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írculo número"/>
          <p:cNvSpPr/>
          <p:nvPr/>
        </p:nvSpPr>
        <p:spPr>
          <a:xfrm>
            <a:off x="566928" y="39776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9044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Pronóstico XGBoost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3904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división temporal + MAE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9044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1 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Objetivo, árbol y bosque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531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1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Crear el objetivo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df.copy()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df["reprueba"] = (df["nota_final"] &lt; 5).astype(int)</a:t>
            </a:r>
            <a:endParaRPr lang="en-US" sz="1100" dirty="0"/>
          </a:p>
        </p:txBody>
      </p:sp>
      <p:sp>
        <p:nvSpPr>
          <p:cNvPr id="9" name="Resultado"/>
          <p:cNvSpPr/>
          <p:nvPr/>
        </p:nvSpPr>
        <p:spPr>
          <a:xfrm>
            <a:off x="6446520" y="1371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56 reprobados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 150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número"/>
          <p:cNvSpPr/>
          <p:nvPr/>
        </p:nvSpPr>
        <p:spPr>
          <a:xfrm>
            <a:off x="594360" y="2674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74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Entrenar un árbol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DecisionTreeClassifier(max_depth=3,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random_state=42).fit(X_train, y_train)</a:t>
            </a:r>
            <a:endParaRPr lang="en-US" sz="1100" dirty="0"/>
          </a:p>
        </p:txBody>
      </p:sp>
      <p:sp>
        <p:nvSpPr>
          <p:cNvPr id="16" name="Resultado"/>
          <p:cNvSpPr/>
          <p:nvPr/>
        </p:nvSpPr>
        <p:spPr>
          <a:xfrm>
            <a:off x="6446520" y="2514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exactitud 0,87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recall 0,88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írculo número"/>
          <p:cNvSpPr/>
          <p:nvPr/>
        </p:nvSpPr>
        <p:spPr>
          <a:xfrm>
            <a:off x="594360" y="3817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17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611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RandomForestClassifier(n_estimators=200,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random_state=42).fit(X_train, y_train)</a:t>
            </a:r>
            <a:endParaRPr lang="en-US" sz="1100" dirty="0"/>
          </a:p>
        </p:txBody>
      </p:sp>
      <p:sp>
        <p:nvSpPr>
          <p:cNvPr id="23" name="Resultado"/>
          <p:cNvSpPr/>
          <p:nvPr/>
        </p:nvSpPr>
        <p:spPr>
          <a:xfrm>
            <a:off x="6446520" y="3657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exactitud 0,89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recall 0,94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4 Y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Rezagos y pronóstico con división temporal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Crear rezagos</a:t>
            </a:r>
            <a:endParaRPr lang="en-US" sz="1400" dirty="0"/>
          </a:p>
        </p:txBody>
      </p:sp>
      <p:sp>
        <p:nvSpPr>
          <p:cNvPr id="8" name="Bloque de código"/>
          <p:cNvSpPr/>
          <p:nvPr/>
        </p:nvSpPr>
        <p:spPr>
          <a:xfrm>
            <a:off x="594360" y="1874520"/>
            <a:ext cx="37033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semanal.sort_values(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["id", "semana"]).copy()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df.groupby("id")["nota_control"]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df["nota_lag1"] = g.shift(1)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df["nota_media3"] = g.transform(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s: s.shift(1).rolling(3).mean())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74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id 1, semana 4: lag1 = 10,0 · media3 = 9,63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776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La semana 1 queda vacía: no tiene semana anterior.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írculo número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Pronóstico XGBoost</a:t>
            </a:r>
            <a:endParaRPr lang="en-US" sz="1400" dirty="0"/>
          </a:p>
        </p:txBody>
      </p:sp>
      <p:sp>
        <p:nvSpPr>
          <p:cNvPr id="16" name="Bloque de código"/>
          <p:cNvSpPr/>
          <p:nvPr/>
        </p:nvSpPr>
        <p:spPr>
          <a:xfrm>
            <a:off x="4846320" y="1874520"/>
            <a:ext cx="37033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965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= d[d["semana"] &lt;= 12]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= d[d["semana"] &gt;= 13]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XGBRegressor(n_estimators=300,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max_depth=3, learning_rate=0.05)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0,63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 XGBoost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2004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0,74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MAE ingenuo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Con solo 5 variables ya le gana a repetir la última nota.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Del CSV a anticipar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Programación en Python · Pandas en Google Colab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Siete unidades, un mismo flujo de trabajo</a:t>
            </a:r>
            <a:endParaRPr lang="en-US" sz="1600" dirty="0"/>
          </a:p>
        </p:txBody>
      </p:sp>
      <p:sp>
        <p:nvSpPr>
          <p:cNvPr id="4" name="Círculo número"/>
          <p:cNvSpPr/>
          <p:nvPr/>
        </p:nvSpPr>
        <p:spPr>
          <a:xfrm>
            <a:off x="5760720" y="566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566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5669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Explorar antes de analizar</a:t>
            </a:r>
            <a:endParaRPr lang="en-US" sz="1400" dirty="0"/>
          </a:p>
        </p:txBody>
      </p:sp>
      <p:sp>
        <p:nvSpPr>
          <p:cNvPr id="7" name="Círculo número"/>
          <p:cNvSpPr/>
          <p:nvPr/>
        </p:nvSpPr>
        <p:spPr>
          <a:xfrm>
            <a:off x="5760720" y="11338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133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Filtrar según la pregunta</a:t>
            </a:r>
            <a:endParaRPr lang="en-US" sz="1400" dirty="0"/>
          </a:p>
        </p:txBody>
      </p:sp>
      <p:sp>
        <p:nvSpPr>
          <p:cNvPr id="10" name="Círculo número"/>
          <p:cNvSpPr/>
          <p:nvPr/>
        </p:nvSpPr>
        <p:spPr>
          <a:xfrm>
            <a:off x="5760720" y="1700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70078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Documentar cada decisión</a:t>
            </a:r>
            <a:endParaRPr lang="en-US" sz="1400" dirty="0"/>
          </a:p>
        </p:txBody>
      </p:sp>
      <p:sp>
        <p:nvSpPr>
          <p:cNvPr id="13" name="Círculo número"/>
          <p:cNvSpPr/>
          <p:nvPr/>
        </p:nvSpPr>
        <p:spPr>
          <a:xfrm>
            <a:off x="5760720" y="22677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677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Combinar con trazabilidad</a:t>
            </a:r>
            <a:endParaRPr lang="en-US" sz="1400" dirty="0"/>
          </a:p>
        </p:txBody>
      </p:sp>
      <p:sp>
        <p:nvSpPr>
          <p:cNvPr id="16" name="Círculo número"/>
          <p:cNvSpPr/>
          <p:nvPr/>
        </p:nvSpPr>
        <p:spPr>
          <a:xfrm>
            <a:off x="5760720" y="2834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Automatizar la limpieza</a:t>
            </a:r>
            <a:endParaRPr lang="en-US" sz="1400" dirty="0"/>
          </a:p>
        </p:txBody>
      </p:sp>
      <p:sp>
        <p:nvSpPr>
          <p:cNvPr id="19" name="Círculo número"/>
          <p:cNvSpPr/>
          <p:nvPr/>
        </p:nvSpPr>
        <p:spPr>
          <a:xfrm>
            <a:off x="5760720" y="3401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Modelar e interpretar</a:t>
            </a:r>
            <a:endParaRPr lang="en-US" sz="1400" dirty="0"/>
          </a:p>
        </p:txBody>
      </p:sp>
      <p:sp>
        <p:nvSpPr>
          <p:cNvPr id="22" name="Círculo número"/>
          <p:cNvSpPr/>
          <p:nvPr/>
        </p:nvSpPr>
        <p:spPr>
          <a:xfrm>
            <a:off x="5760720" y="3968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968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Predecir y pronosticar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s Colab">
  <a:themeElements>
    <a:clrScheme name="Pandas Colab">
      <a:dk1>
        <a:srgbClr val="1B2430"/>
      </a:dk1>
      <a:lt1>
        <a:srgbClr val="FFFFFF"/>
      </a:lt1>
      <a:dk2>
        <a:srgbClr val="0F2A3D"/>
      </a:dk2>
      <a:lt2>
        <a:srgbClr val="EEF3F6"/>
      </a:lt2>
      <a:accent1>
        <a:srgbClr val="FFD43B"/>
      </a:accent1>
      <a:accent2>
        <a:srgbClr val="3776AB"/>
      </a:accent2>
      <a:accent3>
        <a:srgbClr val="1F7A8C"/>
      </a:accent3>
      <a:accent4>
        <a:srgbClr val="E07A5F"/>
      </a:accent4>
      <a:accent5>
        <a:srgbClr val="8FD3A8"/>
      </a:accent5>
      <a:accent6>
        <a:srgbClr val="6B7A88"/>
      </a:accent6>
      <a:hlink>
        <a:srgbClr val="3776AB"/>
      </a:hlink>
      <a:folHlink>
        <a:srgbClr val="1F7A8C"/>
      </a:folHlink>
    </a:clrScheme>
    <a:fontScheme name="Pandas Co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en Google Colab · Parte 4</dc:title>
  <dc:subject>PptxGenJS Presentation</dc:subject>
  <dc:creator>PptxGenJS</dc:creator>
  <cp:lastModifiedBy>PptxGenJS</cp:lastModifiedBy>
  <cp:revision>1</cp:revision>
  <dcterms:created xsi:type="dcterms:W3CDTF">2026-10-19T02:09:40Z</dcterms:created>
  <dcterms:modified xsi:type="dcterms:W3CDTF">2026-10-19T02:09:40Z</dcterms:modified>
</cp:coreProperties>
</file>