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d638c00-dac4-96f4-8242-e538fca4daad}">
          <p14:sldIdLst>
            <p14:sldId id="256"/>
            <p14:sldId id="257"/>
            <p14:sldId id="258"/>
          </p14:sldIdLst>
        </p14:section>
        <p14:section name="4 · Combinación de tablas" id="{c9ad412d-f0b6-47e5-bc4c-51d841160ae7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5 · Limpieza y automatización" id="{9d2b8fc0-a081-6eb1-4f24-2cb03a89f7f1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ráctica" id="{31be2ddf-6942-fe65-34fb-076fd2dac92c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Nota final promedio por curso y período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2026-1</c:v>
                </c:pt>
              </c:strCache>
            </c:strRef>
          </c:tx>
          <c:spPr>
            <a:solidFill>
              <a:srgbClr val="6B7A8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Física</c:v>
                  </c:pt>
                  <c:pt idx="1">
                    <c:v>Matemáticas</c:v>
                  </c:pt>
                  <c:pt idx="2">
                    <c:v>Química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6.62</c:v>
                </c:pt>
                <c:pt idx="1">
                  <c:v>7.89</c:v>
                </c:pt>
                <c:pt idx="2">
                  <c:v>6.13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2026-2</c:v>
                </c:pt>
              </c:strCache>
            </c:strRef>
          </c:tx>
          <c:spPr>
            <a:solidFill>
              <a:srgbClr val="3776A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Física</c:v>
                  </c:pt>
                  <c:pt idx="1">
                    <c:v>Matemáticas</c:v>
                  </c:pt>
                  <c:pt idx="2">
                    <c:v>Química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7.55</c:v>
                </c:pt>
                <c:pt idx="1">
                  <c:v>8.02</c:v>
                </c:pt>
                <c:pt idx="2">
                  <c:v>6.53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F2A3D"/>
                </a:solidFill>
                <a:latin typeface="+mn-lt"/>
              </a:rPr>
              <a:t>Alumnos por curso después de limpiar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Alumnos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Matemáticas</c:v>
                  </c:pt>
                  <c:pt idx="1">
                    <c:v>Física</c:v>
                  </c:pt>
                  <c:pt idx="2">
                    <c:v>Química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parte del módulo. Retomamos las unidades 4 y 5, que en la Parte 1 vimos solo como avance, ahora con datos, ejemplos y ejercicios propios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unidades 1 a 3 ya se practicaron. Hoy profundizamos 4 y 5, que cierran el ciclo de preparación de datos antes del módulo de estadística.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celda del notebook de la Parte 2 carga las cinco tablas desde GitHub. Pedir a los estudiantes que miren la columna 'Una fila es…': es la idea de granularidad que usaremos enseguida.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del repositorio: 08_merge_tablas.py y 09_granularidad_concat.py. Notebook Parte 2, sección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tres preguntas son la columna vertebral de la unidad. Si una no tiene respuesta clara, todavía no estamos listos para hacer el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Colab el antes y el después. validate='many_to_one' exige que cada curso aparezca una sola vez en cursos.csv; si estuviera repetido, pandas lanzaría un error en vez de duplicar alumnos.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indicator=True agrega la columna _merge, que dice de qué tabla vino cada fila. Es la herramienta básica de trazabilidad: aquí revela a Biologia como right_only.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error más común al integrar datos: el merge no falla, simplemente multiplica filas, y todos los promedios posteriores quedan mal. Regla: igualar la granularidad con groupby antes de unir.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agrega columnas, concat agrega filas. Antes de apilar, verificar que las columnas coincidan. En el período 2 salen 2 alumnos y entran 2, por eso siguen siendo 20; la clave pasa a ser (id, periodo).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cuatro controles se documentan en la celda 'Registro de trazabilidad' del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del repositorio: 10_limpieza_datos.py y 11_funcion_limpieza.py. Notebook Parte 2, sección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llegan los datos desde planillas o sistemas reales. Pedir a los estudiantes que ejecuten sucio.dtypes y sucio['Curso'].value_counts() antes de mostrar esta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importa: primero los nombres de columna (si no, no podemos referirnos a ellas), después los duplicados (para no limpiar dos veces), y al final la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resultado que value_counts() sobre alumnos.csv en la Parte 1: 8, 6 y 6. Esa coincidencia es nuestra prueba de que la limpieza funcionó.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la Unidad 3: los N/A y '-' pasan a ser NaN, y ahí se decide si imputar o excluir, documentando la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práctica: si un paso de limpieza se repite más de dos veces, se convierte en función. .pipe() permite leer el flujo de arriba hacia abajo como una receta.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registro (filas, duplicados, faltantes por columna) es la documentación automática de la limpieza. Los 5 faltantes son los mismos que vimos en la Parte 1: ciudad 1, nota_parcial1 1, nota_parcial2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notebook, la celda de comprobación muestra OK o pendiente para cada ejercicio. Los mismos ejercicios están en ejercicios/ejercicios_parte2.py para quien trabaje en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2, recordar renombrar la columna a asistencia_prom antes del merge. En el 3, ignore_index=True deja el índice de 0 a 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4, indicator=True es la forma trazable de comparar dos tablas. En el período 2, además, entran Nora Paredes e Ivan Carrasco (filas right_only si se usa how='outer').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datos integrados y limpios ya podemos modelar: el próximo módulo usa estas mismas tablas para regresión lineal.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Programación en Python · Pandas en Google Colab · Parte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Pandas en Google Colab · Parte 2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Programación en Python · Solemne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Combinar tablas y limpiar datos reales</a:t>
            </a:r>
            <a:endParaRPr lang="en-US" sz="1600" dirty="0"/>
          </a:p>
        </p:txBody>
      </p:sp>
      <p:sp>
        <p:nvSpPr>
          <p:cNvPr id="4" name="Bloque de código"/>
          <p:cNvSpPr/>
          <p:nvPr/>
        </p:nvSpPr>
        <p:spPr>
          <a:xfrm>
            <a:off x="5760720" y="1280160"/>
            <a:ext cx="29260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97880" y="13716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(alumnos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.merge(cursos,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on="curso",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validate="m:1")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.pipe(limpiar))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 dato crudo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 dato confiable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RUTA DE APRENDIZAJE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Parte 1 nos dejó una tabla limpia; ahora serán varias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Introducción a Pandas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Exploración inicial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Completado ✓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2139696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2276856" y="1463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Filtrar y ordenar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Preguntas analíticas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76856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Completado ✓</a:t>
            </a:r>
            <a:endParaRPr lang="en-US" sz="1100" dirty="0"/>
          </a:p>
        </p:txBody>
      </p:sp>
      <p:sp>
        <p:nvSpPr>
          <p:cNvPr id="16" name="Tarjeta"/>
          <p:cNvSpPr/>
          <p:nvPr/>
        </p:nvSpPr>
        <p:spPr>
          <a:xfrm>
            <a:off x="3822192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3959352" y="14630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Transformar y faltantes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Imputación documentada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59352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Completado ✓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5504688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Círculo número"/>
          <p:cNvSpPr/>
          <p:nvPr/>
        </p:nvSpPr>
        <p:spPr>
          <a:xfrm>
            <a:off x="5641848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184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Combinar tablas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merge, concat, claves y granularidad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41848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Hoy</a:t>
            </a:r>
            <a:endParaRPr lang="en-US" sz="1100" dirty="0"/>
          </a:p>
        </p:txBody>
      </p:sp>
      <p:sp>
        <p:nvSpPr>
          <p:cNvPr id="28" name="Tarjeta"/>
          <p:cNvSpPr/>
          <p:nvPr/>
        </p:nvSpPr>
        <p:spPr>
          <a:xfrm>
            <a:off x="7187184" y="1325880"/>
            <a:ext cx="1517904" cy="2743200"/>
          </a:xfrm>
          <a:prstGeom prst="roundRect">
            <a:avLst>
              <a:gd name="adj" fmla="val 48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Círculo número"/>
          <p:cNvSpPr/>
          <p:nvPr/>
        </p:nvSpPr>
        <p:spPr>
          <a:xfrm>
            <a:off x="7324344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243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2011680"/>
            <a:ext cx="1243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Limpieza y automatización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26974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Funciones y flujo reutilizable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24344" y="3703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Hoy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Material nuevo en el repositorio: ejemplos 08 a 11, ejercicios_parte2.py y notebooks/Parte2_Pandas_Colab.ipynb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LOS DATOS DE ESTA PARTE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Cinco tablas, cada una con un propósito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Archivo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Filas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Una fila es…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alumnos.csv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un alumno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Base principal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cursos.csv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un curso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Tabla auxiliar (merge)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asistencia_mensual.csv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60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un alumno en un mes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Granularidad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alumnos_2026_2.csv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un alumno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Segundo período (concat)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alumnos_sucio.csv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un alumno… o un duplicado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Limpieza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Bloque de código"/>
          <p:cNvSpPr/>
          <p:nvPr/>
        </p:nvSpPr>
        <p:spPr>
          <a:xfrm>
            <a:off x="5532120" y="1234440"/>
            <a:ext cx="3154680" cy="333756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325880"/>
            <a:ext cx="28803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("https://raw.github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usercontent.com/hpizarrog-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industry40/CursoPython/main/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Aprendiendo_Pandas/datos/")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alumnos = pd.read_csv(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+ "alumnos.csv")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cursos = pd.read_csv(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+ "cursos.csv")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y las otras tres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Combinar tablas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Integrar varias tablas respetando claves, granularidad y trazabilidad.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Práctica en Colab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4 · CONCEPTOS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Tres preguntas antes de unir dos tablas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Clave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¿Qué columna empareja las filas?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alumnos y cursos comparten la columna curso; alumnos y asistencia, la columna id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3273552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3456432" y="1417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643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Granularidad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¿Qué representa una fila en cada tabla?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alumnos: 1 fila por alumno. asistencia_mensual: 1 fila por alumno y mes</a:t>
            </a:r>
            <a:endParaRPr lang="en-US" sz="1200" dirty="0"/>
          </a:p>
        </p:txBody>
      </p:sp>
      <p:sp>
        <p:nvSpPr>
          <p:cNvPr id="16" name="Tarjeta"/>
          <p:cNvSpPr/>
          <p:nvPr/>
        </p:nvSpPr>
        <p:spPr>
          <a:xfrm>
            <a:off x="6089904" y="123444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6272784" y="1417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278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Trazabilidad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¿Podré decir de dónde viene cada fila?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indicator=True, una columna periodo y contar filas antes y después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4 · MERGE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merge agrega columnas desde una tabla auxiliar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3931920" cy="192024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alumnos.merge(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cursos,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on="curso",       # clave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how="left",       # conservar alumnos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validate="many_to_one")</a:t>
            </a:r>
            <a:endParaRPr lang="en-US" sz="1100" dirty="0"/>
          </a:p>
        </p:txBody>
      </p:sp>
      <p:sp>
        <p:nvSpPr>
          <p:cNvPr id="6" name="Tarjeta"/>
          <p:cNvSpPr/>
          <p:nvPr/>
        </p:nvSpPr>
        <p:spPr>
          <a:xfrm>
            <a:off x="457200" y="329184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364992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85539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 antes</a:t>
            </a:r>
            <a:endParaRPr lang="en-US" sz="1200" dirty="0"/>
          </a:p>
        </p:txBody>
      </p:sp>
      <p:sp>
        <p:nvSpPr>
          <p:cNvPr id="9" name="Tarjeta"/>
          <p:cNvSpPr/>
          <p:nvPr/>
        </p:nvSpPr>
        <p:spPr>
          <a:xfrm>
            <a:off x="2514600" y="3291840"/>
            <a:ext cx="18745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3364992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4085539"/>
            <a:ext cx="169164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 después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234440"/>
                <a:gridCol w="685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nombre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curso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profesor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Ana Torres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Matematicas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Rosa Soto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A-101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Luis Gomez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Matematicas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Rosa Soto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A-101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Maria Diaz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Fisica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Manuel Vera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B-204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Carlos Ruiz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Matematicas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Rosa Soto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A-101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Sofia Perez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Fisica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Manuel Vera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B-204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663440" y="36118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profesor y sala vienen de cursos.csv: la base gana columnas, no filas.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4 · TIPOS DE JOIN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parámetro how decide qué filas sobreviven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how="inner"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234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Solo claves que están en ambas tablas</a:t>
            </a:r>
            <a:endParaRPr lang="en-US" sz="1100" dirty="0"/>
          </a:p>
        </p:txBody>
      </p:sp>
      <p:sp>
        <p:nvSpPr>
          <p:cNvPr id="8" name="Tarjeta"/>
          <p:cNvSpPr/>
          <p:nvPr/>
        </p:nvSpPr>
        <p:spPr>
          <a:xfrm>
            <a:off x="457200" y="192024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20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how="left"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9202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Todos los alumnos, aunque su curso no exista</a:t>
            </a:r>
            <a:endParaRPr lang="en-US" sz="1100" dirty="0"/>
          </a:p>
        </p:txBody>
      </p:sp>
      <p:sp>
        <p:nvSpPr>
          <p:cNvPr id="12" name="Tarjeta"/>
          <p:cNvSpPr/>
          <p:nvPr/>
        </p:nvSpPr>
        <p:spPr>
          <a:xfrm>
            <a:off x="457200" y="260604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060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how="right"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6060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606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Todos los cursos, aunque no tengan alumnos</a:t>
            </a:r>
            <a:endParaRPr lang="en-US" sz="1100" dirty="0"/>
          </a:p>
        </p:txBody>
      </p:sp>
      <p:sp>
        <p:nvSpPr>
          <p:cNvPr id="16" name="Tarjeta"/>
          <p:cNvSpPr/>
          <p:nvPr/>
        </p:nvSpPr>
        <p:spPr>
          <a:xfrm>
            <a:off x="457200" y="329184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291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how="outer"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2918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21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291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Todo, de ambas tablas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¿Por qué 21? cursos.csv incluye Biologia, un curso sin alumnos.</a:t>
            </a:r>
            <a:endParaRPr lang="en-US" sz="1200" dirty="0"/>
          </a:p>
        </p:txBody>
      </p:sp>
      <p:sp>
        <p:nvSpPr>
          <p:cNvPr id="21" name="Bloque de código"/>
          <p:cNvSpPr/>
          <p:nvPr/>
        </p:nvSpPr>
        <p:spPr>
          <a:xfrm>
            <a:off x="5486400" y="1234440"/>
            <a:ext cx="320040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23560" y="1325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alumnos.merge(cursos,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on="curso", how="outer",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indicator=True)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r["_merge"].value_counts()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20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right_only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left_only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4 · GRANULARIDAD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Unir tablas de distinto nivel infla la base sin avisar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✗  Unir directamente</a:t>
            </a:r>
            <a:endParaRPr lang="en-US" sz="1500" dirty="0"/>
          </a:p>
        </p:txBody>
      </p:sp>
      <p:sp>
        <p:nvSpPr>
          <p:cNvPr id="6" name="Bloque de código"/>
          <p:cNvSpPr/>
          <p:nvPr/>
        </p:nvSpPr>
        <p:spPr>
          <a:xfrm>
            <a:off x="640080" y="1737360"/>
            <a:ext cx="36118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alumnos.merge(asistencia,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on="id")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20 → 60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filas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alumno aparece 3 veces (una por mes). Con validate="one_to_one" pandas lanza MergeError y el problema se ve.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470916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✓  Agregar primero, unir después</a:t>
            </a:r>
            <a:endParaRPr lang="en-US" sz="1500" dirty="0"/>
          </a:p>
        </p:txBody>
      </p:sp>
      <p:sp>
        <p:nvSpPr>
          <p:cNvPr id="12" name="Bloque de código"/>
          <p:cNvSpPr/>
          <p:nvPr/>
        </p:nvSpPr>
        <p:spPr>
          <a:xfrm>
            <a:off x="489204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82880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 = (asistencia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.groupby("id", as_index=False)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["asistencia"].mean())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alumnos.merge(prom, on="id",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validate="one_to_one")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20 → 20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filas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Ambas tablas quedan con 1 fila por alumno.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4 · CONCAT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concat apila períodos; la columna periodo los distingue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11480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historico = pd.concat([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alumnos.assign(periodo="2026-1"),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periodo2.assign(periodo="2026-2")],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ignore_index=True)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historico.pivot_table(index="curso",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columns="periodo", values="nota_final")</a:t>
            </a:r>
            <a:endParaRPr lang="en-US" sz="1000" dirty="0"/>
          </a:p>
        </p:txBody>
      </p:sp>
      <p:sp>
        <p:nvSpPr>
          <p:cNvPr id="6" name="Tarjeta"/>
          <p:cNvSpPr/>
          <p:nvPr/>
        </p:nvSpPr>
        <p:spPr>
          <a:xfrm>
            <a:off x="457200" y="342900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502152"/>
            <a:ext cx="1280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376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2026-1</a:t>
            </a:r>
            <a:endParaRPr lang="en-US" sz="1200" dirty="0"/>
          </a:p>
        </p:txBody>
      </p:sp>
      <p:sp>
        <p:nvSpPr>
          <p:cNvPr id="9" name="Tarjeta"/>
          <p:cNvSpPr/>
          <p:nvPr/>
        </p:nvSpPr>
        <p:spPr>
          <a:xfrm>
            <a:off x="1874520" y="342900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74520" y="3502152"/>
            <a:ext cx="1280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41376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2026-2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3291840" y="3429000"/>
            <a:ext cx="1280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3502152"/>
            <a:ext cx="12801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40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1376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histórico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846320" y="118872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84632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Física es el curso que más sube: de 6,62 a 7,55.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4 · CHECKLIST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Cuatro controles para cada combinación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40817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081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Contar filas antes y después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280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len(antes), len(despues)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2801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 left merge no debería cambiar el número de filas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457200" y="210312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594360" y="223113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2311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Validar la relación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103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validate="many_to_one"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1031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Error visible en vez de duplicados silenciosos</a:t>
            </a:r>
            <a:endParaRPr lang="en-US" sz="1100" dirty="0"/>
          </a:p>
        </p:txBody>
      </p:sp>
      <p:sp>
        <p:nvSpPr>
          <p:cNvPr id="16" name="Tarjeta"/>
          <p:cNvSpPr/>
          <p:nvPr/>
        </p:nvSpPr>
        <p:spPr>
          <a:xfrm>
            <a:off x="457200" y="29260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594360" y="305409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540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926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Revisar el origen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indicator=True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9260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¿Hay filas left_only o right_only?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457200" y="374904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írculo número"/>
          <p:cNvSpPr/>
          <p:nvPr/>
        </p:nvSpPr>
        <p:spPr>
          <a:xfrm>
            <a:off x="594360" y="3877056"/>
            <a:ext cx="429768" cy="429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7705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749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Marcar la fuente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.assign(periodo=...)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Toda fila apilada sabe de dónde vino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número"/>
          <p:cNvSpPr/>
          <p:nvPr/>
        </p:nvSpPr>
        <p:spPr>
          <a:xfrm>
            <a:off x="640080" y="17830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Limpieza y automatización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2651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Diseñar un flujo reutilizable de limpieza y preparación de datos.</a:t>
            </a:r>
            <a:endParaRPr lang="en-US" sz="1600" dirty="0"/>
          </a:p>
        </p:txBody>
      </p:sp>
      <p:sp>
        <p:nvSpPr>
          <p:cNvPr id="6" name="Etiqueta"/>
          <p:cNvSpPr/>
          <p:nvPr/>
        </p:nvSpPr>
        <p:spPr>
          <a:xfrm>
            <a:off x="2011680" y="3886200"/>
            <a:ext cx="2377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Práctica en Colab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5 · DIAGNÓSTICO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alumnos_sucio.csv: 20 alumnos mal escritos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07592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22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99793"/>
            <a:ext cx="17373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 (2 duplicadas)</a:t>
            </a:r>
            <a:endParaRPr lang="en-US" sz="1200" dirty="0"/>
          </a:p>
        </p:txBody>
      </p:sp>
      <p:sp>
        <p:nvSpPr>
          <p:cNvPr id="7" name="Tarjeta"/>
          <p:cNvSpPr/>
          <p:nvPr/>
        </p:nvSpPr>
        <p:spPr>
          <a:xfrm>
            <a:off x="2560320" y="123444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07592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99793"/>
            <a:ext cx="17373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formas de escribir 3 cursos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457200" y="265176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24912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17113"/>
            <a:ext cx="17373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columnas numéricas leídas como texto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2560320" y="2651760"/>
            <a:ext cx="1920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724912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9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417113"/>
            <a:ext cx="1737360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nombres de columna irregulares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Variantes encontradas en la columna Curso</a:t>
            </a:r>
            <a:endParaRPr lang="en-US" sz="1300" dirty="0"/>
          </a:p>
        </p:txBody>
      </p:sp>
      <p:sp>
        <p:nvSpPr>
          <p:cNvPr id="17" name="Variante"/>
          <p:cNvSpPr/>
          <p:nvPr/>
        </p:nvSpPr>
        <p:spPr>
          <a:xfrm>
            <a:off x="4754880" y="16459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"Matematicas"</a:t>
            </a:r>
            <a:endParaRPr lang="en-US" sz="1000" dirty="0"/>
          </a:p>
        </p:txBody>
      </p:sp>
      <p:sp>
        <p:nvSpPr>
          <p:cNvPr id="19" name="Variante"/>
          <p:cNvSpPr/>
          <p:nvPr/>
        </p:nvSpPr>
        <p:spPr>
          <a:xfrm>
            <a:off x="6080760" y="16459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"matematicas "</a:t>
            </a:r>
            <a:endParaRPr lang="en-US" sz="1000" dirty="0"/>
          </a:p>
        </p:txBody>
      </p:sp>
      <p:sp>
        <p:nvSpPr>
          <p:cNvPr id="21" name="Variante"/>
          <p:cNvSpPr/>
          <p:nvPr/>
        </p:nvSpPr>
        <p:spPr>
          <a:xfrm>
            <a:off x="7406640" y="16459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"Matemáticas"</a:t>
            </a:r>
            <a:endParaRPr lang="en-US" sz="1000" dirty="0"/>
          </a:p>
        </p:txBody>
      </p:sp>
      <p:sp>
        <p:nvSpPr>
          <p:cNvPr id="23" name="Variante"/>
          <p:cNvSpPr/>
          <p:nvPr/>
        </p:nvSpPr>
        <p:spPr>
          <a:xfrm>
            <a:off x="4754880" y="21031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"matemáticas"</a:t>
            </a:r>
            <a:endParaRPr lang="en-US" sz="1000" dirty="0"/>
          </a:p>
        </p:txBody>
      </p:sp>
      <p:sp>
        <p:nvSpPr>
          <p:cNvPr id="25" name="Variante"/>
          <p:cNvSpPr/>
          <p:nvPr/>
        </p:nvSpPr>
        <p:spPr>
          <a:xfrm>
            <a:off x="6080760" y="21031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0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"Mate"</a:t>
            </a:r>
            <a:endParaRPr lang="en-US" sz="1000" dirty="0"/>
          </a:p>
        </p:txBody>
      </p:sp>
      <p:sp>
        <p:nvSpPr>
          <p:cNvPr id="27" name="Variante"/>
          <p:cNvSpPr/>
          <p:nvPr/>
        </p:nvSpPr>
        <p:spPr>
          <a:xfrm>
            <a:off x="7406640" y="21031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0664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"Fisica"</a:t>
            </a:r>
            <a:endParaRPr lang="en-US" sz="1000" dirty="0"/>
          </a:p>
        </p:txBody>
      </p:sp>
      <p:sp>
        <p:nvSpPr>
          <p:cNvPr id="29" name="Variante"/>
          <p:cNvSpPr/>
          <p:nvPr/>
        </p:nvSpPr>
        <p:spPr>
          <a:xfrm>
            <a:off x="4754880" y="25603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2560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"FISICA"</a:t>
            </a:r>
            <a:endParaRPr lang="en-US" sz="1000" dirty="0"/>
          </a:p>
        </p:txBody>
      </p:sp>
      <p:sp>
        <p:nvSpPr>
          <p:cNvPr id="31" name="Variante"/>
          <p:cNvSpPr/>
          <p:nvPr/>
        </p:nvSpPr>
        <p:spPr>
          <a:xfrm>
            <a:off x="6080760" y="25603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80760" y="2560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"Física"</a:t>
            </a:r>
            <a:endParaRPr lang="en-US" sz="1000" dirty="0"/>
          </a:p>
        </p:txBody>
      </p:sp>
      <p:sp>
        <p:nvSpPr>
          <p:cNvPr id="33" name="Variante"/>
          <p:cNvSpPr/>
          <p:nvPr/>
        </p:nvSpPr>
        <p:spPr>
          <a:xfrm>
            <a:off x="7406640" y="25603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06640" y="25603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"fisica"</a:t>
            </a:r>
            <a:endParaRPr lang="en-US" sz="1000" dirty="0"/>
          </a:p>
        </p:txBody>
      </p:sp>
      <p:sp>
        <p:nvSpPr>
          <p:cNvPr id="35" name="Variante"/>
          <p:cNvSpPr/>
          <p:nvPr/>
        </p:nvSpPr>
        <p:spPr>
          <a:xfrm>
            <a:off x="4754880" y="30175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54880" y="3017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Fisica"</a:t>
            </a:r>
            <a:endParaRPr lang="en-US" sz="1000" dirty="0"/>
          </a:p>
        </p:txBody>
      </p:sp>
      <p:sp>
        <p:nvSpPr>
          <p:cNvPr id="37" name="Variante"/>
          <p:cNvSpPr/>
          <p:nvPr/>
        </p:nvSpPr>
        <p:spPr>
          <a:xfrm>
            <a:off x="6080760" y="30175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80760" y="3017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"Fis."</a:t>
            </a:r>
            <a:endParaRPr lang="en-US" sz="1000" dirty="0"/>
          </a:p>
        </p:txBody>
      </p:sp>
      <p:sp>
        <p:nvSpPr>
          <p:cNvPr id="39" name="Variante"/>
          <p:cNvSpPr/>
          <p:nvPr/>
        </p:nvSpPr>
        <p:spPr>
          <a:xfrm>
            <a:off x="7406640" y="30175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06640" y="3017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"Quimica"</a:t>
            </a:r>
            <a:endParaRPr lang="en-US" sz="1000" dirty="0"/>
          </a:p>
        </p:txBody>
      </p:sp>
      <p:sp>
        <p:nvSpPr>
          <p:cNvPr id="41" name="Variante"/>
          <p:cNvSpPr/>
          <p:nvPr/>
        </p:nvSpPr>
        <p:spPr>
          <a:xfrm>
            <a:off x="4754880" y="34747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54880" y="3474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"quimica"</a:t>
            </a:r>
            <a:endParaRPr lang="en-US" sz="1000" dirty="0"/>
          </a:p>
        </p:txBody>
      </p:sp>
      <p:sp>
        <p:nvSpPr>
          <p:cNvPr id="43" name="Variante"/>
          <p:cNvSpPr/>
          <p:nvPr/>
        </p:nvSpPr>
        <p:spPr>
          <a:xfrm>
            <a:off x="6080760" y="34747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080760" y="3474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"Química"</a:t>
            </a:r>
            <a:endParaRPr lang="en-US" sz="1000" dirty="0"/>
          </a:p>
        </p:txBody>
      </p:sp>
      <p:sp>
        <p:nvSpPr>
          <p:cNvPr id="45" name="Variante"/>
          <p:cNvSpPr/>
          <p:nvPr/>
        </p:nvSpPr>
        <p:spPr>
          <a:xfrm>
            <a:off x="7406640" y="34747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9D3D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06640" y="3474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"QUIMICA"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Además: notas "7,5", "N/A", "-" y asistencia "95%".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5 · PASO A PASO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Limpiar siempre en el mismo orden</a:t>
            </a:r>
            <a:endParaRPr lang="en-US" sz="2800" dirty="0"/>
          </a:p>
        </p:txBody>
      </p:sp>
      <p:sp>
        <p:nvSpPr>
          <p:cNvPr id="4" name="Círculo número"/>
          <p:cNvSpPr/>
          <p:nvPr/>
        </p:nvSpPr>
        <p:spPr>
          <a:xfrm>
            <a:off x="836676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667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Flecha"/>
          <p:cNvSpPr/>
          <p:nvPr/>
        </p:nvSpPr>
        <p:spPr>
          <a:xfrm>
            <a:off x="1719072" y="1527048"/>
            <a:ext cx="137160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arjeta"/>
          <p:cNvSpPr/>
          <p:nvPr/>
        </p:nvSpPr>
        <p:spPr>
          <a:xfrm>
            <a:off x="457200" y="2057400"/>
            <a:ext cx="12618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14884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Columnas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56032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.str.lower()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.str.replace()</a:t>
            </a:r>
            <a:endParaRPr lang="en-US" sz="1000" dirty="0"/>
          </a:p>
        </p:txBody>
      </p:sp>
      <p:sp>
        <p:nvSpPr>
          <p:cNvPr id="10" name="Círculo número"/>
          <p:cNvSpPr/>
          <p:nvPr/>
        </p:nvSpPr>
        <p:spPr>
          <a:xfrm>
            <a:off x="2235708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3570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Flecha"/>
          <p:cNvSpPr/>
          <p:nvPr/>
        </p:nvSpPr>
        <p:spPr>
          <a:xfrm>
            <a:off x="3118104" y="1527048"/>
            <a:ext cx="137160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arjeta"/>
          <p:cNvSpPr/>
          <p:nvPr/>
        </p:nvSpPr>
        <p:spPr>
          <a:xfrm>
            <a:off x="1856232" y="2057400"/>
            <a:ext cx="12618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9384" y="214884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Duplicados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29384" y="256032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duplicates()</a:t>
            </a:r>
            <a:endParaRPr lang="en-US" sz="1000" dirty="0"/>
          </a:p>
        </p:txBody>
      </p:sp>
      <p:sp>
        <p:nvSpPr>
          <p:cNvPr id="16" name="Círculo número"/>
          <p:cNvSpPr/>
          <p:nvPr/>
        </p:nvSpPr>
        <p:spPr>
          <a:xfrm>
            <a:off x="36347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347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Flecha"/>
          <p:cNvSpPr/>
          <p:nvPr/>
        </p:nvSpPr>
        <p:spPr>
          <a:xfrm>
            <a:off x="4517136" y="1527048"/>
            <a:ext cx="137160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arjeta"/>
          <p:cNvSpPr/>
          <p:nvPr/>
        </p:nvSpPr>
        <p:spPr>
          <a:xfrm>
            <a:off x="3255264" y="2057400"/>
            <a:ext cx="12618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28416" y="214884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Texto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28416" y="256032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.str.strip()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</a:t>
            </a:r>
            <a:endParaRPr lang="en-US" sz="1000" dirty="0"/>
          </a:p>
        </p:txBody>
      </p:sp>
      <p:sp>
        <p:nvSpPr>
          <p:cNvPr id="22" name="Círculo número"/>
          <p:cNvSpPr/>
          <p:nvPr/>
        </p:nvSpPr>
        <p:spPr>
          <a:xfrm>
            <a:off x="5033772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3377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Flecha"/>
          <p:cNvSpPr/>
          <p:nvPr/>
        </p:nvSpPr>
        <p:spPr>
          <a:xfrm>
            <a:off x="5916168" y="1527048"/>
            <a:ext cx="137160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arjeta"/>
          <p:cNvSpPr/>
          <p:nvPr/>
        </p:nvSpPr>
        <p:spPr>
          <a:xfrm>
            <a:off x="4654296" y="2057400"/>
            <a:ext cx="12618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27448" y="214884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Categorías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256032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quitar tildes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mapeo</a:t>
            </a:r>
            <a:endParaRPr lang="en-US" sz="1000" dirty="0"/>
          </a:p>
        </p:txBody>
      </p:sp>
      <p:sp>
        <p:nvSpPr>
          <p:cNvPr id="28" name="Círculo número"/>
          <p:cNvSpPr/>
          <p:nvPr/>
        </p:nvSpPr>
        <p:spPr>
          <a:xfrm>
            <a:off x="6432804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3280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Flecha"/>
          <p:cNvSpPr/>
          <p:nvPr/>
        </p:nvSpPr>
        <p:spPr>
          <a:xfrm>
            <a:off x="7315200" y="1527048"/>
            <a:ext cx="137160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arjeta"/>
          <p:cNvSpPr/>
          <p:nvPr/>
        </p:nvSpPr>
        <p:spPr>
          <a:xfrm>
            <a:off x="6053328" y="2057400"/>
            <a:ext cx="12618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26480" y="214884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Números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256032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to_numeric()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coerce</a:t>
            </a:r>
            <a:endParaRPr lang="en-US" sz="1000" dirty="0"/>
          </a:p>
        </p:txBody>
      </p:sp>
      <p:sp>
        <p:nvSpPr>
          <p:cNvPr id="34" name="Círculo número"/>
          <p:cNvSpPr/>
          <p:nvPr/>
        </p:nvSpPr>
        <p:spPr>
          <a:xfrm>
            <a:off x="7831836" y="1371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3183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Tarjeta"/>
          <p:cNvSpPr/>
          <p:nvPr/>
        </p:nvSpPr>
        <p:spPr>
          <a:xfrm>
            <a:off x="7452360" y="2057400"/>
            <a:ext cx="126187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25512" y="214884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Validar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525512" y="256032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Resultado: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 filas, 3 cursos, notas numéricas y las mismas notas finales que alumnos.csv.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5 · CATEGORÍAS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 15 variantes a 3 categorías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663440" cy="283464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quitar_tildes(texto):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"".join(c for c in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unicodedata.normalize("NFKD", texto)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unicodedata.combining(c))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df["curso"] = (df["curso"]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.str.strip().str.lower()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.apply(quitar_tildes)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.replace({"mate": "matematicas",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"fis.": "fisica"})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.str.title())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strip y lower resuelven espacios y mayúsculas; las tildes y abreviaturas necesitan una regla explícita.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188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15</a:t>
            </a:r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 → </a:t>
            </a:r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3</a:t>
            </a:r>
            <a:endParaRPr lang="en-US" sz="4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394960" y="1965960"/>
          <a:ext cx="32918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5 · NÚMEROS COMO TEXTO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to_numeric convierte lo que puede y marca el resto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Valor original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Problema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"7,5"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Coma decimal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"95%"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Símbolo de porcentaje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"N/A"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Marca de faltante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"-"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Marca de faltante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"9.0"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Ninguno (texto)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Bloque de código"/>
          <p:cNvSpPr/>
          <p:nvPr/>
        </p:nvSpPr>
        <p:spPr>
          <a:xfrm>
            <a:off x="4937760" y="1234440"/>
            <a:ext cx="374904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74920" y="132588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numericas: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texto = (df[col].astype(str)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.str.replace(",", ".")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.str.replace("%", "")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.str.strip())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pd.to_numeric(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texto, errors="coerce")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34747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errors="coerce":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 que no es número se convierte en NaN en vez de detener el programa. Después se trata como en la Unidad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5 · AUTOMATIZAR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función por tarea, encadenadas con pipe()</a:t>
            </a:r>
            <a:endParaRPr lang="en-US" sz="2800" dirty="0"/>
          </a:p>
        </p:txBody>
      </p:sp>
      <p:sp>
        <p:nvSpPr>
          <p:cNvPr id="4" name="Bloque de código"/>
          <p:cNvSpPr/>
          <p:nvPr/>
        </p:nvSpPr>
        <p:spPr>
          <a:xfrm>
            <a:off x="457200" y="1234440"/>
            <a:ext cx="484632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572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limpiar_datos(df):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registro = {"filas_entrada": len(df)}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limpio = (df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.pipe(limpiar_nombres_columnas, RENOMBRAR)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.pipe(quitar_duplicados)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.pipe(estandarizar_categoria, "curso",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MAPEO_CURSOS)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.pipe(estandarizar_categoria, "ciudad")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.pipe(convertir_a_numero, NUMERICAS))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registro["filas_salida"] = len(limpio)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limpio, registro</a:t>
            </a:r>
            <a:endParaRPr lang="en-US" sz="1000" dirty="0"/>
          </a:p>
        </p:txBody>
      </p:sp>
      <p:sp>
        <p:nvSpPr>
          <p:cNvPr id="6" name="Tarjeta"/>
          <p:cNvSpPr/>
          <p:nvPr/>
        </p:nvSpPr>
        <p:spPr>
          <a:xfrm>
            <a:off x="5577840" y="1234440"/>
            <a:ext cx="31089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234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limpiar_nombres_columnas()</a:t>
            </a:r>
            <a:endParaRPr lang="en-US" sz="1100" dirty="0"/>
          </a:p>
        </p:txBody>
      </p:sp>
      <p:sp>
        <p:nvSpPr>
          <p:cNvPr id="8" name="Tarjeta"/>
          <p:cNvSpPr/>
          <p:nvPr/>
        </p:nvSpPr>
        <p:spPr>
          <a:xfrm>
            <a:off x="5577840" y="1856232"/>
            <a:ext cx="31089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856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quitar_duplicados()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5577840" y="2478024"/>
            <a:ext cx="31089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24780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estandarizar_categoria()</a:t>
            </a:r>
            <a:endParaRPr lang="en-US" sz="1100" dirty="0"/>
          </a:p>
        </p:txBody>
      </p:sp>
      <p:sp>
        <p:nvSpPr>
          <p:cNvPr id="12" name="Tarjeta"/>
          <p:cNvSpPr/>
          <p:nvPr/>
        </p:nvSpPr>
        <p:spPr>
          <a:xfrm>
            <a:off x="5577840" y="3099816"/>
            <a:ext cx="31089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30998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convertir_a_numero()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749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Cada función recibe un DataFrame, hace una sola cosa y devuelve uno nuevo (df.copy()). Se prueban por separado y se reutilizan con otros archivos.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UNIDAD 5 · REGISTRO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flujo entrega datos limpios y un registro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07592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22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6486"/>
            <a:ext cx="17373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 de entrada</a:t>
            </a:r>
            <a:endParaRPr lang="en-US" sz="1200" dirty="0"/>
          </a:p>
        </p:txBody>
      </p:sp>
      <p:sp>
        <p:nvSpPr>
          <p:cNvPr id="7" name="Tarjeta"/>
          <p:cNvSpPr/>
          <p:nvPr/>
        </p:nvSpPr>
        <p:spPr>
          <a:xfrm>
            <a:off x="2560320" y="12344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07592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56486"/>
            <a:ext cx="17373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duplicados eliminados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4663440" y="12344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307592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056486"/>
            <a:ext cx="17373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 de salida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6766560" y="1234440"/>
            <a:ext cx="19202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307592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056486"/>
            <a:ext cx="1737360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faltantes documentados</a:t>
            </a:r>
            <a:endParaRPr lang="en-US" sz="1200" dirty="0"/>
          </a:p>
        </p:txBody>
      </p:sp>
      <p:sp>
        <p:nvSpPr>
          <p:cNvPr id="16" name="Bloque de código"/>
          <p:cNvSpPr/>
          <p:nvPr/>
        </p:nvSpPr>
        <p:spPr>
          <a:xfrm>
            <a:off x="457200" y="2743200"/>
            <a:ext cx="484632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346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limpio, registro = limpiar_datos(sucio)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Prueba: ¿coincide con la base limpia?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(limpio["nota_final"].values ==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alumnos["nota_final"].values).all()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100" dirty="0"/>
          </a:p>
        </p:txBody>
      </p:sp>
      <p:sp>
        <p:nvSpPr>
          <p:cNvPr id="18" name="Tarjeta"/>
          <p:cNvSpPr/>
          <p:nvPr/>
        </p:nvSpPr>
        <p:spPr>
          <a:xfrm>
            <a:off x="5577840" y="2743200"/>
            <a:ext cx="310896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7784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✓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El archivo sucio, una vez limpio, coincide con alumnos.csv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MANOS A LA OBRA · ejercicios_parte2.py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Cinco ejercicios con comprobación automática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66928" y="13075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Agregar profesor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+ validate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4</a:t>
            </a:r>
            <a:endParaRPr lang="en-US" sz="1100" dirty="0"/>
          </a:p>
        </p:txBody>
      </p:sp>
      <p:sp>
        <p:nvSpPr>
          <p:cNvPr id="10" name="Tarjeta"/>
          <p:cNvSpPr/>
          <p:nvPr/>
        </p:nvSpPr>
        <p:spPr>
          <a:xfrm>
            <a:off x="457200" y="1901952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írculo número"/>
          <p:cNvSpPr/>
          <p:nvPr/>
        </p:nvSpPr>
        <p:spPr>
          <a:xfrm>
            <a:off x="566928" y="19751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901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Asistencia promedio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901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 antes de merge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9019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4</a:t>
            </a:r>
            <a:endParaRPr lang="en-US" sz="1100" dirty="0"/>
          </a:p>
        </p:txBody>
      </p:sp>
      <p:sp>
        <p:nvSpPr>
          <p:cNvPr id="16" name="Tarjeta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írculo número"/>
          <p:cNvSpPr/>
          <p:nvPr/>
        </p:nvSpPr>
        <p:spPr>
          <a:xfrm>
            <a:off x="566928" y="264261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569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Histórico de períodos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5694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+ concat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56946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4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457200" y="3236976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írculo número"/>
          <p:cNvSpPr/>
          <p:nvPr/>
        </p:nvSpPr>
        <p:spPr>
          <a:xfrm>
            <a:off x="566928" y="33101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32369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Alumnos que no continúan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32369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indicator=True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23697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4</a:t>
            </a:r>
            <a:endParaRPr lang="en-US" sz="1100" dirty="0"/>
          </a:p>
        </p:txBody>
      </p:sp>
      <p:sp>
        <p:nvSpPr>
          <p:cNvPr id="28" name="Tarjeta"/>
          <p:cNvSpPr/>
          <p:nvPr/>
        </p:nvSpPr>
        <p:spPr>
          <a:xfrm>
            <a:off x="457200" y="3904488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írculo número"/>
          <p:cNvSpPr/>
          <p:nvPr/>
        </p:nvSpPr>
        <p:spPr>
          <a:xfrm>
            <a:off x="566928" y="397764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3904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Limpiar alumnos_sucio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904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funciones + pipe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39044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Unidad 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SOLUCIONES · EJERCICIOS 1 A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Unir, agregar y apilar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5316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31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Agregar profesor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alumnos.merge(cursos, on="curso",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how="left", validate="many_to_one")</a:t>
            </a:r>
            <a:endParaRPr lang="en-US" sz="1100" dirty="0"/>
          </a:p>
        </p:txBody>
      </p:sp>
      <p:sp>
        <p:nvSpPr>
          <p:cNvPr id="9" name="Resultado"/>
          <p:cNvSpPr/>
          <p:nvPr/>
        </p:nvSpPr>
        <p:spPr>
          <a:xfrm>
            <a:off x="6446520" y="1371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 filas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 profesor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írculo número"/>
          <p:cNvSpPr/>
          <p:nvPr/>
        </p:nvSpPr>
        <p:spPr>
          <a:xfrm>
            <a:off x="594360" y="26746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74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68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Asistencia promedio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 = asistencia.groupby("id", as_index=False)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["asistencia"].mean()  # luego merge 1 a 1</a:t>
            </a:r>
            <a:endParaRPr lang="en-US" sz="1100" dirty="0"/>
          </a:p>
        </p:txBody>
      </p:sp>
      <p:sp>
        <p:nvSpPr>
          <p:cNvPr id="16" name="Resultado"/>
          <p:cNvSpPr/>
          <p:nvPr/>
        </p:nvSpPr>
        <p:spPr>
          <a:xfrm>
            <a:off x="6446520" y="2514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514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 filas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Ana Torres: 95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írculo número"/>
          <p:cNvSpPr/>
          <p:nvPr/>
        </p:nvSpPr>
        <p:spPr>
          <a:xfrm>
            <a:off x="594360" y="38176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17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611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Histórico de períodos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pd.concat([alumnos.assign(periodo="2026-1"),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periodo2.assign(periodo="2026-2")], ignore_index=True)</a:t>
            </a:r>
            <a:endParaRPr lang="en-US" sz="1100" dirty="0"/>
          </a:p>
        </p:txBody>
      </p:sp>
      <p:sp>
        <p:nvSpPr>
          <p:cNvPr id="23" name="Resultado"/>
          <p:cNvSpPr/>
          <p:nvPr/>
        </p:nvSpPr>
        <p:spPr>
          <a:xfrm>
            <a:off x="6446520" y="365760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3657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40 filas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20 + 20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SOLUCIONES · EJERCICIOS 4 Y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Rastrear el origen y reutilizar el flujo</a:t>
            </a:r>
            <a:endParaRPr lang="en-US" sz="2800" dirty="0"/>
          </a:p>
        </p:txBody>
      </p:sp>
      <p:sp>
        <p:nvSpPr>
          <p:cNvPr id="4" name="Tarjeta"/>
          <p:cNvSpPr/>
          <p:nvPr/>
        </p:nvSpPr>
        <p:spPr>
          <a:xfrm>
            <a:off x="45720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írculo número"/>
          <p:cNvSpPr/>
          <p:nvPr/>
        </p:nvSpPr>
        <p:spPr>
          <a:xfrm>
            <a:off x="59436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Alumnos que no continúan</a:t>
            </a:r>
            <a:endParaRPr lang="en-US" sz="1400" dirty="0"/>
          </a:p>
        </p:txBody>
      </p:sp>
      <p:sp>
        <p:nvSpPr>
          <p:cNvPr id="8" name="Bloque de código"/>
          <p:cNvSpPr/>
          <p:nvPr/>
        </p:nvSpPr>
        <p:spPr>
          <a:xfrm>
            <a:off x="594360" y="1874520"/>
            <a:ext cx="37033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alumnos.merge(periodo2[["id"]],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on="id", how="left",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indicator=True)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c.loc[c["_merge"] == "left_only",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"nombre"].tolist()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74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Diego Fernandez · Hugo Vega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023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Alternativa: ~alumnos["id"].isin(periodo2["id"])</a:t>
            </a:r>
            <a:endParaRPr lang="en-US" sz="1000" dirty="0"/>
          </a:p>
        </p:txBody>
      </p:sp>
      <p:sp>
        <p:nvSpPr>
          <p:cNvPr id="12" name="Tarjeta"/>
          <p:cNvSpPr/>
          <p:nvPr/>
        </p:nvSpPr>
        <p:spPr>
          <a:xfrm>
            <a:off x="4709160" y="1234440"/>
            <a:ext cx="397764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írculo número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Limpiar alumnos_sucio</a:t>
            </a:r>
            <a:endParaRPr lang="en-US" sz="1400" dirty="0"/>
          </a:p>
        </p:txBody>
      </p:sp>
      <p:sp>
        <p:nvSpPr>
          <p:cNvPr id="16" name="Bloque de código"/>
          <p:cNvSpPr/>
          <p:nvPr/>
        </p:nvSpPr>
        <p:spPr>
          <a:xfrm>
            <a:off x="4846320" y="1874520"/>
            <a:ext cx="3703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9659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limpio, _ = limpiar_datos(sucio)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reutiliza el flujo de la sección 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20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filas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99048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3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099048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cursos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✓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351776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numéricas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4023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Automatizar paga: el ejercicio 5 es una sola línea.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Lo que nos llevamos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Próximo módulo: uso estadístico con Python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Regresión lineal simple y múltiple</a:t>
            </a:r>
            <a:endParaRPr lang="en-US" sz="1600" dirty="0"/>
          </a:p>
        </p:txBody>
      </p:sp>
      <p:sp>
        <p:nvSpPr>
          <p:cNvPr id="4" name="Círculo número"/>
          <p:cNvSpPr/>
          <p:nvPr/>
        </p:nvSpPr>
        <p:spPr>
          <a:xfrm>
            <a:off x="5760720" y="914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Clave, granularidad y trazabilidad</a:t>
            </a:r>
            <a:endParaRPr lang="en-US" sz="1400" dirty="0"/>
          </a:p>
        </p:txBody>
      </p:sp>
      <p:sp>
        <p:nvSpPr>
          <p:cNvPr id="7" name="Círculo número"/>
          <p:cNvSpPr/>
          <p:nvPr/>
        </p:nvSpPr>
        <p:spPr>
          <a:xfrm>
            <a:off x="5760720" y="1600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Agregar antes de unir</a:t>
            </a:r>
            <a:endParaRPr lang="en-US" sz="1400" dirty="0"/>
          </a:p>
        </p:txBody>
      </p:sp>
      <p:sp>
        <p:nvSpPr>
          <p:cNvPr id="10" name="Círculo número"/>
          <p:cNvSpPr/>
          <p:nvPr/>
        </p:nvSpPr>
        <p:spPr>
          <a:xfrm>
            <a:off x="5760720" y="22860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Contar filas en cada paso</a:t>
            </a:r>
            <a:endParaRPr lang="en-US" sz="1400" dirty="0"/>
          </a:p>
        </p:txBody>
      </p:sp>
      <p:sp>
        <p:nvSpPr>
          <p:cNvPr id="13" name="Círculo número"/>
          <p:cNvSpPr/>
          <p:nvPr/>
        </p:nvSpPr>
        <p:spPr>
          <a:xfrm>
            <a:off x="5760720" y="29718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Limpiar en un orden fijo</a:t>
            </a:r>
            <a:endParaRPr lang="en-US" sz="1400" dirty="0"/>
          </a:p>
        </p:txBody>
      </p:sp>
      <p:sp>
        <p:nvSpPr>
          <p:cNvPr id="16" name="Círculo número"/>
          <p:cNvSpPr/>
          <p:nvPr/>
        </p:nvSpPr>
        <p:spPr>
          <a:xfrm>
            <a:off x="5760720" y="3657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657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Una función por tarea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das Colab">
  <a:themeElements>
    <a:clrScheme name="Pandas Colab">
      <a:dk1>
        <a:srgbClr val="1B2430"/>
      </a:dk1>
      <a:lt1>
        <a:srgbClr val="FFFFFF"/>
      </a:lt1>
      <a:dk2>
        <a:srgbClr val="0F2A3D"/>
      </a:dk2>
      <a:lt2>
        <a:srgbClr val="EEF3F6"/>
      </a:lt2>
      <a:accent1>
        <a:srgbClr val="FFD43B"/>
      </a:accent1>
      <a:accent2>
        <a:srgbClr val="3776AB"/>
      </a:accent2>
      <a:accent3>
        <a:srgbClr val="1F7A8C"/>
      </a:accent3>
      <a:accent4>
        <a:srgbClr val="E07A5F"/>
      </a:accent4>
      <a:accent5>
        <a:srgbClr val="8FD3A8"/>
      </a:accent5>
      <a:accent6>
        <a:srgbClr val="6B7A88"/>
      </a:accent6>
      <a:hlink>
        <a:srgbClr val="3776AB"/>
      </a:hlink>
      <a:folHlink>
        <a:srgbClr val="1F7A8C"/>
      </a:folHlink>
    </a:clrScheme>
    <a:fontScheme name="Pandas Co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en Google Colab · Parte 2</dc:title>
  <dc:subject>PptxGenJS Presentation</dc:subject>
  <dc:creator>PptxGenJS</dc:creator>
  <cp:lastModifiedBy>PptxGenJS</cp:lastModifiedBy>
  <cp:revision>1</cp:revision>
  <dcterms:created xsi:type="dcterms:W3CDTF">2026-10-13T08:46:06Z</dcterms:created>
  <dcterms:modified xsi:type="dcterms:W3CDTF">2026-10-13T08:46:06Z</dcterms:modified>
</cp:coreProperties>
</file>